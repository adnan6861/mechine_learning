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8229600" cx="14630400"/>
  <p:notesSz cx="8229600" cy="14630400"/>
  <p:embeddedFontLst>
    <p:embeddedFont>
      <p:font typeface="Platypi Medium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23" roundtripDataSignature="AMtx7mj4F938HxOOMnUXYfzJL+kk/+UW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943D1A6-DE56-4B6B-845E-A41CEDE09F48}">
  <a:tblStyle styleId="{A943D1A6-DE56-4B6B-845E-A41CEDE09F4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latypiMedium-bold.fntdata"/><Relationship Id="rId11" Type="http://schemas.openxmlformats.org/officeDocument/2006/relationships/slide" Target="slides/slide6.xml"/><Relationship Id="rId22" Type="http://schemas.openxmlformats.org/officeDocument/2006/relationships/font" Target="fonts/PlatypiMedium-boldItalic.fntdata"/><Relationship Id="rId10" Type="http://schemas.openxmlformats.org/officeDocument/2006/relationships/slide" Target="slides/slide5.xml"/><Relationship Id="rId21" Type="http://schemas.openxmlformats.org/officeDocument/2006/relationships/font" Target="fonts/PlatypiMedium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23" Type="http://customschemas.google.com/relationships/presentationmetadata" Target="meta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latypiMedium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/>
          <p:nvPr>
            <p:ph idx="2" type="hdr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4" name="Google Shape;4;n"/>
          <p:cNvSpPr txBox="1"/>
          <p:nvPr>
            <p:ph idx="10" type="dt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5" name="Google Shape;5;n"/>
          <p:cNvSpPr/>
          <p:nvPr>
            <p:ph idx="3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" name="Google Shape;6;n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>
            <a:lvl1pPr indent="-228600" lvl="0" marL="457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228600" lvl="1" marL="914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228600" lvl="2" marL="1371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228600" lvl="3" marL="1828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228600" lvl="4" marL="22860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228600" lvl="5" marL="27432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228600" lvl="6" marL="32004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228600" lvl="7" marL="36576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228600" lvl="8" marL="411480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7" name="Google Shape;7;n"/>
          <p:cNvSpPr txBox="1"/>
          <p:nvPr>
            <p:ph idx="11" type="ftr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/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/>
            </a:lvl9pPr>
          </a:lstStyle>
          <a:p/>
        </p:txBody>
      </p:sp>
      <p:sp>
        <p:nvSpPr>
          <p:cNvPr id="8" name="Google Shape;8;n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200" u="none" cap="none" strike="noStrike"/>
              <a:t>‹#›</a:t>
            </a:fld>
            <a:endParaRPr b="0" i="0" sz="1200" u="none" cap="none" strike="noStrike"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8" name="Google Shape;58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9" name="Google Shape;59;p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9" name="Google Shape;69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2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8" name="Google Shape;78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4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5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5" name="Google Shape;9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5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1" name="Google Shape;111;p6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6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g34942fe4406_0_24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7" name="Google Shape;127;g34942fe4406_0_24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28" name="Google Shape;128;g34942fe4406_0_24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34942fe4406_0_3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2" name="Google Shape;142;g34942fe4406_0_38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43" name="Google Shape;143;g34942fe4406_0_38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4942fe4406_0_92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59" name="Google Shape;159;g34942fe4406_0_92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0" name="Google Shape;160;g34942fe4406_0_92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g34942fe4406_0_9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g34942fe4406_0_99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68" name="Google Shape;168;g34942fe4406_0_99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4942fe4406_0_106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75" name="Google Shape;175;g34942fe4406_0_106:notes"/>
          <p:cNvSpPr txBox="1"/>
          <p:nvPr>
            <p:ph idx="1" type="body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176" name="Google Shape;176;g34942fe4406_0_106:notes"/>
          <p:cNvSpPr txBox="1"/>
          <p:nvPr>
            <p:ph idx="12" type="sldNum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8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83" name="Google Shape;183;p8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4" name="Google Shape;184;p8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9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95" name="Google Shape;195;p9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6" name="Google Shape;196;p9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11:notes"/>
          <p:cNvSpPr/>
          <p:nvPr>
            <p:ph idx="2" type="sldImg"/>
          </p:nvPr>
        </p:nvSpPr>
        <p:spPr>
          <a:xfrm>
            <a:off x="685800" y="1143000"/>
            <a:ext cx="5486400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12700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 txBox="1"/>
          <p:nvPr>
            <p:ph idx="12" type="sldNum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 master">
  <p:cSld name="Slide 1 master">
    <p:bg>
      <p:bgPr>
        <a:solidFill>
          <a:srgbClr val="000000"/>
        </a:solidFill>
      </p:bgPr>
    </p:bg>
    <p:spTree>
      <p:nvGrpSpPr>
        <p:cNvPr id="10" name="Shape 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Google Shape;11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1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2 master">
  <p:cSld name="Slide 2 master">
    <p:bg>
      <p:bgPr>
        <a:solidFill>
          <a:srgbClr val="000000"/>
        </a:solidFill>
      </p:bgPr>
    </p:bg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3 master">
  <p:cSld name="Slide 3 master">
    <p:bg>
      <p:bgPr>
        <a:solidFill>
          <a:srgbClr val="000000"/>
        </a:solidFill>
      </p:bgPr>
    </p:bg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" name="Google Shape;18;p1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4 master">
  <p:cSld name="Slide 4 master">
    <p:bg>
      <p:bgPr>
        <a:solidFill>
          <a:srgbClr val="000000"/>
        </a:solidFill>
      </p:bgPr>
    </p:bg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2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5 master">
  <p:cSld name="Slide 5 master">
    <p:bg>
      <p:bgPr>
        <a:solidFill>
          <a:srgbClr val="000000"/>
        </a:solidFill>
      </p:bgPr>
    </p:bg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2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6 master">
  <p:cSld name="Slide 6 master">
    <p:bg>
      <p:bgPr>
        <a:solidFill>
          <a:srgbClr val="000000"/>
        </a:solidFill>
      </p:bgPr>
    </p:bg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22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7 master">
  <p:cSld name="Slide 7 master">
    <p:bg>
      <p:bgPr>
        <a:solidFill>
          <a:srgbClr val="000000"/>
        </a:solidFill>
      </p:bgPr>
    </p:bg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" name="Google Shape;30;p23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8 master">
  <p:cSld name="Slide 8 master">
    <p:bg>
      <p:bgPr>
        <a:solidFill>
          <a:srgbClr val="000000"/>
        </a:solidFill>
      </p:bgPr>
    </p:bg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24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9 master">
  <p:cSld name="Slide 9 master">
    <p:bg>
      <p:bgPr>
        <a:solidFill>
          <a:srgbClr val="000000"/>
        </a:solidFill>
      </p:bgPr>
    </p:bg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5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0 master">
  <p:cSld name="Slide 10 master">
    <p:bg>
      <p:bgPr>
        <a:solidFill>
          <a:srgbClr val="000000"/>
        </a:solidFill>
      </p:bgPr>
    </p:bg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2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1 master">
  <p:cSld name="Slide 11 master">
    <p:bg>
      <p:bgPr>
        <a:solidFill>
          <a:srgbClr val="000000"/>
        </a:solidFill>
      </p:bgPr>
    </p:bg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2" name="Google Shape;42;p27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2 master">
  <p:cSld name="Slide 12 master">
    <p:bg>
      <p:bgPr>
        <a:solidFill>
          <a:srgbClr val="000000"/>
        </a:solidFill>
      </p:bgPr>
    </p:bg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3 master">
  <p:cSld name="Slide 13 master">
    <p:bg>
      <p:bgPr>
        <a:solidFill>
          <a:srgbClr val="000000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4 master">
  <p:cSld name="Slide 14 master">
    <p:bg>
      <p:bgPr>
        <a:solidFill>
          <a:srgbClr val="000000"/>
        </a:solidFill>
      </p:bgPr>
    </p:bg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1" name="Google Shape;51;p3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15 master">
  <p:cSld name="Slide 15 master">
    <p:bg>
      <p:bgPr>
        <a:solidFill>
          <a:srgbClr val="000000"/>
        </a:solidFill>
      </p:bgPr>
    </p:bg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7F3F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3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theme" Target="../theme/theme2.xml"/><Relationship Id="rId16" Type="http://schemas.openxmlformats.org/officeDocument/2006/relationships/slideLayout" Target="../slideLayouts/slideLayout16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16.gif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0.png"/><Relationship Id="rId4" Type="http://schemas.openxmlformats.org/officeDocument/2006/relationships/image" Target="../media/image28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7.png"/><Relationship Id="rId4" Type="http://schemas.openxmlformats.org/officeDocument/2006/relationships/image" Target="../media/image8.png"/><Relationship Id="rId5" Type="http://schemas.openxmlformats.org/officeDocument/2006/relationships/image" Target="../media/image2.png"/><Relationship Id="rId6" Type="http://schemas.openxmlformats.org/officeDocument/2006/relationships/image" Target="../media/image10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2.png"/><Relationship Id="rId4" Type="http://schemas.openxmlformats.org/officeDocument/2006/relationships/image" Target="../media/image10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8.png"/><Relationship Id="rId4" Type="http://schemas.openxmlformats.org/officeDocument/2006/relationships/image" Target="../media/image7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4.png"/><Relationship Id="rId4" Type="http://schemas.openxmlformats.org/officeDocument/2006/relationships/image" Target="../media/image4.png"/><Relationship Id="rId5" Type="http://schemas.openxmlformats.org/officeDocument/2006/relationships/image" Target="../media/image3.png"/><Relationship Id="rId6" Type="http://schemas.openxmlformats.org/officeDocument/2006/relationships/image" Target="../media/image1.png"/><Relationship Id="rId7" Type="http://schemas.openxmlformats.org/officeDocument/2006/relationships/image" Target="../media/image7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7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0.png"/><Relationship Id="rId4" Type="http://schemas.openxmlformats.org/officeDocument/2006/relationships/image" Target="../media/image23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7.png"/><Relationship Id="rId4" Type="http://schemas.openxmlformats.org/officeDocument/2006/relationships/image" Target="../media/image10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0.png"/><Relationship Id="rId4" Type="http://schemas.openxmlformats.org/officeDocument/2006/relationships/image" Target="../media/image25.png"/><Relationship Id="rId5" Type="http://schemas.openxmlformats.org/officeDocument/2006/relationships/image" Target="../media/image26.png"/><Relationship Id="rId6" Type="http://schemas.openxmlformats.org/officeDocument/2006/relationships/image" Target="../media/image24.png"/><Relationship Id="rId7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"/>
          <p:cNvSpPr/>
          <p:nvPr/>
        </p:nvSpPr>
        <p:spPr>
          <a:xfrm>
            <a:off x="6280190" y="2498765"/>
            <a:ext cx="5670590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Machine Learning</a:t>
            </a:r>
            <a:endParaRPr b="0" i="0" sz="4450" u="none" cap="none" strike="noStrike"/>
          </a:p>
        </p:txBody>
      </p:sp>
      <p:sp>
        <p:nvSpPr>
          <p:cNvPr id="62" name="Google Shape;62;p1"/>
          <p:cNvSpPr/>
          <p:nvPr/>
        </p:nvSpPr>
        <p:spPr>
          <a:xfrm>
            <a:off x="6280190" y="3547705"/>
            <a:ext cx="7556421" cy="141755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Lecture </a:t>
            </a:r>
            <a:r>
              <a:rPr lang="en-US" sz="445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8</a:t>
            </a: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: Logistic Regression</a:t>
            </a:r>
            <a:endParaRPr b="0" i="0" sz="4450" u="none" cap="none" strike="noStrike"/>
          </a:p>
        </p:txBody>
      </p:sp>
      <p:sp>
        <p:nvSpPr>
          <p:cNvPr id="63" name="Google Shape;63;p1"/>
          <p:cNvSpPr/>
          <p:nvPr/>
        </p:nvSpPr>
        <p:spPr>
          <a:xfrm>
            <a:off x="6280190" y="5305425"/>
            <a:ext cx="4581644" cy="42529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b="0" i="0" lang="en-US" sz="26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Instructor: Dr. Shazia Saqib</a:t>
            </a:r>
            <a:endParaRPr b="0" i="0" sz="2650" u="none" cap="none" strike="noStrike"/>
          </a:p>
        </p:txBody>
      </p:sp>
      <p:pic>
        <p:nvPicPr>
          <p:cNvPr descr="preencoded.png" id="64" name="Google Shape;6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003075" y="228600"/>
            <a:ext cx="1398725" cy="109554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65" name="Google Shape;6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003065" y="6684210"/>
            <a:ext cx="1398746" cy="1398746"/>
          </a:xfrm>
          <a:prstGeom prst="rect">
            <a:avLst/>
          </a:prstGeom>
          <a:noFill/>
          <a:ln>
            <a:noFill/>
          </a:ln>
        </p:spPr>
      </p:pic>
      <p:pic>
        <p:nvPicPr>
          <p:cNvPr id="66" name="Google Shape;66;p1" title="logistic regression.gif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200" y="1931087"/>
            <a:ext cx="5823250" cy="436742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2"/>
          <p:cNvSpPr/>
          <p:nvPr/>
        </p:nvSpPr>
        <p:spPr>
          <a:xfrm>
            <a:off x="7669440" y="868775"/>
            <a:ext cx="56706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Logistic Regression</a:t>
            </a:r>
            <a:endParaRPr b="0" i="0" sz="4450" u="none" cap="none" strike="noStrike"/>
          </a:p>
        </p:txBody>
      </p:sp>
      <p:pic>
        <p:nvPicPr>
          <p:cNvPr descr="preencoded.png" id="73" name="Google Shape;73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2"/>
          <p:cNvPicPr preferRelativeResize="0"/>
          <p:nvPr/>
        </p:nvPicPr>
        <p:blipFill rotWithShape="1">
          <a:blip r:embed="rId4">
            <a:alphaModFix/>
          </a:blip>
          <a:srcRect b="2683" l="2879" r="4226" t="2834"/>
          <a:stretch/>
        </p:blipFill>
        <p:spPr>
          <a:xfrm>
            <a:off x="276775" y="1881475"/>
            <a:ext cx="7165260" cy="4466650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2"/>
          <p:cNvSpPr txBox="1"/>
          <p:nvPr/>
        </p:nvSpPr>
        <p:spPr>
          <a:xfrm>
            <a:off x="7669450" y="1869613"/>
            <a:ext cx="6233700" cy="549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200">
                <a:solidFill>
                  <a:srgbClr val="504C49"/>
                </a:solidFill>
              </a:rPr>
              <a:t>Logistic regression</a:t>
            </a:r>
            <a:r>
              <a:rPr lang="en-US" sz="2200">
                <a:solidFill>
                  <a:srgbClr val="504C49"/>
                </a:solidFill>
              </a:rPr>
              <a:t> is a </a:t>
            </a:r>
            <a:r>
              <a:rPr b="1" lang="en-US" sz="2200">
                <a:solidFill>
                  <a:srgbClr val="504C49"/>
                </a:solidFill>
              </a:rPr>
              <a:t>supervised machine learning algorithm </a:t>
            </a:r>
            <a:r>
              <a:rPr lang="en-US" sz="2200">
                <a:solidFill>
                  <a:srgbClr val="504C49"/>
                </a:solidFill>
              </a:rPr>
              <a:t>used for </a:t>
            </a:r>
            <a:r>
              <a:rPr b="1" lang="en-US" sz="2200">
                <a:solidFill>
                  <a:srgbClr val="504C49"/>
                </a:solidFill>
              </a:rPr>
              <a:t>classification tasks</a:t>
            </a:r>
            <a:r>
              <a:rPr lang="en-US" sz="2200">
                <a:solidFill>
                  <a:srgbClr val="504C49"/>
                </a:solidFill>
              </a:rPr>
              <a:t> </a:t>
            </a:r>
            <a:endParaRPr sz="2200">
              <a:solidFill>
                <a:srgbClr val="504C49"/>
              </a:solidFill>
            </a:endParaRPr>
          </a:p>
          <a:p>
            <a:pPr indent="0" lvl="0" marL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04C49"/>
                </a:solidFill>
              </a:rPr>
              <a:t>where the goal is to predict the probability that an instance belongs to a given class or not. </a:t>
            </a:r>
            <a:endParaRPr sz="2200">
              <a:solidFill>
                <a:srgbClr val="504C49"/>
              </a:solidFill>
            </a:endParaRPr>
          </a:p>
          <a:p>
            <a:pPr indent="0" lvl="0" marL="0" rtl="0" algn="l">
              <a:lnSpc>
                <a:spcPct val="163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rgbClr val="504C49"/>
                </a:solidFill>
              </a:rPr>
              <a:t>Logistic regression is a statistical algorithm which analyze the relationship between two data factors. The article explores the fundamentals of logistic regression, it’s types and implementations.</a:t>
            </a:r>
            <a:endParaRPr sz="2200">
              <a:solidFill>
                <a:srgbClr val="504C49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4"/>
          <p:cNvSpPr/>
          <p:nvPr/>
        </p:nvSpPr>
        <p:spPr>
          <a:xfrm>
            <a:off x="793790" y="641866"/>
            <a:ext cx="5509260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Binary Classification</a:t>
            </a:r>
            <a:endParaRPr b="0" i="0" sz="4200" u="none" cap="none" strike="noStrike"/>
          </a:p>
        </p:txBody>
      </p:sp>
      <p:sp>
        <p:nvSpPr>
          <p:cNvPr id="82" name="Google Shape;82;p4"/>
          <p:cNvSpPr/>
          <p:nvPr/>
        </p:nvSpPr>
        <p:spPr>
          <a:xfrm>
            <a:off x="793800" y="1853800"/>
            <a:ext cx="26934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100"/>
              <a:buFont typeface="Platypi Medium"/>
              <a:buNone/>
            </a:pPr>
            <a:r>
              <a:rPr b="0" i="0" lang="en-US" sz="2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Definition</a:t>
            </a:r>
            <a:endParaRPr b="0" i="0" sz="2700" u="none" cap="none" strike="noStrike"/>
          </a:p>
        </p:txBody>
      </p:sp>
      <p:sp>
        <p:nvSpPr>
          <p:cNvPr id="83" name="Google Shape;83;p4"/>
          <p:cNvSpPr/>
          <p:nvPr/>
        </p:nvSpPr>
        <p:spPr>
          <a:xfrm>
            <a:off x="793800" y="2575589"/>
            <a:ext cx="62586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Binary classification is a type of classification task where there are only </a:t>
            </a:r>
            <a:r>
              <a:rPr b="1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two possible outcomes</a:t>
            </a: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(e.g., Yes/No, 0/1, True/False).</a:t>
            </a:r>
            <a:endParaRPr b="0" i="0" sz="2250" u="none" cap="none" strike="noStrike"/>
          </a:p>
        </p:txBody>
      </p:sp>
      <p:sp>
        <p:nvSpPr>
          <p:cNvPr id="84" name="Google Shape;84;p4"/>
          <p:cNvSpPr/>
          <p:nvPr/>
        </p:nvSpPr>
        <p:spPr>
          <a:xfrm>
            <a:off x="793800" y="4239477"/>
            <a:ext cx="2693400" cy="61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100"/>
              <a:buFont typeface="Platypi Medium"/>
              <a:buNone/>
            </a:pPr>
            <a:r>
              <a:rPr b="0" i="0" lang="en-US" sz="2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Example:</a:t>
            </a:r>
            <a:endParaRPr b="0" i="0" sz="2700" u="none" cap="none" strike="noStrike"/>
          </a:p>
        </p:txBody>
      </p:sp>
      <p:sp>
        <p:nvSpPr>
          <p:cNvPr id="85" name="Google Shape;85;p4"/>
          <p:cNvSpPr/>
          <p:nvPr/>
        </p:nvSpPr>
        <p:spPr>
          <a:xfrm>
            <a:off x="793800" y="4858366"/>
            <a:ext cx="6258600" cy="63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Predicting whether an email is </a:t>
            </a:r>
            <a:r>
              <a:rPr b="1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spam (1)</a:t>
            </a: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not spam (0)</a:t>
            </a: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250" u="none" cap="none" strike="noStrike"/>
          </a:p>
        </p:txBody>
      </p:sp>
      <p:sp>
        <p:nvSpPr>
          <p:cNvPr id="86" name="Google Shape;86;p4"/>
          <p:cNvSpPr/>
          <p:nvPr/>
        </p:nvSpPr>
        <p:spPr>
          <a:xfrm>
            <a:off x="793800" y="5855876"/>
            <a:ext cx="6258600" cy="1267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Identifying whether a student will </a:t>
            </a:r>
            <a:r>
              <a:rPr b="1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pass (1)</a:t>
            </a: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or </a:t>
            </a:r>
            <a:r>
              <a:rPr b="1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fail (0)</a:t>
            </a: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based on study hours.</a:t>
            </a:r>
            <a:endParaRPr b="0" i="0" sz="2250" u="none" cap="none" strike="noStrike"/>
          </a:p>
        </p:txBody>
      </p:sp>
      <p:sp>
        <p:nvSpPr>
          <p:cNvPr id="87" name="Google Shape;87;p4"/>
          <p:cNvSpPr/>
          <p:nvPr/>
        </p:nvSpPr>
        <p:spPr>
          <a:xfrm>
            <a:off x="7317085" y="1853803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100"/>
              <a:buFont typeface="Platypi Medium"/>
              <a:buNone/>
            </a:pPr>
            <a:r>
              <a:rPr b="0" i="0" lang="en-US" sz="27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Applications:</a:t>
            </a:r>
            <a:endParaRPr b="0" i="0" sz="2700" u="none" cap="none" strike="noStrike"/>
          </a:p>
        </p:txBody>
      </p:sp>
      <p:sp>
        <p:nvSpPr>
          <p:cNvPr id="88" name="Google Shape;88;p4"/>
          <p:cNvSpPr/>
          <p:nvPr/>
        </p:nvSpPr>
        <p:spPr>
          <a:xfrm>
            <a:off x="7317075" y="2405775"/>
            <a:ext cx="73134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81000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50"/>
              <a:buFont typeface="Arial"/>
              <a:buChar char="•"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Medical </a:t>
            </a:r>
            <a:r>
              <a:rPr lang="en-US" sz="2250">
                <a:solidFill>
                  <a:srgbClr val="504C49"/>
                </a:solidFill>
              </a:rPr>
              <a:t>diagnosis</a:t>
            </a: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: Disease present (1) or absent (0)</a:t>
            </a:r>
            <a:endParaRPr b="0" i="0" sz="2250" u="none" cap="none" strike="noStrike"/>
          </a:p>
        </p:txBody>
      </p:sp>
      <p:sp>
        <p:nvSpPr>
          <p:cNvPr id="89" name="Google Shape;89;p4"/>
          <p:cNvSpPr/>
          <p:nvPr/>
        </p:nvSpPr>
        <p:spPr>
          <a:xfrm>
            <a:off x="7317085" y="2825948"/>
            <a:ext cx="6258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-390525" lvl="0" marL="34290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400"/>
              <a:buFont typeface="Arial"/>
              <a:buChar char="•"/>
            </a:pPr>
            <a:r>
              <a:rPr lang="en-US" sz="2400">
                <a:solidFill>
                  <a:srgbClr val="504C49"/>
                </a:solidFill>
              </a:rPr>
              <a:t>0.5 threshold for pass/fail prediction</a:t>
            </a:r>
            <a:endParaRPr b="0" i="0" sz="2400" u="none" cap="none" strike="noStrike"/>
          </a:p>
        </p:txBody>
      </p:sp>
      <p:sp>
        <p:nvSpPr>
          <p:cNvPr id="90" name="Google Shape;90;p4"/>
          <p:cNvSpPr/>
          <p:nvPr/>
        </p:nvSpPr>
        <p:spPr>
          <a:xfrm>
            <a:off x="793790" y="6949879"/>
            <a:ext cx="130428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SzPts val="1650"/>
              <a:buFont typeface="Arial"/>
              <a:buNone/>
            </a:pPr>
            <a:r>
              <a:t/>
            </a:r>
            <a:endParaRPr b="0" i="0" sz="1850" u="none" cap="none" strike="noStrike"/>
          </a:p>
        </p:txBody>
      </p:sp>
      <p:pic>
        <p:nvPicPr>
          <p:cNvPr descr="preencoded.png" id="91" name="Google Shape;9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92" name="Google Shape;92;p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667913" y="3518524"/>
            <a:ext cx="6651574" cy="42878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5"/>
          <p:cNvSpPr/>
          <p:nvPr/>
        </p:nvSpPr>
        <p:spPr>
          <a:xfrm>
            <a:off x="793790" y="1151692"/>
            <a:ext cx="7945041" cy="708779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Types of Logistic Regression</a:t>
            </a:r>
            <a:endParaRPr b="0" i="0" sz="4450" u="none" cap="none" strike="noStrike"/>
          </a:p>
        </p:txBody>
      </p:sp>
      <p:pic>
        <p:nvPicPr>
          <p:cNvPr descr="preencoded.png" id="99" name="Google Shape;99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93790" y="2229024"/>
            <a:ext cx="4120752" cy="2546747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5"/>
          <p:cNvSpPr/>
          <p:nvPr/>
        </p:nvSpPr>
        <p:spPr>
          <a:xfrm>
            <a:off x="793790" y="5144333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1. Binomial Logistic Regression</a:t>
            </a:r>
            <a:endParaRPr b="0" i="0" sz="2500" u="none" cap="none" strike="noStrike"/>
          </a:p>
        </p:txBody>
      </p:sp>
      <p:sp>
        <p:nvSpPr>
          <p:cNvPr id="101" name="Google Shape;101;p5"/>
          <p:cNvSpPr/>
          <p:nvPr/>
        </p:nvSpPr>
        <p:spPr>
          <a:xfrm>
            <a:off x="793778" y="6330957"/>
            <a:ext cx="4120800" cy="725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Two possible outcomes (e.g., 0/1, </a:t>
            </a:r>
            <a:r>
              <a:rPr lang="en-US" sz="2050">
                <a:solidFill>
                  <a:srgbClr val="504C49"/>
                </a:solidFill>
              </a:rPr>
              <a:t>Pass</a:t>
            </a: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/</a:t>
            </a:r>
            <a:r>
              <a:rPr lang="en-US" sz="2050">
                <a:solidFill>
                  <a:srgbClr val="504C49"/>
                </a:solidFill>
              </a:rPr>
              <a:t>Fail</a:t>
            </a: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lang="en-US" sz="2050">
                <a:solidFill>
                  <a:srgbClr val="504C49"/>
                </a:solidFill>
              </a:rPr>
              <a:t>True /False</a:t>
            </a: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</a:t>
            </a:r>
            <a:endParaRPr b="0" i="0" sz="2050" u="none" cap="none" strike="noStrike"/>
          </a:p>
        </p:txBody>
      </p:sp>
      <p:pic>
        <p:nvPicPr>
          <p:cNvPr descr="preencoded.png" id="102" name="Google Shape;102;p5"/>
          <p:cNvPicPr preferRelativeResize="0"/>
          <p:nvPr/>
        </p:nvPicPr>
        <p:blipFill rotWithShape="1">
          <a:blip r:embed="rId4">
            <a:alphaModFix/>
          </a:blip>
          <a:srcRect b="0" l="0" r="9575" t="0"/>
          <a:stretch/>
        </p:blipFill>
        <p:spPr>
          <a:xfrm>
            <a:off x="5228925" y="2099164"/>
            <a:ext cx="4355000" cy="2976623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5"/>
          <p:cNvSpPr/>
          <p:nvPr/>
        </p:nvSpPr>
        <p:spPr>
          <a:xfrm>
            <a:off x="5254704" y="5144453"/>
            <a:ext cx="4120872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2. Multinomial Logistic Regression</a:t>
            </a:r>
            <a:endParaRPr b="0" i="0" sz="2500" u="none" cap="none" strike="noStrike"/>
          </a:p>
        </p:txBody>
      </p:sp>
      <p:sp>
        <p:nvSpPr>
          <p:cNvPr id="104" name="Google Shape;104;p5"/>
          <p:cNvSpPr/>
          <p:nvPr/>
        </p:nvSpPr>
        <p:spPr>
          <a:xfrm>
            <a:off x="5254692" y="6331076"/>
            <a:ext cx="4120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more than two possible outcomes (e.g., Classifying animals as cat, dog, or sheep)</a:t>
            </a:r>
            <a:endParaRPr b="0" i="0" sz="2050" u="none" cap="none" strike="noStrike"/>
          </a:p>
        </p:txBody>
      </p:sp>
      <p:pic>
        <p:nvPicPr>
          <p:cNvPr descr="preencoded.png" id="105" name="Google Shape;105;p5"/>
          <p:cNvPicPr preferRelativeResize="0"/>
          <p:nvPr/>
        </p:nvPicPr>
        <p:blipFill rotWithShape="1">
          <a:blip r:embed="rId5">
            <a:alphaModFix/>
          </a:blip>
          <a:srcRect b="0" l="4430" r="5145" t="0"/>
          <a:stretch/>
        </p:blipFill>
        <p:spPr>
          <a:xfrm>
            <a:off x="9898300" y="2311138"/>
            <a:ext cx="3726250" cy="2546750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5"/>
          <p:cNvSpPr/>
          <p:nvPr/>
        </p:nvSpPr>
        <p:spPr>
          <a:xfrm>
            <a:off x="9715738" y="5144333"/>
            <a:ext cx="4120753" cy="7086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5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3. Ordinal Logistic Regression</a:t>
            </a:r>
            <a:endParaRPr b="0" i="0" sz="2500" u="none" cap="none" strike="noStrike"/>
          </a:p>
        </p:txBody>
      </p:sp>
      <p:sp>
        <p:nvSpPr>
          <p:cNvPr id="107" name="Google Shape;107;p5"/>
          <p:cNvSpPr/>
          <p:nvPr/>
        </p:nvSpPr>
        <p:spPr>
          <a:xfrm>
            <a:off x="9715726" y="6330957"/>
            <a:ext cx="4120800" cy="108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lang="en-US" sz="2050">
                <a:solidFill>
                  <a:srgbClr val="504C49"/>
                </a:solidFill>
              </a:rPr>
              <a:t>more than two possible outcomes but with some degree</a:t>
            </a: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(e.g., Rating as Low, Medium, or High)</a:t>
            </a:r>
            <a:endParaRPr b="0" i="0" sz="2050" u="none" cap="none" strike="noStrike"/>
          </a:p>
        </p:txBody>
      </p:sp>
      <p:pic>
        <p:nvPicPr>
          <p:cNvPr descr="preencoded.png" id="108" name="Google Shape;108;p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6"/>
          <p:cNvSpPr/>
          <p:nvPr/>
        </p:nvSpPr>
        <p:spPr>
          <a:xfrm>
            <a:off x="793790" y="707827"/>
            <a:ext cx="9711214" cy="67341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200"/>
              <a:buFont typeface="Platypi Medium"/>
              <a:buNone/>
            </a:pPr>
            <a:r>
              <a:rPr b="0" i="0" lang="en-US" sz="42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Sigmoid Function (Logistic Function)</a:t>
            </a:r>
            <a:endParaRPr b="0" i="0" sz="4200" u="none" cap="none" strike="noStrike"/>
          </a:p>
        </p:txBody>
      </p:sp>
      <p:sp>
        <p:nvSpPr>
          <p:cNvPr id="115" name="Google Shape;115;p6"/>
          <p:cNvSpPr/>
          <p:nvPr/>
        </p:nvSpPr>
        <p:spPr>
          <a:xfrm>
            <a:off x="891490" y="6534738"/>
            <a:ext cx="2693700" cy="336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619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100"/>
              <a:buFont typeface="Platypi Medium"/>
              <a:buNone/>
            </a:pPr>
            <a:r>
              <a:rPr b="0" i="0" lang="en-US" sz="26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Formula:</a:t>
            </a:r>
            <a:endParaRPr b="0" i="0" sz="2600" u="none" cap="none" strike="noStrike"/>
          </a:p>
        </p:txBody>
      </p:sp>
      <p:sp>
        <p:nvSpPr>
          <p:cNvPr id="116" name="Google Shape;116;p6"/>
          <p:cNvSpPr/>
          <p:nvPr/>
        </p:nvSpPr>
        <p:spPr>
          <a:xfrm>
            <a:off x="891490" y="7086711"/>
            <a:ext cx="6258600" cy="34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1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S(x) = 1/(1 + e^(-x))</a:t>
            </a:r>
            <a:endParaRPr b="0" i="0" sz="2150" u="none" cap="none" strike="noStrike"/>
          </a:p>
        </p:txBody>
      </p:sp>
      <p:pic>
        <p:nvPicPr>
          <p:cNvPr descr="preencoded.png" id="117" name="Google Shape;117;p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585710" y="1946791"/>
            <a:ext cx="5945505" cy="4449128"/>
          </a:xfrm>
          <a:prstGeom prst="rect">
            <a:avLst/>
          </a:prstGeom>
          <a:noFill/>
          <a:ln>
            <a:noFill/>
          </a:ln>
        </p:spPr>
      </p:pic>
      <p:sp>
        <p:nvSpPr>
          <p:cNvPr id="118" name="Google Shape;118;p6"/>
          <p:cNvSpPr/>
          <p:nvPr/>
        </p:nvSpPr>
        <p:spPr>
          <a:xfrm>
            <a:off x="7585710" y="6638330"/>
            <a:ext cx="6258520" cy="68961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363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Graph of Sigmoid Function: An S-shaped curve representing how values get mapped between 0 and 1.</a:t>
            </a:r>
            <a:endParaRPr b="0" i="0" sz="2050" u="none" cap="none" strike="noStrike"/>
          </a:p>
        </p:txBody>
      </p:sp>
      <p:pic>
        <p:nvPicPr>
          <p:cNvPr descr="preencoded.png" id="119" name="Google Shape;119;p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sp>
        <p:nvSpPr>
          <p:cNvPr id="120" name="Google Shape;120;p6"/>
          <p:cNvSpPr txBox="1"/>
          <p:nvPr/>
        </p:nvSpPr>
        <p:spPr>
          <a:xfrm>
            <a:off x="738350" y="1590575"/>
            <a:ext cx="6258600" cy="1008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504C49"/>
                </a:solidFill>
              </a:rPr>
              <a:t>The sigmoid function is a mathematical function used to map the predicted values to probabilities.</a:t>
            </a:r>
            <a:endParaRPr sz="2050">
              <a:solidFill>
                <a:srgbClr val="504C49"/>
              </a:solidFill>
            </a:endParaRPr>
          </a:p>
        </p:txBody>
      </p:sp>
      <p:sp>
        <p:nvSpPr>
          <p:cNvPr id="121" name="Google Shape;121;p6"/>
          <p:cNvSpPr txBox="1"/>
          <p:nvPr/>
        </p:nvSpPr>
        <p:spPr>
          <a:xfrm>
            <a:off x="738350" y="2598875"/>
            <a:ext cx="68475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504C49"/>
                </a:solidFill>
              </a:rPr>
              <a:t>The</a:t>
            </a:r>
            <a:r>
              <a:rPr b="1" lang="en-US" sz="2050">
                <a:solidFill>
                  <a:srgbClr val="504C49"/>
                </a:solidFill>
              </a:rPr>
              <a:t> S-form</a:t>
            </a:r>
            <a:r>
              <a:rPr lang="en-US" sz="2050">
                <a:solidFill>
                  <a:srgbClr val="504C49"/>
                </a:solidFill>
              </a:rPr>
              <a:t> curve is called the </a:t>
            </a:r>
            <a:r>
              <a:rPr b="1" lang="en-US" sz="2050">
                <a:solidFill>
                  <a:srgbClr val="504C49"/>
                </a:solidFill>
              </a:rPr>
              <a:t>Sigmoid function</a:t>
            </a:r>
            <a:r>
              <a:rPr lang="en-US" sz="2050">
                <a:solidFill>
                  <a:srgbClr val="504C49"/>
                </a:solidFill>
              </a:rPr>
              <a:t>.</a:t>
            </a:r>
            <a:endParaRPr sz="2050">
              <a:solidFill>
                <a:srgbClr val="504C49"/>
              </a:solidFill>
            </a:endParaRPr>
          </a:p>
        </p:txBody>
      </p:sp>
      <p:sp>
        <p:nvSpPr>
          <p:cNvPr id="122" name="Google Shape;122;p6"/>
          <p:cNvSpPr txBox="1"/>
          <p:nvPr/>
        </p:nvSpPr>
        <p:spPr>
          <a:xfrm>
            <a:off x="738350" y="3082750"/>
            <a:ext cx="6847500" cy="202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504C49"/>
                </a:solidFill>
              </a:rPr>
              <a:t>In logistic regression, we use the concept of the threshold value, which defines the </a:t>
            </a:r>
            <a:r>
              <a:rPr b="1" lang="en-US" sz="2050">
                <a:solidFill>
                  <a:srgbClr val="504C49"/>
                </a:solidFill>
              </a:rPr>
              <a:t>probability of either 0 or 1</a:t>
            </a:r>
            <a:r>
              <a:rPr lang="en-US" sz="2050">
                <a:solidFill>
                  <a:srgbClr val="504C49"/>
                </a:solidFill>
              </a:rPr>
              <a:t>. Such as values above the threshold value tends to </a:t>
            </a:r>
            <a:r>
              <a:rPr b="1" lang="en-US" sz="2050">
                <a:solidFill>
                  <a:srgbClr val="504C49"/>
                </a:solidFill>
              </a:rPr>
              <a:t>1</a:t>
            </a:r>
            <a:r>
              <a:rPr lang="en-US" sz="2050">
                <a:solidFill>
                  <a:srgbClr val="504C49"/>
                </a:solidFill>
              </a:rPr>
              <a:t>, and a value below the threshold values tends to </a:t>
            </a:r>
            <a:r>
              <a:rPr b="1" lang="en-US" sz="2050">
                <a:solidFill>
                  <a:srgbClr val="504C49"/>
                </a:solidFill>
              </a:rPr>
              <a:t>0</a:t>
            </a:r>
            <a:r>
              <a:rPr lang="en-US" sz="2050">
                <a:solidFill>
                  <a:srgbClr val="504C49"/>
                </a:solidFill>
              </a:rPr>
              <a:t>.</a:t>
            </a:r>
            <a:endParaRPr sz="2050">
              <a:solidFill>
                <a:srgbClr val="504C49"/>
              </a:solidFill>
            </a:endParaRPr>
          </a:p>
        </p:txBody>
      </p:sp>
      <p:sp>
        <p:nvSpPr>
          <p:cNvPr id="123" name="Google Shape;123;p6"/>
          <p:cNvSpPr txBox="1"/>
          <p:nvPr/>
        </p:nvSpPr>
        <p:spPr>
          <a:xfrm>
            <a:off x="891500" y="5226972"/>
            <a:ext cx="30000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24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600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Purpose:</a:t>
            </a:r>
            <a:endParaRPr sz="2600">
              <a:solidFill>
                <a:srgbClr val="201B18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sp>
        <p:nvSpPr>
          <p:cNvPr id="124" name="Google Shape;124;p6"/>
          <p:cNvSpPr txBox="1"/>
          <p:nvPr/>
        </p:nvSpPr>
        <p:spPr>
          <a:xfrm>
            <a:off x="805550" y="5846875"/>
            <a:ext cx="6713100" cy="5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61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50">
                <a:solidFill>
                  <a:srgbClr val="504C49"/>
                </a:solidFill>
              </a:rPr>
              <a:t>Converts linear regression outputs into probabilities.</a:t>
            </a:r>
            <a:endParaRPr sz="2050">
              <a:solidFill>
                <a:srgbClr val="504C49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4942fe4406_0_24"/>
          <p:cNvSpPr/>
          <p:nvPr/>
        </p:nvSpPr>
        <p:spPr>
          <a:xfrm>
            <a:off x="569800" y="1154225"/>
            <a:ext cx="6561300" cy="93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000"/>
              <a:buFont typeface="Platypi Medium"/>
              <a:buNone/>
            </a:pPr>
            <a:r>
              <a:rPr b="0" i="0" lang="en-US" sz="36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Building a Logistic Regression Model</a:t>
            </a:r>
            <a:endParaRPr b="0" i="0" sz="36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1" name="Google Shape;131;g34942fe4406_0_24"/>
          <p:cNvSpPr/>
          <p:nvPr/>
        </p:nvSpPr>
        <p:spPr>
          <a:xfrm>
            <a:off x="569800" y="2691086"/>
            <a:ext cx="6946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Import Libraries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8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sklearn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pandas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, </a:t>
            </a:r>
            <a:r>
              <a:rPr b="0" i="0" lang="en-US" sz="18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numpy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4942fe4406_0_24"/>
          <p:cNvSpPr/>
          <p:nvPr/>
        </p:nvSpPr>
        <p:spPr>
          <a:xfrm>
            <a:off x="569800" y="3320459"/>
            <a:ext cx="6946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Load &amp; Preprocess Data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(handle missing values, encode categorical variables).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3" name="Google Shape;133;g34942fe4406_0_24"/>
          <p:cNvSpPr/>
          <p:nvPr/>
        </p:nvSpPr>
        <p:spPr>
          <a:xfrm>
            <a:off x="569800" y="4124881"/>
            <a:ext cx="6946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Split Data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(train-test split).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4942fe4406_0_24"/>
          <p:cNvSpPr/>
          <p:nvPr/>
        </p:nvSpPr>
        <p:spPr>
          <a:xfrm>
            <a:off x="569800" y="4709531"/>
            <a:ext cx="6946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Train Model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8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LogisticRegression()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from </a:t>
            </a:r>
            <a:r>
              <a:rPr b="0" i="0" lang="en-US" sz="18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sklearn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5" name="Google Shape;135;g34942fe4406_0_24"/>
          <p:cNvSpPr/>
          <p:nvPr/>
        </p:nvSpPr>
        <p:spPr>
          <a:xfrm>
            <a:off x="569800" y="5338904"/>
            <a:ext cx="6946200" cy="5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Make Predictions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</a:t>
            </a:r>
            <a:r>
              <a:rPr b="0" i="0" lang="en-US" sz="1800" u="none" cap="none" strike="noStrike">
                <a:solidFill>
                  <a:srgbClr val="504C49"/>
                </a:solidFill>
                <a:highlight>
                  <a:srgbClr val="F3E3D8"/>
                </a:highlight>
                <a:latin typeface="Consolas"/>
                <a:ea typeface="Consolas"/>
                <a:cs typeface="Consolas"/>
                <a:sym typeface="Consolas"/>
              </a:rPr>
              <a:t>predict()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on test data).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g34942fe4406_0_24"/>
          <p:cNvSpPr/>
          <p:nvPr/>
        </p:nvSpPr>
        <p:spPr>
          <a:xfrm>
            <a:off x="569800" y="5968276"/>
            <a:ext cx="6946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Evaluate Model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(accuracy, precision, recall, F1-score).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7" name="Google Shape;137;g34942fe4406_0_24"/>
          <p:cNvSpPr/>
          <p:nvPr/>
        </p:nvSpPr>
        <p:spPr>
          <a:xfrm>
            <a:off x="569800" y="6552926"/>
            <a:ext cx="6946200" cy="48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8333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200"/>
              <a:buFont typeface="Arial"/>
              <a:buNone/>
            </a:pPr>
            <a:r>
              <a:rPr b="1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Optimize &amp; Deploy</a:t>
            </a:r>
            <a:r>
              <a:rPr b="0" i="0" lang="en-US" sz="18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 (tune hyperparameters, handle imbalances, save model).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38" name="Google Shape;138;g34942fe4406_0_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516090" y="258550"/>
            <a:ext cx="6704599" cy="7712499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preencoded.png" id="139" name="Google Shape;139;g34942fe4406_0_2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preencoded.png" id="145" name="Google Shape;145;g34942fe4406_0_3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5486400" cy="8229600"/>
          </a:xfrm>
          <a:prstGeom prst="rect">
            <a:avLst/>
          </a:prstGeom>
          <a:noFill/>
          <a:ln>
            <a:noFill/>
          </a:ln>
        </p:spPr>
      </p:pic>
      <p:sp>
        <p:nvSpPr>
          <p:cNvPr id="146" name="Google Shape;146;g34942fe4406_0_38"/>
          <p:cNvSpPr/>
          <p:nvPr/>
        </p:nvSpPr>
        <p:spPr>
          <a:xfrm>
            <a:off x="5751576" y="1602938"/>
            <a:ext cx="62529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Common Challenges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47" name="Google Shape;147;g34942fe4406_0_3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6280190" y="265187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48" name="Google Shape;148;g34942fe4406_0_38"/>
          <p:cNvSpPr/>
          <p:nvPr/>
        </p:nvSpPr>
        <p:spPr>
          <a:xfrm>
            <a:off x="6280201" y="3445675"/>
            <a:ext cx="31542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Imbalanced Datasets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9" name="Google Shape;149;g34942fe4406_0_38"/>
          <p:cNvSpPr/>
          <p:nvPr/>
        </p:nvSpPr>
        <p:spPr>
          <a:xfrm>
            <a:off x="6280190" y="4424487"/>
            <a:ext cx="3387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 resampling techniques.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0" name="Google Shape;150;g34942fe4406_0_3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0008156" y="2651879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1" name="Google Shape;151;g34942fe4406_0_38"/>
          <p:cNvSpPr/>
          <p:nvPr/>
        </p:nvSpPr>
        <p:spPr>
          <a:xfrm>
            <a:off x="10008156" y="3445669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Overfitting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2" name="Google Shape;152;g34942fe4406_0_38"/>
          <p:cNvSpPr/>
          <p:nvPr/>
        </p:nvSpPr>
        <p:spPr>
          <a:xfrm>
            <a:off x="10008156" y="4026812"/>
            <a:ext cx="3387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Apply regularization.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3" name="Google Shape;153;g34942fe4406_0_38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80190" y="5467832"/>
            <a:ext cx="566976" cy="5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154" name="Google Shape;154;g34942fe4406_0_38"/>
          <p:cNvSpPr/>
          <p:nvPr/>
        </p:nvSpPr>
        <p:spPr>
          <a:xfrm>
            <a:off x="6280190" y="6261622"/>
            <a:ext cx="2835300" cy="354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200"/>
              <a:buFont typeface="Platypi Medium"/>
              <a:buNone/>
            </a:pPr>
            <a:r>
              <a:rPr b="0" i="0" lang="en-US" sz="270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Multicollinearity</a:t>
            </a:r>
            <a:endParaRPr b="0" i="0" sz="2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5" name="Google Shape;155;g34942fe4406_0_38"/>
          <p:cNvSpPr/>
          <p:nvPr/>
        </p:nvSpPr>
        <p:spPr>
          <a:xfrm>
            <a:off x="6280190" y="6752040"/>
            <a:ext cx="33879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285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750"/>
              <a:buFont typeface="Arial"/>
              <a:buNone/>
            </a:pPr>
            <a:r>
              <a:rPr b="0" i="0" lang="en-US" sz="22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Feature selection or PCA.</a:t>
            </a:r>
            <a:endParaRPr b="0" i="0" sz="22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56" name="Google Shape;156;g34942fe4406_0_38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34942fe4406_0_92"/>
          <p:cNvSpPr/>
          <p:nvPr/>
        </p:nvSpPr>
        <p:spPr>
          <a:xfrm>
            <a:off x="722978" y="1325400"/>
            <a:ext cx="12528900" cy="42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528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650"/>
              <a:buFont typeface="Platypi Medium"/>
              <a:buNone/>
            </a:pPr>
            <a:r>
              <a:rPr i="0" lang="en-US" sz="40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Logistic Regression: A Powerful Classification Algorithm</a:t>
            </a:r>
            <a:endParaRPr i="0" sz="4050" u="none" cap="none" strike="noStrike">
              <a:solidFill>
                <a:srgbClr val="000000"/>
              </a:solidFill>
              <a:latin typeface="Platypi Medium"/>
              <a:ea typeface="Platypi Medium"/>
              <a:cs typeface="Platypi Medium"/>
              <a:sym typeface="Platypi Medium"/>
            </a:endParaRPr>
          </a:p>
        </p:txBody>
      </p:sp>
      <p:pic>
        <p:nvPicPr>
          <p:cNvPr descr="preencoded.png" id="163" name="Google Shape;163;g34942fe4406_0_9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164" name="Google Shape;164;g34942fe4406_0_92"/>
          <p:cNvGraphicFramePr/>
          <p:nvPr/>
        </p:nvGraphicFramePr>
        <p:xfrm>
          <a:off x="723014" y="297006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{A943D1A6-DE56-4B6B-845E-A41CEDE09F48}</a:tableStyleId>
              </a:tblPr>
              <a:tblGrid>
                <a:gridCol w="4117150"/>
                <a:gridCol w="4205825"/>
                <a:gridCol w="4205825"/>
              </a:tblGrid>
              <a:tr h="598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/>
                        <a:t>Feature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/>
                        <a:t>Linear Regression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600" u="none" cap="none" strike="noStrike"/>
                        <a:t>Logistic Regression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Output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Continuous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Probability (0-1)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Function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Straight Line (y = wx + b)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S-shaped Sigmoid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Usage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Prediction (e.g., house prices)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Classification (e.g., spam detection)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443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Cost Function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Mean Squared Error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00" u="none" cap="none" strike="noStrike"/>
                        <a:t>Log Loss(Binary Cross Entropy)</a:t>
                      </a:r>
                      <a:endParaRPr sz="2000"/>
                    </a:p>
                  </a:txBody>
                  <a:tcPr marT="45725" marB="45725" marR="91450" marL="91450" anchor="ctr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4942fe4406_0_99"/>
          <p:cNvSpPr/>
          <p:nvPr/>
        </p:nvSpPr>
        <p:spPr>
          <a:xfrm>
            <a:off x="793790" y="1137880"/>
            <a:ext cx="115968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Visualizing Results: Health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1" name="Google Shape;171;g34942fe4406_0_9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sp>
        <p:nvSpPr>
          <p:cNvPr id="172" name="Google Shape;172;g34942fe4406_0_99"/>
          <p:cNvSpPr txBox="1"/>
          <p:nvPr/>
        </p:nvSpPr>
        <p:spPr>
          <a:xfrm>
            <a:off x="588725" y="2377625"/>
            <a:ext cx="13363200" cy="5331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True Positive (TP):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correctly predicts a positive case. E.g., predicts "disease" and the patient actually has it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</a:rPr>
              <a:t>False Positive (FP)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: Model incorrectly predicts positive. E.g., predicts "disease" but the patient is healthy.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True Negative (TN):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correctly predicts a negative case. E.g., predicts "no disease" and the patient is healthy.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False Negative (FN):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misses a positive case. E.g., predicts "no disease" but the patient actually has it.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g34942fe4406_0_106"/>
          <p:cNvSpPr/>
          <p:nvPr/>
        </p:nvSpPr>
        <p:spPr>
          <a:xfrm>
            <a:off x="793789" y="1137880"/>
            <a:ext cx="11319300" cy="70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719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450"/>
              <a:buFont typeface="Platypi Medium"/>
              <a:buNone/>
            </a:pPr>
            <a:r>
              <a:rPr b="0" i="0" lang="en-US" sz="44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Visualizing Results: Bank Fraud </a:t>
            </a:r>
            <a:endParaRPr b="0" i="0" sz="445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descr="preencoded.png" id="179" name="Google Shape;179;g34942fe4406_0_10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8767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4942fe4406_0_106"/>
          <p:cNvSpPr txBox="1"/>
          <p:nvPr/>
        </p:nvSpPr>
        <p:spPr>
          <a:xfrm>
            <a:off x="588725" y="2377625"/>
            <a:ext cx="13035900" cy="504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True Positive (TP):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correctly flags a fraudulent transaction. E.g., predicts fraud and it really is fraud</a:t>
            </a: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False Positive (FP):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incorrectly flags a genuine transaction as fraud. E.g., predicts fraud but it’s a valid transaction</a:t>
            </a: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True Negative (TN):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correctly identifies a legitimate transaction. E.g., predicts no fraud and it’s truly not fraud</a:t>
            </a: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>
              <a:solidFill>
                <a:srgbClr val="434343"/>
              </a:solidFill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False Negative (FN): </a:t>
            </a:r>
            <a:r>
              <a:rPr b="0" i="0" lang="en-US" sz="2800" u="none" cap="none" strike="noStrike">
                <a:solidFill>
                  <a:srgbClr val="434343"/>
                </a:solidFill>
                <a:latin typeface="Arial"/>
                <a:ea typeface="Arial"/>
                <a:cs typeface="Arial"/>
                <a:sym typeface="Arial"/>
              </a:rPr>
              <a:t>Model fails to detect a fraud. E.g., predicts no fraud but it was actually fraudulent.</a:t>
            </a:r>
            <a:endParaRPr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8"/>
          <p:cNvSpPr/>
          <p:nvPr/>
        </p:nvSpPr>
        <p:spPr>
          <a:xfrm>
            <a:off x="793790" y="696516"/>
            <a:ext cx="5103614" cy="63793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4000"/>
              <a:buFont typeface="Platypi Medium"/>
              <a:buNone/>
            </a:pPr>
            <a:r>
              <a:rPr b="0" i="0" lang="en-US" sz="40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Visualizing Results</a:t>
            </a:r>
            <a:endParaRPr b="0" i="0" sz="4000" u="none" cap="none" strike="noStrike"/>
          </a:p>
        </p:txBody>
      </p:sp>
      <p:sp>
        <p:nvSpPr>
          <p:cNvPr id="187" name="Google Shape;187;p8"/>
          <p:cNvSpPr/>
          <p:nvPr/>
        </p:nvSpPr>
        <p:spPr>
          <a:xfrm>
            <a:off x="793800" y="2407863"/>
            <a:ext cx="6149700" cy="66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000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2000"/>
              <a:buFont typeface="Platypi Medium"/>
              <a:buNone/>
            </a:pPr>
            <a:r>
              <a:rPr b="0" i="0" lang="en-US" sz="3100" u="none" cap="none" strike="noStrike">
                <a:solidFill>
                  <a:srgbClr val="434343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Confusion Matrix</a:t>
            </a:r>
            <a:endParaRPr b="0" i="0" sz="3100" u="none" cap="none" strike="noStrike">
              <a:solidFill>
                <a:srgbClr val="434343"/>
              </a:solidFill>
            </a:endParaRPr>
          </a:p>
        </p:txBody>
      </p:sp>
      <p:sp>
        <p:nvSpPr>
          <p:cNvPr id="188" name="Google Shape;188;p8"/>
          <p:cNvSpPr/>
          <p:nvPr/>
        </p:nvSpPr>
        <p:spPr>
          <a:xfrm>
            <a:off x="793800" y="3325940"/>
            <a:ext cx="63684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7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Helps evaluate model performance.</a:t>
            </a:r>
            <a:endParaRPr b="0" i="0" sz="2700" u="none" cap="none" strike="noStrike"/>
          </a:p>
        </p:txBody>
      </p:sp>
      <p:sp>
        <p:nvSpPr>
          <p:cNvPr id="189" name="Google Shape;189;p8"/>
          <p:cNvSpPr/>
          <p:nvPr/>
        </p:nvSpPr>
        <p:spPr>
          <a:xfrm>
            <a:off x="793800" y="4260363"/>
            <a:ext cx="6867900" cy="679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7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Shows actual vs. predicted classifications.</a:t>
            </a:r>
            <a:endParaRPr b="0" i="0" sz="2700" u="none" cap="none" strike="noStrike"/>
          </a:p>
        </p:txBody>
      </p:sp>
      <p:sp>
        <p:nvSpPr>
          <p:cNvPr id="190" name="Google Shape;190;p8"/>
          <p:cNvSpPr/>
          <p:nvPr/>
        </p:nvSpPr>
        <p:spPr>
          <a:xfrm>
            <a:off x="793800" y="5194793"/>
            <a:ext cx="63684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59375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600"/>
              <a:buFont typeface="Arial"/>
              <a:buNone/>
            </a:pPr>
            <a:r>
              <a:rPr b="0" i="0" lang="en-US" sz="27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Used to compute metrics like </a:t>
            </a:r>
            <a:r>
              <a:rPr b="1" i="0" lang="en-US" sz="27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accuracy, precision, recall, and F1-score</a:t>
            </a:r>
            <a:r>
              <a:rPr b="0" i="0" lang="en-US" sz="270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2700" u="none" cap="none" strike="noStrike"/>
          </a:p>
        </p:txBody>
      </p:sp>
      <p:pic>
        <p:nvPicPr>
          <p:cNvPr descr="preencoded.png" id="191" name="Google Shape;191;p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  <p:pic>
        <p:nvPicPr>
          <p:cNvPr id="192" name="Google Shape;192;p8"/>
          <p:cNvPicPr preferRelativeResize="0"/>
          <p:nvPr/>
        </p:nvPicPr>
        <p:blipFill rotWithShape="1">
          <a:blip r:embed="rId4">
            <a:alphaModFix/>
          </a:blip>
          <a:srcRect b="0" l="7858" r="17653" t="0"/>
          <a:stretch/>
        </p:blipFill>
        <p:spPr>
          <a:xfrm>
            <a:off x="7661825" y="1737925"/>
            <a:ext cx="6739974" cy="5486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9"/>
          <p:cNvSpPr/>
          <p:nvPr/>
        </p:nvSpPr>
        <p:spPr>
          <a:xfrm>
            <a:off x="793812" y="710575"/>
            <a:ext cx="8152200" cy="46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2900"/>
              <a:buFont typeface="Platypi Medium"/>
              <a:buNone/>
            </a:pPr>
            <a:r>
              <a:rPr b="0" i="0" lang="en-US" sz="440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Model Evaluation</a:t>
            </a:r>
            <a:endParaRPr b="0" i="0" sz="4400" u="none" cap="none" strike="noStrike"/>
          </a:p>
        </p:txBody>
      </p:sp>
      <p:sp>
        <p:nvSpPr>
          <p:cNvPr id="199" name="Google Shape;199;p9"/>
          <p:cNvSpPr/>
          <p:nvPr/>
        </p:nvSpPr>
        <p:spPr>
          <a:xfrm>
            <a:off x="794589" y="1666451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23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ROC-AUC</a:t>
            </a:r>
            <a:endParaRPr b="0" i="0" sz="2350" u="none" cap="none" strike="noStrike"/>
          </a:p>
        </p:txBody>
      </p:sp>
      <p:sp>
        <p:nvSpPr>
          <p:cNvPr id="200" name="Google Shape;200;p9"/>
          <p:cNvSpPr/>
          <p:nvPr/>
        </p:nvSpPr>
        <p:spPr>
          <a:xfrm>
            <a:off x="794589" y="2241020"/>
            <a:ext cx="2965800" cy="471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Evaluates model performance across different thresholds</a:t>
            </a:r>
            <a:endParaRPr b="0" i="0" sz="2050" u="none" cap="none" strike="noStrike"/>
          </a:p>
        </p:txBody>
      </p:sp>
      <p:sp>
        <p:nvSpPr>
          <p:cNvPr id="201" name="Google Shape;201;p9"/>
          <p:cNvSpPr/>
          <p:nvPr/>
        </p:nvSpPr>
        <p:spPr>
          <a:xfrm>
            <a:off x="4055235" y="1666451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23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F1-Score</a:t>
            </a:r>
            <a:endParaRPr b="0" i="0" sz="2350" u="none" cap="none" strike="noStrike"/>
          </a:p>
        </p:txBody>
      </p:sp>
      <p:sp>
        <p:nvSpPr>
          <p:cNvPr id="202" name="Google Shape;202;p9"/>
          <p:cNvSpPr/>
          <p:nvPr/>
        </p:nvSpPr>
        <p:spPr>
          <a:xfrm>
            <a:off x="4055235" y="2241020"/>
            <a:ext cx="2966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Balances precision and recall</a:t>
            </a:r>
            <a:endParaRPr b="0" i="0" sz="2050" u="none" cap="none" strike="noStrike"/>
          </a:p>
        </p:txBody>
      </p:sp>
      <p:sp>
        <p:nvSpPr>
          <p:cNvPr id="203" name="Google Shape;203;p9"/>
          <p:cNvSpPr/>
          <p:nvPr/>
        </p:nvSpPr>
        <p:spPr>
          <a:xfrm>
            <a:off x="7316001" y="1666450"/>
            <a:ext cx="29658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23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Precision &amp; Recall</a:t>
            </a:r>
            <a:endParaRPr b="0" i="0" sz="2350" u="none" cap="none" strike="noStrike"/>
          </a:p>
        </p:txBody>
      </p:sp>
      <p:sp>
        <p:nvSpPr>
          <p:cNvPr id="204" name="Google Shape;204;p9"/>
          <p:cNvSpPr/>
          <p:nvPr/>
        </p:nvSpPr>
        <p:spPr>
          <a:xfrm>
            <a:off x="7315999" y="2241020"/>
            <a:ext cx="2965800" cy="707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Precision: predicted positives that are correct; Recall: actual positives correctly predicted</a:t>
            </a:r>
            <a:endParaRPr b="0" i="0" sz="2050" u="none" cap="none" strike="noStrike"/>
          </a:p>
        </p:txBody>
      </p:sp>
      <p:sp>
        <p:nvSpPr>
          <p:cNvPr id="205" name="Google Shape;205;p9"/>
          <p:cNvSpPr/>
          <p:nvPr/>
        </p:nvSpPr>
        <p:spPr>
          <a:xfrm>
            <a:off x="10576645" y="1666451"/>
            <a:ext cx="1842900" cy="23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4137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450"/>
              <a:buFont typeface="Platypi Medium"/>
              <a:buNone/>
            </a:pPr>
            <a:r>
              <a:rPr b="0" i="0" lang="en-US" sz="23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Accuracy</a:t>
            </a:r>
            <a:endParaRPr b="0" i="0" sz="2350" u="none" cap="none" strike="noStrike"/>
          </a:p>
        </p:txBody>
      </p:sp>
      <p:sp>
        <p:nvSpPr>
          <p:cNvPr id="206" name="Google Shape;206;p9"/>
          <p:cNvSpPr/>
          <p:nvPr/>
        </p:nvSpPr>
        <p:spPr>
          <a:xfrm>
            <a:off x="10576645" y="2241020"/>
            <a:ext cx="2966100" cy="235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150"/>
              <a:buFont typeface="Arial"/>
              <a:buNone/>
            </a:pPr>
            <a:r>
              <a:rPr b="0" i="0" lang="en-US" sz="20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Overall correctness of the model</a:t>
            </a:r>
            <a:endParaRPr b="0" i="0" sz="2050" u="none" cap="none" strike="noStrike"/>
          </a:p>
        </p:txBody>
      </p:sp>
      <p:pic>
        <p:nvPicPr>
          <p:cNvPr descr="preencoded.png" id="207" name="Google Shape;207;p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67022" y="4017741"/>
            <a:ext cx="7403306" cy="3501272"/>
          </a:xfrm>
          <a:prstGeom prst="rect">
            <a:avLst/>
          </a:prstGeom>
          <a:noFill/>
          <a:ln>
            <a:noFill/>
          </a:ln>
        </p:spPr>
      </p:pic>
      <p:sp>
        <p:nvSpPr>
          <p:cNvPr id="208" name="Google Shape;208;p9"/>
          <p:cNvSpPr/>
          <p:nvPr/>
        </p:nvSpPr>
        <p:spPr>
          <a:xfrm>
            <a:off x="793790" y="7283291"/>
            <a:ext cx="13042821" cy="23574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0869"/>
              </a:lnSpc>
              <a:spcBef>
                <a:spcPts val="0"/>
              </a:spcBef>
              <a:spcAft>
                <a:spcPts val="0"/>
              </a:spcAft>
              <a:buSzPts val="1150"/>
              <a:buFont typeface="Arial"/>
              <a:buNone/>
            </a:pPr>
            <a:r>
              <a:t/>
            </a:r>
            <a:endParaRPr b="0" i="0" sz="1150" u="none" cap="none" strike="noStrike"/>
          </a:p>
        </p:txBody>
      </p:sp>
      <p:pic>
        <p:nvPicPr>
          <p:cNvPr descr="preencoded.png" id="209" name="Google Shape;209;p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787956" y="619125"/>
            <a:ext cx="8467011" cy="63317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316"/>
              </a:lnSpc>
              <a:spcBef>
                <a:spcPts val="0"/>
              </a:spcBef>
              <a:spcAft>
                <a:spcPts val="0"/>
              </a:spcAft>
              <a:buClr>
                <a:srgbClr val="201B18"/>
              </a:buClr>
              <a:buSzPts val="3950"/>
              <a:buFont typeface="Platypi Medium"/>
              <a:buNone/>
            </a:pPr>
            <a:r>
              <a:rPr b="0" i="0" lang="en-US" sz="3950" u="none" cap="none" strike="noStrike">
                <a:solidFill>
                  <a:srgbClr val="201B18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Implementing Logistic Regression</a:t>
            </a:r>
            <a:endParaRPr b="0" i="0" sz="3950" u="none" cap="none" strike="noStrike"/>
          </a:p>
        </p:txBody>
      </p:sp>
      <p:pic>
        <p:nvPicPr>
          <p:cNvPr descr="preencoded.png" id="216" name="Google Shape;216;p1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87956" y="1556147"/>
            <a:ext cx="1013103" cy="1613059"/>
          </a:xfrm>
          <a:prstGeom prst="rect">
            <a:avLst/>
          </a:prstGeom>
          <a:noFill/>
          <a:ln>
            <a:noFill/>
          </a:ln>
        </p:spPr>
      </p:pic>
      <p:sp>
        <p:nvSpPr>
          <p:cNvPr id="217" name="Google Shape;217;p11"/>
          <p:cNvSpPr/>
          <p:nvPr/>
        </p:nvSpPr>
        <p:spPr>
          <a:xfrm>
            <a:off x="2104906" y="1758672"/>
            <a:ext cx="2532936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Train the Model</a:t>
            </a:r>
            <a:endParaRPr b="0" i="0" sz="1950" u="none" cap="none" strike="noStrike"/>
          </a:p>
        </p:txBody>
      </p:sp>
      <p:sp>
        <p:nvSpPr>
          <p:cNvPr id="218" name="Google Shape;218;p11"/>
          <p:cNvSpPr/>
          <p:nvPr/>
        </p:nvSpPr>
        <p:spPr>
          <a:xfrm>
            <a:off x="2104906" y="2196703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model = LogisticRegression()</a:t>
            </a:r>
            <a:endParaRPr b="0" i="0" sz="1550" u="none" cap="none" strike="noStrike"/>
          </a:p>
        </p:txBody>
      </p:sp>
      <p:sp>
        <p:nvSpPr>
          <p:cNvPr id="219" name="Google Shape;219;p11"/>
          <p:cNvSpPr/>
          <p:nvPr/>
        </p:nvSpPr>
        <p:spPr>
          <a:xfrm>
            <a:off x="2104906" y="2642473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model.fit(X_train, y_train)</a:t>
            </a:r>
            <a:endParaRPr b="0" i="0" sz="1550" u="none" cap="none" strike="noStrike"/>
          </a:p>
        </p:txBody>
      </p:sp>
      <p:pic>
        <p:nvPicPr>
          <p:cNvPr descr="preencoded.png" id="220" name="Google Shape;220;p1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87956" y="3169206"/>
            <a:ext cx="1013103" cy="1215747"/>
          </a:xfrm>
          <a:prstGeom prst="rect">
            <a:avLst/>
          </a:prstGeom>
          <a:noFill/>
          <a:ln>
            <a:noFill/>
          </a:ln>
        </p:spPr>
      </p:pic>
      <p:sp>
        <p:nvSpPr>
          <p:cNvPr id="221" name="Google Shape;221;p11"/>
          <p:cNvSpPr/>
          <p:nvPr/>
        </p:nvSpPr>
        <p:spPr>
          <a:xfrm>
            <a:off x="2104906" y="3371731"/>
            <a:ext cx="2532936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Make Predictions</a:t>
            </a:r>
            <a:endParaRPr b="0" i="0" sz="1950" u="none" cap="none" strike="noStrike"/>
          </a:p>
        </p:txBody>
      </p:sp>
      <p:sp>
        <p:nvSpPr>
          <p:cNvPr id="222" name="Google Shape;222;p11"/>
          <p:cNvSpPr/>
          <p:nvPr/>
        </p:nvSpPr>
        <p:spPr>
          <a:xfrm>
            <a:off x="2104906" y="3809762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y_pred = model.predict(X_test)</a:t>
            </a:r>
            <a:endParaRPr b="0" i="0" sz="1550" u="none" cap="none" strike="noStrike"/>
          </a:p>
        </p:txBody>
      </p:sp>
      <p:pic>
        <p:nvPicPr>
          <p:cNvPr descr="preencoded.png" id="223" name="Google Shape;223;p1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87956" y="4384953"/>
            <a:ext cx="1013103" cy="1613059"/>
          </a:xfrm>
          <a:prstGeom prst="rect">
            <a:avLst/>
          </a:prstGeom>
          <a:noFill/>
          <a:ln>
            <a:noFill/>
          </a:ln>
        </p:spPr>
      </p:pic>
      <p:sp>
        <p:nvSpPr>
          <p:cNvPr id="224" name="Google Shape;224;p11"/>
          <p:cNvSpPr/>
          <p:nvPr/>
        </p:nvSpPr>
        <p:spPr>
          <a:xfrm>
            <a:off x="2104906" y="4587478"/>
            <a:ext cx="2532936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Evaluate the Model</a:t>
            </a:r>
            <a:endParaRPr b="0" i="0" sz="1950" u="none" cap="none" strike="noStrike"/>
          </a:p>
        </p:txBody>
      </p:sp>
      <p:sp>
        <p:nvSpPr>
          <p:cNvPr id="225" name="Google Shape;225;p11"/>
          <p:cNvSpPr/>
          <p:nvPr/>
        </p:nvSpPr>
        <p:spPr>
          <a:xfrm>
            <a:off x="2104906" y="5025509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print(accuracy_score(y_test, y_pred))</a:t>
            </a:r>
            <a:endParaRPr b="0" i="0" sz="1550" u="none" cap="none" strike="noStrike"/>
          </a:p>
        </p:txBody>
      </p:sp>
      <p:sp>
        <p:nvSpPr>
          <p:cNvPr id="226" name="Google Shape;226;p11"/>
          <p:cNvSpPr/>
          <p:nvPr/>
        </p:nvSpPr>
        <p:spPr>
          <a:xfrm>
            <a:off x="2104906" y="5471279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print(classification_report(y_test, y_pred))</a:t>
            </a:r>
            <a:endParaRPr b="0" i="0" sz="1550" u="none" cap="none" strike="noStrike"/>
          </a:p>
        </p:txBody>
      </p:sp>
      <p:pic>
        <p:nvPicPr>
          <p:cNvPr descr="preencoded.png" id="227" name="Google Shape;227;p1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87956" y="5998012"/>
            <a:ext cx="1013103" cy="1613059"/>
          </a:xfrm>
          <a:prstGeom prst="rect">
            <a:avLst/>
          </a:prstGeom>
          <a:noFill/>
          <a:ln>
            <a:noFill/>
          </a:ln>
        </p:spPr>
      </p:pic>
      <p:sp>
        <p:nvSpPr>
          <p:cNvPr id="228" name="Google Shape;228;p11"/>
          <p:cNvSpPr/>
          <p:nvPr/>
        </p:nvSpPr>
        <p:spPr>
          <a:xfrm>
            <a:off x="2104906" y="6200537"/>
            <a:ext cx="2532936" cy="31646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25641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950"/>
              <a:buFont typeface="Platypi Medium"/>
              <a:buNone/>
            </a:pPr>
            <a:r>
              <a:rPr b="0" i="0" lang="en-US" sz="1950" u="none" cap="none" strike="noStrike">
                <a:solidFill>
                  <a:srgbClr val="504C49"/>
                </a:solidFill>
                <a:latin typeface="Platypi Medium"/>
                <a:ea typeface="Platypi Medium"/>
                <a:cs typeface="Platypi Medium"/>
                <a:sym typeface="Platypi Medium"/>
              </a:rPr>
              <a:t>Optimize the Model</a:t>
            </a:r>
            <a:endParaRPr b="0" i="0" sz="1950" u="none" cap="none" strike="noStrike"/>
          </a:p>
        </p:txBody>
      </p:sp>
      <p:sp>
        <p:nvSpPr>
          <p:cNvPr id="229" name="Google Shape;229;p11"/>
          <p:cNvSpPr/>
          <p:nvPr/>
        </p:nvSpPr>
        <p:spPr>
          <a:xfrm>
            <a:off x="2104906" y="6638568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model = LogisticRegression(C=0.1)</a:t>
            </a:r>
            <a:endParaRPr b="0" i="0" sz="1550" u="none" cap="none" strike="noStrike"/>
          </a:p>
        </p:txBody>
      </p:sp>
      <p:sp>
        <p:nvSpPr>
          <p:cNvPr id="230" name="Google Shape;230;p11"/>
          <p:cNvSpPr/>
          <p:nvPr/>
        </p:nvSpPr>
        <p:spPr>
          <a:xfrm>
            <a:off x="2104906" y="7084338"/>
            <a:ext cx="11737538" cy="324207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lnSpc>
                <a:spcPct val="164516"/>
              </a:lnSpc>
              <a:spcBef>
                <a:spcPts val="0"/>
              </a:spcBef>
              <a:spcAft>
                <a:spcPts val="0"/>
              </a:spcAft>
              <a:buClr>
                <a:srgbClr val="504C49"/>
              </a:buClr>
              <a:buSzPts val="1550"/>
              <a:buFont typeface="Arial"/>
              <a:buNone/>
            </a:pP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Tune hyperparameters like </a:t>
            </a:r>
            <a:r>
              <a:rPr b="1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regularization strength (C)</a:t>
            </a:r>
            <a:r>
              <a:rPr b="0" i="0" lang="en-US" sz="1550" u="none" cap="none" strike="noStrike">
                <a:solidFill>
                  <a:srgbClr val="504C49"/>
                </a:solidFill>
                <a:latin typeface="Arial"/>
                <a:ea typeface="Arial"/>
                <a:cs typeface="Arial"/>
                <a:sym typeface="Arial"/>
              </a:rPr>
              <a:t>.</a:t>
            </a:r>
            <a:endParaRPr b="0" i="0" sz="1550" u="none" cap="none" strike="noStrike"/>
          </a:p>
        </p:txBody>
      </p:sp>
      <p:pic>
        <p:nvPicPr>
          <p:cNvPr descr="preencoded.png" id="231" name="Google Shape;231;p11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13624560" y="228600"/>
            <a:ext cx="777240" cy="6094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2025-04-04T06:19:42Z</dcterms:created>
  <dc:creator>PptxGenJS</dc:creator>
</cp:coreProperties>
</file>