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8229600" cx="14630400"/>
  <p:notesSz cx="8229600" cy="14630400"/>
  <p:embeddedFontLst>
    <p:embeddedFont>
      <p:font typeface="Platypi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uVYXT+6K5Lxo5GOyxnnEhct0m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typiMedium-bold.fntdata"/><Relationship Id="rId11" Type="http://schemas.openxmlformats.org/officeDocument/2006/relationships/slide" Target="slides/slide7.xml"/><Relationship Id="rId22" Type="http://schemas.openxmlformats.org/officeDocument/2006/relationships/font" Target="fonts/PlatypiMedium-boldItalic.fntdata"/><Relationship Id="rId10" Type="http://schemas.openxmlformats.org/officeDocument/2006/relationships/slide" Target="slides/slide6.xml"/><Relationship Id="rId21" Type="http://schemas.openxmlformats.org/officeDocument/2006/relationships/font" Target="fonts/PlatypiMedium-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typiMedium-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 name="Google Shape;5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3" name="Google Shape;6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7" name="Google Shape;7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3" name="Google Shape;9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9" name="Google Shape;10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8" name="Google Shape;12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6" name="Google Shape;13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3" name="Google Shape;15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3" name="Google Shape;17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7" name="Google Shape;20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3" name="Google Shape;22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9" name="Google Shape;23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4" name="Google Shape;25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 name="Shape 6"/>
        <p:cNvGrpSpPr/>
        <p:nvPr/>
      </p:nvGrpSpPr>
      <p:grpSpPr>
        <a:xfrm>
          <a:off x="0" y="0"/>
          <a:ext cx="0" cy="0"/>
          <a:chOff x="0" y="0"/>
          <a:chExt cx="0" cy="0"/>
        </a:xfrm>
      </p:grpSpPr>
      <p:sp>
        <p:nvSpPr>
          <p:cNvPr id="7" name="Google Shape;7;p1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9" name="Shape 9"/>
        <p:cNvGrpSpPr/>
        <p:nvPr/>
      </p:nvGrpSpPr>
      <p:grpSpPr>
        <a:xfrm>
          <a:off x="0" y="0"/>
          <a:ext cx="0" cy="0"/>
          <a:chOff x="0" y="0"/>
          <a:chExt cx="0" cy="0"/>
        </a:xfrm>
      </p:grpSpPr>
      <p:sp>
        <p:nvSpPr>
          <p:cNvPr id="10" name="Google Shape;10;p1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2" name="Shape 12"/>
        <p:cNvGrpSpPr/>
        <p:nvPr/>
      </p:nvGrpSpPr>
      <p:grpSpPr>
        <a:xfrm>
          <a:off x="0" y="0"/>
          <a:ext cx="0" cy="0"/>
          <a:chOff x="0" y="0"/>
          <a:chExt cx="0" cy="0"/>
        </a:xfrm>
      </p:grpSpPr>
      <p:sp>
        <p:nvSpPr>
          <p:cNvPr id="13" name="Google Shape;13;p1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5" name="Shape 15"/>
        <p:cNvGrpSpPr/>
        <p:nvPr/>
      </p:nvGrpSpPr>
      <p:grpSpPr>
        <a:xfrm>
          <a:off x="0" y="0"/>
          <a:ext cx="0" cy="0"/>
          <a:chOff x="0" y="0"/>
          <a:chExt cx="0" cy="0"/>
        </a:xfrm>
      </p:grpSpPr>
      <p:sp>
        <p:nvSpPr>
          <p:cNvPr id="16" name="Google Shape;16;p1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8" name="Shape 18"/>
        <p:cNvGrpSpPr/>
        <p:nvPr/>
      </p:nvGrpSpPr>
      <p:grpSpPr>
        <a:xfrm>
          <a:off x="0" y="0"/>
          <a:ext cx="0" cy="0"/>
          <a:chOff x="0" y="0"/>
          <a:chExt cx="0" cy="0"/>
        </a:xfrm>
      </p:grpSpPr>
      <p:sp>
        <p:nvSpPr>
          <p:cNvPr id="19" name="Google Shape;19;p2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1" name="Shape 21"/>
        <p:cNvGrpSpPr/>
        <p:nvPr/>
      </p:nvGrpSpPr>
      <p:grpSpPr>
        <a:xfrm>
          <a:off x="0" y="0"/>
          <a:ext cx="0" cy="0"/>
          <a:chOff x="0" y="0"/>
          <a:chExt cx="0" cy="0"/>
        </a:xfrm>
      </p:grpSpPr>
      <p:sp>
        <p:nvSpPr>
          <p:cNvPr id="22" name="Google Shape;22;p2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4" name="Shape 24"/>
        <p:cNvGrpSpPr/>
        <p:nvPr/>
      </p:nvGrpSpPr>
      <p:grpSpPr>
        <a:xfrm>
          <a:off x="0" y="0"/>
          <a:ext cx="0" cy="0"/>
          <a:chOff x="0" y="0"/>
          <a:chExt cx="0" cy="0"/>
        </a:xfrm>
      </p:grpSpPr>
      <p:sp>
        <p:nvSpPr>
          <p:cNvPr id="25" name="Google Shape;25;p22"/>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7" name="Shape 27"/>
        <p:cNvGrpSpPr/>
        <p:nvPr/>
      </p:nvGrpSpPr>
      <p:grpSpPr>
        <a:xfrm>
          <a:off x="0" y="0"/>
          <a:ext cx="0" cy="0"/>
          <a:chOff x="0" y="0"/>
          <a:chExt cx="0" cy="0"/>
        </a:xfrm>
      </p:grpSpPr>
      <p:sp>
        <p:nvSpPr>
          <p:cNvPr id="28" name="Google Shape;28;p2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0" name="Shape 30"/>
        <p:cNvGrpSpPr/>
        <p:nvPr/>
      </p:nvGrpSpPr>
      <p:grpSpPr>
        <a:xfrm>
          <a:off x="0" y="0"/>
          <a:ext cx="0" cy="0"/>
          <a:chOff x="0" y="0"/>
          <a:chExt cx="0" cy="0"/>
        </a:xfrm>
      </p:grpSpPr>
      <p:sp>
        <p:nvSpPr>
          <p:cNvPr id="31" name="Google Shape;31;p24"/>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3" name="Shape 33"/>
        <p:cNvGrpSpPr/>
        <p:nvPr/>
      </p:nvGrpSpPr>
      <p:grpSpPr>
        <a:xfrm>
          <a:off x="0" y="0"/>
          <a:ext cx="0" cy="0"/>
          <a:chOff x="0" y="0"/>
          <a:chExt cx="0" cy="0"/>
        </a:xfrm>
      </p:grpSpPr>
      <p:sp>
        <p:nvSpPr>
          <p:cNvPr id="34" name="Google Shape;34;p25"/>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36" name="Shape 36"/>
        <p:cNvGrpSpPr/>
        <p:nvPr/>
      </p:nvGrpSpPr>
      <p:grpSpPr>
        <a:xfrm>
          <a:off x="0" y="0"/>
          <a:ext cx="0" cy="0"/>
          <a:chOff x="0" y="0"/>
          <a:chExt cx="0" cy="0"/>
        </a:xfrm>
      </p:grpSpPr>
      <p:sp>
        <p:nvSpPr>
          <p:cNvPr id="37" name="Google Shape;37;p2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39" name="Shape 39"/>
        <p:cNvGrpSpPr/>
        <p:nvPr/>
      </p:nvGrpSpPr>
      <p:grpSpPr>
        <a:xfrm>
          <a:off x="0" y="0"/>
          <a:ext cx="0" cy="0"/>
          <a:chOff x="0" y="0"/>
          <a:chExt cx="0" cy="0"/>
        </a:xfrm>
      </p:grpSpPr>
      <p:sp>
        <p:nvSpPr>
          <p:cNvPr id="40" name="Google Shape;40;p2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2" name="Shape 42"/>
        <p:cNvGrpSpPr/>
        <p:nvPr/>
      </p:nvGrpSpPr>
      <p:grpSpPr>
        <a:xfrm>
          <a:off x="0" y="0"/>
          <a:ext cx="0" cy="0"/>
          <a:chOff x="0" y="0"/>
          <a:chExt cx="0" cy="0"/>
        </a:xfrm>
      </p:grpSpPr>
      <p:sp>
        <p:nvSpPr>
          <p:cNvPr id="43" name="Google Shape;43;p2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5" name="Shape 4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3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8.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gi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21.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reencoded.png" id="54" name="Google Shape;54;p1"/>
          <p:cNvPicPr preferRelativeResize="0"/>
          <p:nvPr/>
        </p:nvPicPr>
        <p:blipFill rotWithShape="1">
          <a:blip r:embed="rId3">
            <a:alphaModFix/>
          </a:blip>
          <a:srcRect b="0" l="0" r="0" t="0"/>
          <a:stretch/>
        </p:blipFill>
        <p:spPr>
          <a:xfrm>
            <a:off x="283488" y="2052757"/>
            <a:ext cx="4919305" cy="4124087"/>
          </a:xfrm>
          <a:prstGeom prst="rect">
            <a:avLst/>
          </a:prstGeom>
          <a:noFill/>
          <a:ln>
            <a:noFill/>
          </a:ln>
        </p:spPr>
      </p:pic>
      <p:sp>
        <p:nvSpPr>
          <p:cNvPr id="55" name="Google Shape;55;p1"/>
          <p:cNvSpPr/>
          <p:nvPr/>
        </p:nvSpPr>
        <p:spPr>
          <a:xfrm>
            <a:off x="6280190" y="214443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Machine Learning</a:t>
            </a:r>
            <a:endParaRPr b="0" i="0" sz="4450" u="none" cap="none" strike="noStrike">
              <a:solidFill>
                <a:schemeClr val="dk1"/>
              </a:solidFill>
              <a:latin typeface="Calibri"/>
              <a:ea typeface="Calibri"/>
              <a:cs typeface="Calibri"/>
              <a:sym typeface="Calibri"/>
            </a:endParaRPr>
          </a:p>
        </p:txBody>
      </p:sp>
      <p:sp>
        <p:nvSpPr>
          <p:cNvPr id="56" name="Google Shape;56;p1"/>
          <p:cNvSpPr/>
          <p:nvPr/>
        </p:nvSpPr>
        <p:spPr>
          <a:xfrm>
            <a:off x="6280190" y="3193375"/>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Lecture 9: Introduction to k-Nearest Neighbors (k-NN)</a:t>
            </a:r>
            <a:endParaRPr b="0" i="0" sz="4450" u="none" cap="none" strike="noStrike">
              <a:solidFill>
                <a:schemeClr val="dk1"/>
              </a:solidFill>
              <a:latin typeface="Calibri"/>
              <a:ea typeface="Calibri"/>
              <a:cs typeface="Calibri"/>
              <a:sym typeface="Calibri"/>
            </a:endParaRPr>
          </a:p>
        </p:txBody>
      </p:sp>
      <p:sp>
        <p:nvSpPr>
          <p:cNvPr id="57" name="Google Shape;57;p1"/>
          <p:cNvSpPr/>
          <p:nvPr/>
        </p:nvSpPr>
        <p:spPr>
          <a:xfrm>
            <a:off x="6280190" y="5659874"/>
            <a:ext cx="4581644"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01B18"/>
              </a:buClr>
              <a:buSzPts val="2650"/>
              <a:buFont typeface="Platypi Medium"/>
              <a:buNone/>
            </a:pPr>
            <a:r>
              <a:rPr b="0" i="0" lang="en-US" sz="2650" u="none" cap="none" strike="noStrike">
                <a:solidFill>
                  <a:srgbClr val="201B18"/>
                </a:solidFill>
                <a:latin typeface="Platypi Medium"/>
                <a:ea typeface="Platypi Medium"/>
                <a:cs typeface="Platypi Medium"/>
                <a:sym typeface="Platypi Medium"/>
              </a:rPr>
              <a:t>Instructor: Dr. Shazia Saqib</a:t>
            </a:r>
            <a:endParaRPr b="0" i="0" sz="2650" u="none" cap="none" strike="noStrike">
              <a:solidFill>
                <a:schemeClr val="dk1"/>
              </a:solidFill>
              <a:latin typeface="Calibri"/>
              <a:ea typeface="Calibri"/>
              <a:cs typeface="Calibri"/>
              <a:sym typeface="Calibri"/>
            </a:endParaRPr>
          </a:p>
        </p:txBody>
      </p:sp>
      <p:pic>
        <p:nvPicPr>
          <p:cNvPr descr="preencoded.png" id="58" name="Google Shape;58;p1"/>
          <p:cNvPicPr preferRelativeResize="0"/>
          <p:nvPr/>
        </p:nvPicPr>
        <p:blipFill rotWithShape="1">
          <a:blip r:embed="rId4">
            <a:alphaModFix/>
          </a:blip>
          <a:srcRect b="0" l="0" r="0" t="0"/>
          <a:stretch/>
        </p:blipFill>
        <p:spPr>
          <a:xfrm>
            <a:off x="13003075" y="228600"/>
            <a:ext cx="1398725" cy="1095540"/>
          </a:xfrm>
          <a:prstGeom prst="rect">
            <a:avLst/>
          </a:prstGeom>
          <a:noFill/>
          <a:ln>
            <a:noFill/>
          </a:ln>
        </p:spPr>
      </p:pic>
      <p:pic>
        <p:nvPicPr>
          <p:cNvPr descr="preencoded.png" id="59" name="Google Shape;59;p1"/>
          <p:cNvPicPr preferRelativeResize="0"/>
          <p:nvPr/>
        </p:nvPicPr>
        <p:blipFill rotWithShape="1">
          <a:blip r:embed="rId5">
            <a:alphaModFix/>
          </a:blip>
          <a:srcRect b="0" l="0" r="0" t="0"/>
          <a:stretch/>
        </p:blipFill>
        <p:spPr>
          <a:xfrm>
            <a:off x="13003065" y="6684210"/>
            <a:ext cx="1398746" cy="13987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p:nvPr/>
        </p:nvSpPr>
        <p:spPr>
          <a:xfrm>
            <a:off x="732460" y="838081"/>
            <a:ext cx="7051971" cy="708779"/>
          </a:xfrm>
          <a:prstGeom prst="rect">
            <a:avLst/>
          </a:prstGeom>
          <a:noFill/>
          <a:ln>
            <a:noFill/>
          </a:ln>
        </p:spPr>
        <p:txBody>
          <a:bodyPr anchorCtr="0" anchor="t" bIns="0" lIns="0" spcFirstLastPara="1" rIns="0" wrap="square" tIns="0">
            <a:noAutofit/>
          </a:bodyPr>
          <a:lstStyle/>
          <a:p>
            <a:pPr indent="0" lvl="0" marL="0" marR="0" rtl="0" algn="l">
              <a:lnSpc>
                <a:spcPct val="115625"/>
              </a:lnSpc>
              <a:spcBef>
                <a:spcPts val="0"/>
              </a:spcBef>
              <a:spcAft>
                <a:spcPts val="0"/>
              </a:spcAft>
              <a:buClr>
                <a:schemeClr val="dk1"/>
              </a:buClr>
              <a:buSzPts val="4800"/>
              <a:buFont typeface="Platypi Medium"/>
              <a:buNone/>
            </a:pPr>
            <a:r>
              <a:rPr lang="en-US" sz="4800">
                <a:solidFill>
                  <a:schemeClr val="dk1"/>
                </a:solidFill>
                <a:latin typeface="Platypi Medium"/>
                <a:ea typeface="Platypi Medium"/>
                <a:cs typeface="Platypi Medium"/>
                <a:sym typeface="Platypi Medium"/>
              </a:rPr>
              <a:t>Bias Variance Tradeoff</a:t>
            </a:r>
            <a:endParaRPr sz="4450">
              <a:solidFill>
                <a:schemeClr val="dk1"/>
              </a:solidFill>
              <a:latin typeface="Platypi Medium"/>
              <a:ea typeface="Platypi Medium"/>
              <a:cs typeface="Platypi Medium"/>
              <a:sym typeface="Platypi Medium"/>
            </a:endParaRPr>
          </a:p>
        </p:txBody>
      </p:sp>
      <p:sp>
        <p:nvSpPr>
          <p:cNvPr id="66" name="Google Shape;66;p2"/>
          <p:cNvSpPr/>
          <p:nvPr/>
        </p:nvSpPr>
        <p:spPr>
          <a:xfrm>
            <a:off x="497775" y="1887025"/>
            <a:ext cx="6474600" cy="4397400"/>
          </a:xfrm>
          <a:prstGeom prst="roundRect">
            <a:avLst>
              <a:gd fmla="val 1420"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724600" y="2113836"/>
            <a:ext cx="28353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chemeClr val="dk1"/>
              </a:buClr>
              <a:buSzPts val="2400"/>
              <a:buFont typeface="Platypi Medium"/>
              <a:buNone/>
            </a:pPr>
            <a:r>
              <a:rPr lang="en-US" sz="2400">
                <a:solidFill>
                  <a:schemeClr val="dk1"/>
                </a:solidFill>
                <a:latin typeface="Platypi Medium"/>
                <a:ea typeface="Platypi Medium"/>
                <a:cs typeface="Platypi Medium"/>
                <a:sym typeface="Platypi Medium"/>
              </a:rPr>
              <a:t>Bias</a:t>
            </a:r>
            <a:endParaRPr sz="2200">
              <a:solidFill>
                <a:schemeClr val="dk1"/>
              </a:solidFill>
              <a:latin typeface="Platypi Medium"/>
              <a:ea typeface="Platypi Medium"/>
              <a:cs typeface="Platypi Medium"/>
              <a:sym typeface="Platypi Medium"/>
            </a:endParaRPr>
          </a:p>
        </p:txBody>
      </p:sp>
      <p:sp>
        <p:nvSpPr>
          <p:cNvPr id="68" name="Google Shape;68;p2"/>
          <p:cNvSpPr/>
          <p:nvPr/>
        </p:nvSpPr>
        <p:spPr>
          <a:xfrm>
            <a:off x="724600" y="2604254"/>
            <a:ext cx="5895600" cy="3387600"/>
          </a:xfrm>
          <a:prstGeom prst="rect">
            <a:avLst/>
          </a:prstGeom>
          <a:noFill/>
          <a:ln>
            <a:noFill/>
          </a:ln>
        </p:spPr>
        <p:txBody>
          <a:bodyPr anchorCtr="0" anchor="t" bIns="0" lIns="0" spcFirstLastPara="1" rIns="0" wrap="square" tIns="0">
            <a:noAutofit/>
          </a:bodyPr>
          <a:lstStyle/>
          <a:p>
            <a:pPr indent="-2984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Bias is the difference between our actual and predicted values.</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When the Bias is high, assumptions the model can’t capture the important features of our data.</a:t>
            </a:r>
            <a:endParaRPr sz="2000"/>
          </a:p>
          <a:p>
            <a:pPr indent="-2984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This instance, where the model cannot find patterns in our training set and hence fails for both seen and unseen data, is called Underfitting.</a:t>
            </a:r>
            <a:endParaRPr sz="2000"/>
          </a:p>
        </p:txBody>
      </p:sp>
      <p:sp>
        <p:nvSpPr>
          <p:cNvPr id="69" name="Google Shape;69;p2"/>
          <p:cNvSpPr/>
          <p:nvPr/>
        </p:nvSpPr>
        <p:spPr>
          <a:xfrm>
            <a:off x="7080520" y="1887030"/>
            <a:ext cx="7052100" cy="4397400"/>
          </a:xfrm>
          <a:prstGeom prst="roundRect">
            <a:avLst>
              <a:gd fmla="val 1420"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7307339" y="2113836"/>
            <a:ext cx="4294200" cy="2277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chemeClr val="dk1"/>
              </a:buClr>
              <a:buSzPts val="2400"/>
              <a:buFont typeface="Platypi Medium"/>
              <a:buNone/>
            </a:pPr>
            <a:r>
              <a:rPr lang="en-US" sz="2400">
                <a:solidFill>
                  <a:schemeClr val="dk1"/>
                </a:solidFill>
                <a:latin typeface="Platypi Medium"/>
                <a:ea typeface="Platypi Medium"/>
                <a:cs typeface="Platypi Medium"/>
                <a:sym typeface="Platypi Medium"/>
              </a:rPr>
              <a:t>Variance</a:t>
            </a:r>
            <a:endParaRPr sz="2200">
              <a:solidFill>
                <a:schemeClr val="dk1"/>
              </a:solidFill>
              <a:latin typeface="Platypi Medium"/>
              <a:ea typeface="Platypi Medium"/>
              <a:cs typeface="Platypi Medium"/>
              <a:sym typeface="Platypi Medium"/>
            </a:endParaRPr>
          </a:p>
        </p:txBody>
      </p:sp>
      <p:sp>
        <p:nvSpPr>
          <p:cNvPr id="71" name="Google Shape;71;p2"/>
          <p:cNvSpPr/>
          <p:nvPr/>
        </p:nvSpPr>
        <p:spPr>
          <a:xfrm>
            <a:off x="7307351" y="2604250"/>
            <a:ext cx="6474600" cy="4037100"/>
          </a:xfrm>
          <a:prstGeom prst="rect">
            <a:avLst/>
          </a:prstGeom>
          <a:noFill/>
          <a:ln>
            <a:noFill/>
          </a:ln>
        </p:spPr>
        <p:txBody>
          <a:bodyPr anchorCtr="0" anchor="t" bIns="0" lIns="0" spcFirstLastPara="1" rIns="0" wrap="square" tIns="0">
            <a:noAutofit/>
          </a:bodyPr>
          <a:lstStyle/>
          <a:p>
            <a:pPr indent="-2984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Variance as the model’s sensitivity to fluctuations in the data. Our model may learn from noise. This will cause our model to consider trivial features as important.</a:t>
            </a:r>
            <a:endParaRPr sz="2000"/>
          </a:p>
          <a:p>
            <a:pPr indent="-2984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When variance is high our model will capture all the features of the data given to it, including the noise, will tune itself to the data, and predict it very well but when given new data, it cannot predict on it as it is too specific to training data. This is called Overfitting.</a:t>
            </a:r>
            <a:endParaRPr sz="2000"/>
          </a:p>
        </p:txBody>
      </p:sp>
      <p:pic>
        <p:nvPicPr>
          <p:cNvPr descr="preencoded.png" id="72" name="Google Shape;72;p2"/>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
        <p:nvSpPr>
          <p:cNvPr id="73" name="Google Shape;73;p2"/>
          <p:cNvSpPr txBox="1"/>
          <p:nvPr/>
        </p:nvSpPr>
        <p:spPr>
          <a:xfrm>
            <a:off x="831199" y="6641362"/>
            <a:ext cx="12536700" cy="887700"/>
          </a:xfrm>
          <a:prstGeom prst="rect">
            <a:avLst/>
          </a:prstGeom>
          <a:noFill/>
          <a:ln>
            <a:noFill/>
          </a:ln>
        </p:spPr>
        <p:txBody>
          <a:bodyPr anchorCtr="0" anchor="t" bIns="45700" lIns="91425" spcFirstLastPara="1" rIns="91425" wrap="square" tIns="45700">
            <a:spAutoFit/>
          </a:bodyPr>
          <a:lstStyle/>
          <a:p>
            <a:pPr indent="0" lvl="0" marL="0" marR="0" rtl="0" algn="l">
              <a:lnSpc>
                <a:spcPct val="158333"/>
              </a:lnSpc>
              <a:spcBef>
                <a:spcPts val="0"/>
              </a:spcBef>
              <a:spcAft>
                <a:spcPts val="0"/>
              </a:spcAft>
              <a:buClr>
                <a:schemeClr val="dk1"/>
              </a:buClr>
              <a:buSzPts val="1800"/>
              <a:buFont typeface="Arial"/>
              <a:buNone/>
            </a:pPr>
            <a:r>
              <a:rPr lang="en-US" sz="2000">
                <a:solidFill>
                  <a:schemeClr val="dk1"/>
                </a:solidFill>
                <a:latin typeface="Arial"/>
                <a:ea typeface="Arial"/>
                <a:cs typeface="Arial"/>
                <a:sym typeface="Arial"/>
              </a:rPr>
              <a:t>An optimized model will be sensitive to the patterns in our data, but at the same time will be able to generalize to new data. In this, both the bias and variance should be low so as to prevent overfitting and underfitting.</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p:nvPr/>
        </p:nvSpPr>
        <p:spPr>
          <a:xfrm>
            <a:off x="6280190" y="110263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What is KNN?</a:t>
            </a:r>
            <a:endParaRPr sz="4450">
              <a:solidFill>
                <a:schemeClr val="dk1"/>
              </a:solidFill>
              <a:latin typeface="Calibri"/>
              <a:ea typeface="Calibri"/>
              <a:cs typeface="Calibri"/>
              <a:sym typeface="Calibri"/>
            </a:endParaRPr>
          </a:p>
        </p:txBody>
      </p:sp>
      <p:sp>
        <p:nvSpPr>
          <p:cNvPr id="80" name="Google Shape;80;p3"/>
          <p:cNvSpPr/>
          <p:nvPr/>
        </p:nvSpPr>
        <p:spPr>
          <a:xfrm>
            <a:off x="6280190" y="2151578"/>
            <a:ext cx="7556421" cy="807958"/>
          </a:xfrm>
          <a:prstGeom prst="roundRect">
            <a:avLst>
              <a:gd fmla="val 4211"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6507004" y="2378393"/>
            <a:ext cx="649914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Simple supervised machine learning algorithm</a:t>
            </a:r>
            <a:endParaRPr sz="2200">
              <a:solidFill>
                <a:schemeClr val="dk1"/>
              </a:solidFill>
              <a:latin typeface="Calibri"/>
              <a:ea typeface="Calibri"/>
              <a:cs typeface="Calibri"/>
              <a:sym typeface="Calibri"/>
            </a:endParaRPr>
          </a:p>
        </p:txBody>
      </p:sp>
      <p:sp>
        <p:nvSpPr>
          <p:cNvPr id="82" name="Google Shape;82;p3"/>
          <p:cNvSpPr/>
          <p:nvPr/>
        </p:nvSpPr>
        <p:spPr>
          <a:xfrm>
            <a:off x="6280190" y="3186351"/>
            <a:ext cx="7556421" cy="1162288"/>
          </a:xfrm>
          <a:prstGeom prst="roundRect">
            <a:avLst>
              <a:gd fmla="val 292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507004" y="3413165"/>
            <a:ext cx="710279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Works for both classification and regression problems</a:t>
            </a:r>
            <a:endParaRPr sz="2200">
              <a:solidFill>
                <a:schemeClr val="dk1"/>
              </a:solidFill>
              <a:latin typeface="Calibri"/>
              <a:ea typeface="Calibri"/>
              <a:cs typeface="Calibri"/>
              <a:sym typeface="Calibri"/>
            </a:endParaRPr>
          </a:p>
        </p:txBody>
      </p:sp>
      <p:sp>
        <p:nvSpPr>
          <p:cNvPr id="84" name="Google Shape;84;p3"/>
          <p:cNvSpPr/>
          <p:nvPr/>
        </p:nvSpPr>
        <p:spPr>
          <a:xfrm>
            <a:off x="6280190" y="4575453"/>
            <a:ext cx="7556421" cy="1162288"/>
          </a:xfrm>
          <a:prstGeom prst="roundRect">
            <a:avLst>
              <a:gd fmla="val 292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6507004" y="4802267"/>
            <a:ext cx="710279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Instance-based learning (no explicit training phase)</a:t>
            </a:r>
            <a:endParaRPr sz="2200">
              <a:solidFill>
                <a:schemeClr val="dk1"/>
              </a:solidFill>
              <a:latin typeface="Calibri"/>
              <a:ea typeface="Calibri"/>
              <a:cs typeface="Calibri"/>
              <a:sym typeface="Calibri"/>
            </a:endParaRPr>
          </a:p>
        </p:txBody>
      </p:sp>
      <p:sp>
        <p:nvSpPr>
          <p:cNvPr id="86" name="Google Shape;86;p3"/>
          <p:cNvSpPr/>
          <p:nvPr/>
        </p:nvSpPr>
        <p:spPr>
          <a:xfrm>
            <a:off x="6280190" y="5964555"/>
            <a:ext cx="7556421" cy="1162288"/>
          </a:xfrm>
          <a:prstGeom prst="roundRect">
            <a:avLst>
              <a:gd fmla="val 292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6507004" y="6191369"/>
            <a:ext cx="710279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Makes predictions based on similarity to known data points</a:t>
            </a:r>
            <a:endParaRPr sz="2200">
              <a:solidFill>
                <a:schemeClr val="dk1"/>
              </a:solidFill>
              <a:latin typeface="Calibri"/>
              <a:ea typeface="Calibri"/>
              <a:cs typeface="Calibri"/>
              <a:sym typeface="Calibri"/>
            </a:endParaRPr>
          </a:p>
        </p:txBody>
      </p:sp>
      <p:pic>
        <p:nvPicPr>
          <p:cNvPr descr="preencoded.png" id="88" name="Google Shape;88;p3"/>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pic>
        <p:nvPicPr>
          <p:cNvPr id="89" name="Google Shape;89;p3"/>
          <p:cNvPicPr preferRelativeResize="0"/>
          <p:nvPr/>
        </p:nvPicPr>
        <p:blipFill rotWithShape="1">
          <a:blip r:embed="rId4">
            <a:alphaModFix/>
          </a:blip>
          <a:srcRect b="0" l="0" r="0" t="0"/>
          <a:stretch/>
        </p:blipFill>
        <p:spPr>
          <a:xfrm>
            <a:off x="153829" y="1602076"/>
            <a:ext cx="5805431" cy="50394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4"/>
          <p:cNvSpPr/>
          <p:nvPr/>
        </p:nvSpPr>
        <p:spPr>
          <a:xfrm>
            <a:off x="793790" y="1392299"/>
            <a:ext cx="9513992" cy="1417558"/>
          </a:xfrm>
          <a:prstGeom prst="rect">
            <a:avLst/>
          </a:prstGeom>
          <a:noFill/>
          <a:ln>
            <a:noFill/>
          </a:ln>
        </p:spPr>
        <p:txBody>
          <a:bodyPr anchorCtr="0" anchor="t" bIns="0" lIns="0" spcFirstLastPara="1" rIns="0" wrap="square" tIns="0">
            <a:noAutofit/>
          </a:bodyPr>
          <a:lstStyle/>
          <a:p>
            <a:pPr indent="0" lvl="0" marL="0" marR="0" rtl="0" algn="l">
              <a:lnSpc>
                <a:spcPct val="115625"/>
              </a:lnSpc>
              <a:spcBef>
                <a:spcPts val="0"/>
              </a:spcBef>
              <a:spcAft>
                <a:spcPts val="0"/>
              </a:spcAft>
              <a:buClr>
                <a:srgbClr val="201B18"/>
              </a:buClr>
              <a:buSzPts val="4800"/>
              <a:buFont typeface="Platypi Medium"/>
              <a:buNone/>
            </a:pPr>
            <a:r>
              <a:rPr lang="en-US" sz="4800">
                <a:solidFill>
                  <a:srgbClr val="201B18"/>
                </a:solidFill>
                <a:latin typeface="Platypi Medium"/>
                <a:ea typeface="Platypi Medium"/>
                <a:cs typeface="Platypi Medium"/>
                <a:sym typeface="Platypi Medium"/>
              </a:rPr>
              <a:t>Basic KNN Workflow (Step 1)</a:t>
            </a:r>
            <a:endParaRPr sz="4800">
              <a:solidFill>
                <a:schemeClr val="dk1"/>
              </a:solidFill>
              <a:latin typeface="Calibri"/>
              <a:ea typeface="Calibri"/>
              <a:cs typeface="Calibri"/>
              <a:sym typeface="Calibri"/>
            </a:endParaRPr>
          </a:p>
        </p:txBody>
      </p:sp>
      <p:sp>
        <p:nvSpPr>
          <p:cNvPr id="96" name="Google Shape;96;p4"/>
          <p:cNvSpPr/>
          <p:nvPr/>
        </p:nvSpPr>
        <p:spPr>
          <a:xfrm>
            <a:off x="793790" y="4026932"/>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878860" y="4069437"/>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lang="en-US" sz="2650">
                <a:solidFill>
                  <a:srgbClr val="504C49"/>
                </a:solidFill>
                <a:latin typeface="Platypi Medium"/>
                <a:ea typeface="Platypi Medium"/>
                <a:cs typeface="Platypi Medium"/>
                <a:sym typeface="Platypi Medium"/>
              </a:rPr>
              <a:t>1</a:t>
            </a:r>
            <a:endParaRPr sz="2650">
              <a:solidFill>
                <a:schemeClr val="dk1"/>
              </a:solidFill>
              <a:latin typeface="Calibri"/>
              <a:ea typeface="Calibri"/>
              <a:cs typeface="Calibri"/>
              <a:sym typeface="Calibri"/>
            </a:endParaRPr>
          </a:p>
        </p:txBody>
      </p:sp>
      <p:sp>
        <p:nvSpPr>
          <p:cNvPr id="98" name="Google Shape;98;p4"/>
          <p:cNvSpPr/>
          <p:nvPr/>
        </p:nvSpPr>
        <p:spPr>
          <a:xfrm>
            <a:off x="1530906" y="4026932"/>
            <a:ext cx="2835235" cy="354330"/>
          </a:xfrm>
          <a:prstGeom prst="rect">
            <a:avLst/>
          </a:prstGeom>
          <a:noFill/>
          <a:ln>
            <a:noFill/>
          </a:ln>
        </p:spPr>
        <p:txBody>
          <a:bodyPr anchorCtr="0" anchor="t" bIns="0" lIns="0" spcFirstLastPara="1" rIns="0" wrap="square" tIns="0">
            <a:noAutofit/>
          </a:bodyPr>
          <a:lstStyle/>
          <a:p>
            <a:pPr indent="0" lvl="0" marL="0" marR="0" rtl="0" algn="l">
              <a:lnSpc>
                <a:spcPct val="98214"/>
              </a:lnSpc>
              <a:spcBef>
                <a:spcPts val="0"/>
              </a:spcBef>
              <a:spcAft>
                <a:spcPts val="0"/>
              </a:spcAft>
              <a:buClr>
                <a:srgbClr val="504C49"/>
              </a:buClr>
              <a:buSzPts val="2800"/>
              <a:buFont typeface="Platypi Medium"/>
              <a:buNone/>
            </a:pPr>
            <a:r>
              <a:rPr lang="en-US" sz="2800">
                <a:solidFill>
                  <a:srgbClr val="504C49"/>
                </a:solidFill>
                <a:latin typeface="Platypi Medium"/>
                <a:ea typeface="Platypi Medium"/>
                <a:cs typeface="Platypi Medium"/>
                <a:sym typeface="Platypi Medium"/>
              </a:rPr>
              <a:t>Initialization</a:t>
            </a:r>
            <a:endParaRPr sz="2800">
              <a:solidFill>
                <a:schemeClr val="dk1"/>
              </a:solidFill>
              <a:latin typeface="Calibri"/>
              <a:ea typeface="Calibri"/>
              <a:cs typeface="Calibri"/>
              <a:sym typeface="Calibri"/>
            </a:endParaRPr>
          </a:p>
        </p:txBody>
      </p:sp>
      <p:sp>
        <p:nvSpPr>
          <p:cNvPr id="99" name="Google Shape;99;p4"/>
          <p:cNvSpPr/>
          <p:nvPr/>
        </p:nvSpPr>
        <p:spPr>
          <a:xfrm>
            <a:off x="1530906" y="4517350"/>
            <a:ext cx="6819305"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Given a new data point to classify</a:t>
            </a:r>
            <a:endParaRPr sz="2000">
              <a:solidFill>
                <a:schemeClr val="dk1"/>
              </a:solidFill>
              <a:latin typeface="Calibri"/>
              <a:ea typeface="Calibri"/>
              <a:cs typeface="Calibri"/>
              <a:sym typeface="Calibri"/>
            </a:endParaRPr>
          </a:p>
        </p:txBody>
      </p:sp>
      <p:sp>
        <p:nvSpPr>
          <p:cNvPr id="100" name="Google Shape;100;p4"/>
          <p:cNvSpPr/>
          <p:nvPr/>
        </p:nvSpPr>
        <p:spPr>
          <a:xfrm>
            <a:off x="793790" y="5362218"/>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878860" y="540472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lang="en-US" sz="2650">
                <a:solidFill>
                  <a:srgbClr val="504C49"/>
                </a:solidFill>
                <a:latin typeface="Platypi Medium"/>
                <a:ea typeface="Platypi Medium"/>
                <a:cs typeface="Platypi Medium"/>
                <a:sym typeface="Platypi Medium"/>
              </a:rPr>
              <a:t>2</a:t>
            </a:r>
            <a:endParaRPr sz="2650">
              <a:solidFill>
                <a:schemeClr val="dk1"/>
              </a:solidFill>
              <a:latin typeface="Calibri"/>
              <a:ea typeface="Calibri"/>
              <a:cs typeface="Calibri"/>
              <a:sym typeface="Calibri"/>
            </a:endParaRPr>
          </a:p>
        </p:txBody>
      </p:sp>
      <p:sp>
        <p:nvSpPr>
          <p:cNvPr id="102" name="Google Shape;102;p4"/>
          <p:cNvSpPr/>
          <p:nvPr/>
        </p:nvSpPr>
        <p:spPr>
          <a:xfrm>
            <a:off x="1530896" y="5362225"/>
            <a:ext cx="4509000" cy="354300"/>
          </a:xfrm>
          <a:prstGeom prst="rect">
            <a:avLst/>
          </a:prstGeom>
          <a:noFill/>
          <a:ln>
            <a:noFill/>
          </a:ln>
        </p:spPr>
        <p:txBody>
          <a:bodyPr anchorCtr="0" anchor="t" bIns="0" lIns="0" spcFirstLastPara="1" rIns="0" wrap="square" tIns="0">
            <a:noAutofit/>
          </a:bodyPr>
          <a:lstStyle/>
          <a:p>
            <a:pPr indent="0" lvl="0" marL="0" marR="0" rtl="0" algn="l">
              <a:lnSpc>
                <a:spcPct val="98214"/>
              </a:lnSpc>
              <a:spcBef>
                <a:spcPts val="0"/>
              </a:spcBef>
              <a:spcAft>
                <a:spcPts val="0"/>
              </a:spcAft>
              <a:buClr>
                <a:srgbClr val="504C49"/>
              </a:buClr>
              <a:buSzPts val="2800"/>
              <a:buFont typeface="Platypi Medium"/>
              <a:buNone/>
            </a:pPr>
            <a:r>
              <a:rPr lang="en-US" sz="2800">
                <a:solidFill>
                  <a:srgbClr val="504C49"/>
                </a:solidFill>
                <a:latin typeface="Platypi Medium"/>
                <a:ea typeface="Platypi Medium"/>
                <a:cs typeface="Platypi Medium"/>
                <a:sym typeface="Platypi Medium"/>
              </a:rPr>
              <a:t>Existing Classes</a:t>
            </a:r>
            <a:endParaRPr sz="2800">
              <a:solidFill>
                <a:schemeClr val="dk1"/>
              </a:solidFill>
              <a:latin typeface="Calibri"/>
              <a:ea typeface="Calibri"/>
              <a:cs typeface="Calibri"/>
              <a:sym typeface="Calibri"/>
            </a:endParaRPr>
          </a:p>
        </p:txBody>
      </p:sp>
      <p:sp>
        <p:nvSpPr>
          <p:cNvPr id="103" name="Google Shape;103;p4"/>
          <p:cNvSpPr/>
          <p:nvPr/>
        </p:nvSpPr>
        <p:spPr>
          <a:xfrm>
            <a:off x="1530906" y="5852636"/>
            <a:ext cx="6819305"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Three existing classes shown (Class 1, Class 2, Class 3)</a:t>
            </a:r>
            <a:endParaRPr sz="2000">
              <a:solidFill>
                <a:schemeClr val="dk1"/>
              </a:solidFill>
              <a:latin typeface="Calibri"/>
              <a:ea typeface="Calibri"/>
              <a:cs typeface="Calibri"/>
              <a:sym typeface="Calibri"/>
            </a:endParaRPr>
          </a:p>
        </p:txBody>
      </p:sp>
      <p:pic>
        <p:nvPicPr>
          <p:cNvPr id="104" name="Google Shape;104;p4"/>
          <p:cNvPicPr preferRelativeResize="0"/>
          <p:nvPr/>
        </p:nvPicPr>
        <p:blipFill rotWithShape="1">
          <a:blip r:embed="rId3">
            <a:alphaModFix/>
          </a:blip>
          <a:srcRect b="0" l="0" r="0" t="0"/>
          <a:stretch/>
        </p:blipFill>
        <p:spPr>
          <a:xfrm>
            <a:off x="8350211" y="2832395"/>
            <a:ext cx="5558870" cy="4516582"/>
          </a:xfrm>
          <a:prstGeom prst="rect">
            <a:avLst/>
          </a:prstGeom>
          <a:noFill/>
          <a:ln>
            <a:noFill/>
          </a:ln>
        </p:spPr>
      </p:pic>
      <p:pic>
        <p:nvPicPr>
          <p:cNvPr descr="preencoded.png" id="105" name="Google Shape;105;p4"/>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preencoded.png" id="111" name="Google Shape;111;p5"/>
          <p:cNvPicPr preferRelativeResize="0"/>
          <p:nvPr/>
        </p:nvPicPr>
        <p:blipFill rotWithShape="1">
          <a:blip r:embed="rId3">
            <a:alphaModFix/>
          </a:blip>
          <a:srcRect b="0" l="0" r="0" t="0"/>
          <a:stretch/>
        </p:blipFill>
        <p:spPr>
          <a:xfrm>
            <a:off x="226814" y="2004893"/>
            <a:ext cx="5032653" cy="4219813"/>
          </a:xfrm>
          <a:prstGeom prst="rect">
            <a:avLst/>
          </a:prstGeom>
          <a:noFill/>
          <a:ln>
            <a:noFill/>
          </a:ln>
        </p:spPr>
      </p:pic>
      <p:sp>
        <p:nvSpPr>
          <p:cNvPr id="112" name="Google Shape;112;p5"/>
          <p:cNvSpPr/>
          <p:nvPr/>
        </p:nvSpPr>
        <p:spPr>
          <a:xfrm>
            <a:off x="6280190" y="624721"/>
            <a:ext cx="6384131"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01B18"/>
              </a:buClr>
              <a:buSzPts val="3550"/>
              <a:buFont typeface="Platypi Medium"/>
              <a:buNone/>
            </a:pPr>
            <a:r>
              <a:rPr lang="en-US" sz="3550">
                <a:solidFill>
                  <a:srgbClr val="201B18"/>
                </a:solidFill>
                <a:latin typeface="Platypi Medium"/>
                <a:ea typeface="Platypi Medium"/>
                <a:cs typeface="Platypi Medium"/>
                <a:sym typeface="Platypi Medium"/>
              </a:rPr>
              <a:t>Distance Calculation (Step 2)</a:t>
            </a:r>
            <a:endParaRPr sz="3550">
              <a:solidFill>
                <a:schemeClr val="dk1"/>
              </a:solidFill>
              <a:latin typeface="Calibri"/>
              <a:ea typeface="Calibri"/>
              <a:cs typeface="Calibri"/>
              <a:sym typeface="Calibri"/>
            </a:endParaRPr>
          </a:p>
        </p:txBody>
      </p:sp>
      <p:sp>
        <p:nvSpPr>
          <p:cNvPr id="113" name="Google Shape;113;p5"/>
          <p:cNvSpPr/>
          <p:nvPr/>
        </p:nvSpPr>
        <p:spPr>
          <a:xfrm>
            <a:off x="6280190" y="1667947"/>
            <a:ext cx="408265" cy="408265"/>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6869906" y="1667947"/>
            <a:ext cx="4509968"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504C49"/>
              </a:buClr>
              <a:buSzPts val="1750"/>
              <a:buFont typeface="Platypi Medium"/>
              <a:buNone/>
            </a:pPr>
            <a:r>
              <a:rPr lang="en-US" sz="1750">
                <a:solidFill>
                  <a:srgbClr val="504C49"/>
                </a:solidFill>
                <a:latin typeface="Platypi Medium"/>
                <a:ea typeface="Platypi Medium"/>
                <a:cs typeface="Platypi Medium"/>
                <a:sym typeface="Platypi Medium"/>
              </a:rPr>
              <a:t>Key Step: Measure Distance to All Points</a:t>
            </a:r>
            <a:endParaRPr sz="1750">
              <a:solidFill>
                <a:schemeClr val="dk1"/>
              </a:solidFill>
              <a:latin typeface="Calibri"/>
              <a:ea typeface="Calibri"/>
              <a:cs typeface="Calibri"/>
              <a:sym typeface="Calibri"/>
            </a:endParaRPr>
          </a:p>
        </p:txBody>
      </p:sp>
      <p:sp>
        <p:nvSpPr>
          <p:cNvPr id="115" name="Google Shape;115;p5"/>
          <p:cNvSpPr/>
          <p:nvPr/>
        </p:nvSpPr>
        <p:spPr>
          <a:xfrm>
            <a:off x="6869906" y="2060258"/>
            <a:ext cx="6966704" cy="290274"/>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Two common distance metrics:</a:t>
            </a:r>
            <a:endParaRPr sz="2000">
              <a:solidFill>
                <a:schemeClr val="dk1"/>
              </a:solidFill>
              <a:latin typeface="Calibri"/>
              <a:ea typeface="Calibri"/>
              <a:cs typeface="Calibri"/>
              <a:sym typeface="Calibri"/>
            </a:endParaRPr>
          </a:p>
        </p:txBody>
      </p:sp>
      <p:sp>
        <p:nvSpPr>
          <p:cNvPr id="116" name="Google Shape;116;p5"/>
          <p:cNvSpPr/>
          <p:nvPr/>
        </p:nvSpPr>
        <p:spPr>
          <a:xfrm>
            <a:off x="6280190" y="2736056"/>
            <a:ext cx="408265" cy="408265"/>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6869906" y="2736056"/>
            <a:ext cx="2268260"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504C49"/>
              </a:buClr>
              <a:buSzPts val="1750"/>
              <a:buFont typeface="Platypi Medium"/>
              <a:buNone/>
            </a:pPr>
            <a:r>
              <a:rPr lang="en-US" sz="1750">
                <a:solidFill>
                  <a:srgbClr val="504C49"/>
                </a:solidFill>
                <a:latin typeface="Platypi Medium"/>
                <a:ea typeface="Platypi Medium"/>
                <a:cs typeface="Platypi Medium"/>
                <a:sym typeface="Platypi Medium"/>
              </a:rPr>
              <a:t>Euclidean Distance</a:t>
            </a:r>
            <a:endParaRPr sz="1750">
              <a:solidFill>
                <a:schemeClr val="dk1"/>
              </a:solidFill>
              <a:latin typeface="Calibri"/>
              <a:ea typeface="Calibri"/>
              <a:cs typeface="Calibri"/>
              <a:sym typeface="Calibri"/>
            </a:endParaRPr>
          </a:p>
        </p:txBody>
      </p:sp>
      <p:pic>
        <p:nvPicPr>
          <p:cNvPr descr="preencoded.png" id="118" name="Google Shape;118;p5"/>
          <p:cNvPicPr preferRelativeResize="0"/>
          <p:nvPr/>
        </p:nvPicPr>
        <p:blipFill rotWithShape="1">
          <a:blip r:embed="rId4">
            <a:alphaModFix/>
          </a:blip>
          <a:srcRect b="0" l="0" r="0" t="0"/>
          <a:stretch/>
        </p:blipFill>
        <p:spPr>
          <a:xfrm>
            <a:off x="8418076" y="3223617"/>
            <a:ext cx="3870365" cy="1378625"/>
          </a:xfrm>
          <a:prstGeom prst="rect">
            <a:avLst/>
          </a:prstGeom>
          <a:noFill/>
          <a:ln>
            <a:noFill/>
          </a:ln>
        </p:spPr>
      </p:pic>
      <p:sp>
        <p:nvSpPr>
          <p:cNvPr id="119" name="Google Shape;119;p5"/>
          <p:cNvSpPr/>
          <p:nvPr/>
        </p:nvSpPr>
        <p:spPr>
          <a:xfrm>
            <a:off x="6869906" y="4806315"/>
            <a:ext cx="6966704" cy="290274"/>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(Straight-line distance between points)</a:t>
            </a:r>
            <a:endParaRPr sz="2000">
              <a:solidFill>
                <a:schemeClr val="dk1"/>
              </a:solidFill>
              <a:latin typeface="Calibri"/>
              <a:ea typeface="Calibri"/>
              <a:cs typeface="Calibri"/>
              <a:sym typeface="Calibri"/>
            </a:endParaRPr>
          </a:p>
        </p:txBody>
      </p:sp>
      <p:sp>
        <p:nvSpPr>
          <p:cNvPr id="120" name="Google Shape;120;p5"/>
          <p:cNvSpPr/>
          <p:nvPr/>
        </p:nvSpPr>
        <p:spPr>
          <a:xfrm>
            <a:off x="6280190" y="5482114"/>
            <a:ext cx="408265" cy="408265"/>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6869906" y="5482114"/>
            <a:ext cx="2287905"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504C49"/>
              </a:buClr>
              <a:buSzPts val="1750"/>
              <a:buFont typeface="Platypi Medium"/>
              <a:buNone/>
            </a:pPr>
            <a:r>
              <a:rPr lang="en-US" sz="1750">
                <a:solidFill>
                  <a:srgbClr val="504C49"/>
                </a:solidFill>
                <a:latin typeface="Platypi Medium"/>
                <a:ea typeface="Platypi Medium"/>
                <a:cs typeface="Platypi Medium"/>
                <a:sym typeface="Platypi Medium"/>
              </a:rPr>
              <a:t>Manhattan Distance</a:t>
            </a:r>
            <a:endParaRPr sz="1750">
              <a:solidFill>
                <a:schemeClr val="dk1"/>
              </a:solidFill>
              <a:latin typeface="Calibri"/>
              <a:ea typeface="Calibri"/>
              <a:cs typeface="Calibri"/>
              <a:sym typeface="Calibri"/>
            </a:endParaRPr>
          </a:p>
        </p:txBody>
      </p:sp>
      <p:pic>
        <p:nvPicPr>
          <p:cNvPr descr="preencoded.png" id="122" name="Google Shape;122;p5"/>
          <p:cNvPicPr preferRelativeResize="0"/>
          <p:nvPr/>
        </p:nvPicPr>
        <p:blipFill rotWithShape="1">
          <a:blip r:embed="rId5">
            <a:alphaModFix/>
          </a:blip>
          <a:srcRect b="0" l="0" r="0" t="0"/>
          <a:stretch/>
        </p:blipFill>
        <p:spPr>
          <a:xfrm>
            <a:off x="8652034" y="5969675"/>
            <a:ext cx="3402330" cy="1140738"/>
          </a:xfrm>
          <a:prstGeom prst="rect">
            <a:avLst/>
          </a:prstGeom>
          <a:noFill/>
          <a:ln>
            <a:noFill/>
          </a:ln>
        </p:spPr>
      </p:pic>
      <p:sp>
        <p:nvSpPr>
          <p:cNvPr id="123" name="Google Shape;123;p5"/>
          <p:cNvSpPr/>
          <p:nvPr/>
        </p:nvSpPr>
        <p:spPr>
          <a:xfrm>
            <a:off x="6869906" y="7314486"/>
            <a:ext cx="6966704" cy="290274"/>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(Sum of absolute differences)</a:t>
            </a:r>
            <a:endParaRPr sz="2000">
              <a:solidFill>
                <a:schemeClr val="dk1"/>
              </a:solidFill>
              <a:latin typeface="Calibri"/>
              <a:ea typeface="Calibri"/>
              <a:cs typeface="Calibri"/>
              <a:sym typeface="Calibri"/>
            </a:endParaRPr>
          </a:p>
        </p:txBody>
      </p:sp>
      <p:pic>
        <p:nvPicPr>
          <p:cNvPr descr="preencoded.png" id="124" name="Google Shape;124;p5"/>
          <p:cNvPicPr preferRelativeResize="0"/>
          <p:nvPr/>
        </p:nvPicPr>
        <p:blipFill rotWithShape="1">
          <a:blip r:embed="rId6">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p:nvPr/>
        </p:nvSpPr>
        <p:spPr>
          <a:xfrm>
            <a:off x="793790" y="920829"/>
            <a:ext cx="12508230"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01B18"/>
              </a:buClr>
              <a:buSzPts val="3550"/>
              <a:buFont typeface="Platypi Medium"/>
              <a:buNone/>
            </a:pPr>
            <a:r>
              <a:rPr lang="en-US" sz="3550">
                <a:solidFill>
                  <a:srgbClr val="201B18"/>
                </a:solidFill>
                <a:latin typeface="Platypi Medium"/>
                <a:ea typeface="Platypi Medium"/>
                <a:cs typeface="Platypi Medium"/>
                <a:sym typeface="Platypi Medium"/>
              </a:rPr>
              <a:t>Euclidean Vs Manhattan Distance Visual Representation</a:t>
            </a:r>
            <a:endParaRPr sz="3550">
              <a:solidFill>
                <a:schemeClr val="dk1"/>
              </a:solidFill>
              <a:latin typeface="Calibri"/>
              <a:ea typeface="Calibri"/>
              <a:cs typeface="Calibri"/>
              <a:sym typeface="Calibri"/>
            </a:endParaRPr>
          </a:p>
        </p:txBody>
      </p:sp>
      <p:pic>
        <p:nvPicPr>
          <p:cNvPr descr="preencoded.png" id="131" name="Google Shape;131;p6"/>
          <p:cNvPicPr preferRelativeResize="0"/>
          <p:nvPr/>
        </p:nvPicPr>
        <p:blipFill rotWithShape="1">
          <a:blip r:embed="rId3">
            <a:alphaModFix/>
          </a:blip>
          <a:srcRect b="0" l="0" r="0" t="0"/>
          <a:stretch/>
        </p:blipFill>
        <p:spPr>
          <a:xfrm>
            <a:off x="301175" y="1941425"/>
            <a:ext cx="13943923" cy="5367226"/>
          </a:xfrm>
          <a:prstGeom prst="rect">
            <a:avLst/>
          </a:prstGeom>
          <a:noFill/>
          <a:ln>
            <a:noFill/>
          </a:ln>
        </p:spPr>
      </p:pic>
      <p:pic>
        <p:nvPicPr>
          <p:cNvPr descr="preencoded.png" id="132" name="Google Shape;132;p6"/>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reencoded.png" id="138" name="Google Shape;138;p7"/>
          <p:cNvPicPr preferRelativeResize="0"/>
          <p:nvPr/>
        </p:nvPicPr>
        <p:blipFill rotWithShape="1">
          <a:blip r:embed="rId3">
            <a:alphaModFix/>
          </a:blip>
          <a:srcRect b="0" l="0" r="0" t="0"/>
          <a:stretch/>
        </p:blipFill>
        <p:spPr>
          <a:xfrm>
            <a:off x="9427488" y="1847255"/>
            <a:ext cx="4919305" cy="4534972"/>
          </a:xfrm>
          <a:prstGeom prst="rect">
            <a:avLst/>
          </a:prstGeom>
          <a:noFill/>
          <a:ln>
            <a:noFill/>
          </a:ln>
        </p:spPr>
      </p:pic>
      <p:sp>
        <p:nvSpPr>
          <p:cNvPr id="139" name="Google Shape;139;p7"/>
          <p:cNvSpPr/>
          <p:nvPr/>
        </p:nvSpPr>
        <p:spPr>
          <a:xfrm>
            <a:off x="793790" y="1549003"/>
            <a:ext cx="732936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Sorting Neighbors (Step 3)</a:t>
            </a:r>
            <a:endParaRPr sz="4450">
              <a:solidFill>
                <a:schemeClr val="dk1"/>
              </a:solidFill>
              <a:latin typeface="Calibri"/>
              <a:ea typeface="Calibri"/>
              <a:cs typeface="Calibri"/>
              <a:sym typeface="Calibri"/>
            </a:endParaRPr>
          </a:p>
        </p:txBody>
      </p:sp>
      <p:pic>
        <p:nvPicPr>
          <p:cNvPr descr="preencoded.png" id="140" name="Google Shape;140;p7"/>
          <p:cNvPicPr preferRelativeResize="0"/>
          <p:nvPr/>
        </p:nvPicPr>
        <p:blipFill rotWithShape="1">
          <a:blip r:embed="rId4">
            <a:alphaModFix/>
          </a:blip>
          <a:srcRect b="0" l="0" r="0" t="0"/>
          <a:stretch/>
        </p:blipFill>
        <p:spPr>
          <a:xfrm>
            <a:off x="793790" y="2597944"/>
            <a:ext cx="1134070" cy="1360884"/>
          </a:xfrm>
          <a:prstGeom prst="rect">
            <a:avLst/>
          </a:prstGeom>
          <a:noFill/>
          <a:ln>
            <a:noFill/>
          </a:ln>
        </p:spPr>
      </p:pic>
      <p:sp>
        <p:nvSpPr>
          <p:cNvPr id="141" name="Google Shape;141;p7"/>
          <p:cNvSpPr/>
          <p:nvPr/>
        </p:nvSpPr>
        <p:spPr>
          <a:xfrm>
            <a:off x="2268022" y="2824758"/>
            <a:ext cx="373284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Sort All Points by Distance</a:t>
            </a:r>
            <a:endParaRPr sz="2200">
              <a:solidFill>
                <a:schemeClr val="dk1"/>
              </a:solidFill>
              <a:latin typeface="Calibri"/>
              <a:ea typeface="Calibri"/>
              <a:cs typeface="Calibri"/>
              <a:sym typeface="Calibri"/>
            </a:endParaRPr>
          </a:p>
        </p:txBody>
      </p:sp>
      <p:sp>
        <p:nvSpPr>
          <p:cNvPr id="142" name="Google Shape;142;p7"/>
          <p:cNvSpPr/>
          <p:nvPr/>
        </p:nvSpPr>
        <p:spPr>
          <a:xfrm>
            <a:off x="2268022" y="3315176"/>
            <a:ext cx="6082189"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Create ordered list from nearest to farthest</a:t>
            </a:r>
            <a:endParaRPr sz="2000">
              <a:solidFill>
                <a:schemeClr val="dk1"/>
              </a:solidFill>
              <a:latin typeface="Calibri"/>
              <a:ea typeface="Calibri"/>
              <a:cs typeface="Calibri"/>
              <a:sym typeface="Calibri"/>
            </a:endParaRPr>
          </a:p>
        </p:txBody>
      </p:sp>
      <p:pic>
        <p:nvPicPr>
          <p:cNvPr descr="preencoded.png" id="143" name="Google Shape;143;p7"/>
          <p:cNvPicPr preferRelativeResize="0"/>
          <p:nvPr/>
        </p:nvPicPr>
        <p:blipFill rotWithShape="1">
          <a:blip r:embed="rId5">
            <a:alphaModFix/>
          </a:blip>
          <a:srcRect b="0" l="0" r="0" t="0"/>
          <a:stretch/>
        </p:blipFill>
        <p:spPr>
          <a:xfrm>
            <a:off x="793790" y="3958828"/>
            <a:ext cx="1134070" cy="1360884"/>
          </a:xfrm>
          <a:prstGeom prst="rect">
            <a:avLst/>
          </a:prstGeom>
          <a:noFill/>
          <a:ln>
            <a:noFill/>
          </a:ln>
        </p:spPr>
      </p:pic>
      <p:sp>
        <p:nvSpPr>
          <p:cNvPr id="144" name="Google Shape;144;p7"/>
          <p:cNvSpPr/>
          <p:nvPr/>
        </p:nvSpPr>
        <p:spPr>
          <a:xfrm>
            <a:off x="2268022" y="418564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Example distances</a:t>
            </a:r>
            <a:endParaRPr sz="2200">
              <a:solidFill>
                <a:schemeClr val="dk1"/>
              </a:solidFill>
              <a:latin typeface="Calibri"/>
              <a:ea typeface="Calibri"/>
              <a:cs typeface="Calibri"/>
              <a:sym typeface="Calibri"/>
            </a:endParaRPr>
          </a:p>
        </p:txBody>
      </p:sp>
      <p:sp>
        <p:nvSpPr>
          <p:cNvPr id="145" name="Google Shape;145;p7"/>
          <p:cNvSpPr/>
          <p:nvPr/>
        </p:nvSpPr>
        <p:spPr>
          <a:xfrm>
            <a:off x="2268022" y="4676061"/>
            <a:ext cx="6082189"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d4, d1, d5, d3, d8, etc.</a:t>
            </a:r>
            <a:endParaRPr sz="2000">
              <a:solidFill>
                <a:schemeClr val="dk1"/>
              </a:solidFill>
              <a:latin typeface="Calibri"/>
              <a:ea typeface="Calibri"/>
              <a:cs typeface="Calibri"/>
              <a:sym typeface="Calibri"/>
            </a:endParaRPr>
          </a:p>
        </p:txBody>
      </p:sp>
      <p:pic>
        <p:nvPicPr>
          <p:cNvPr descr="preencoded.png" id="146" name="Google Shape;146;p7"/>
          <p:cNvPicPr preferRelativeResize="0"/>
          <p:nvPr/>
        </p:nvPicPr>
        <p:blipFill rotWithShape="1">
          <a:blip r:embed="rId6">
            <a:alphaModFix/>
          </a:blip>
          <a:srcRect b="0" l="0" r="0" t="0"/>
          <a:stretch/>
        </p:blipFill>
        <p:spPr>
          <a:xfrm>
            <a:off x="793790" y="5319713"/>
            <a:ext cx="1134070" cy="1360884"/>
          </a:xfrm>
          <a:prstGeom prst="rect">
            <a:avLst/>
          </a:prstGeom>
          <a:noFill/>
          <a:ln>
            <a:noFill/>
          </a:ln>
        </p:spPr>
      </p:pic>
      <p:sp>
        <p:nvSpPr>
          <p:cNvPr id="147" name="Google Shape;147;p7"/>
          <p:cNvSpPr/>
          <p:nvPr/>
        </p:nvSpPr>
        <p:spPr>
          <a:xfrm>
            <a:off x="2268022" y="5546527"/>
            <a:ext cx="315134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Select top K neighbors</a:t>
            </a:r>
            <a:endParaRPr sz="2200">
              <a:solidFill>
                <a:schemeClr val="dk1"/>
              </a:solidFill>
              <a:latin typeface="Calibri"/>
              <a:ea typeface="Calibri"/>
              <a:cs typeface="Calibri"/>
              <a:sym typeface="Calibri"/>
            </a:endParaRPr>
          </a:p>
        </p:txBody>
      </p:sp>
      <p:sp>
        <p:nvSpPr>
          <p:cNvPr id="148" name="Google Shape;148;p7"/>
          <p:cNvSpPr/>
          <p:nvPr/>
        </p:nvSpPr>
        <p:spPr>
          <a:xfrm>
            <a:off x="2268022" y="6036945"/>
            <a:ext cx="6082189"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From this sorted list</a:t>
            </a:r>
            <a:endParaRPr sz="2000">
              <a:solidFill>
                <a:schemeClr val="dk1"/>
              </a:solidFill>
              <a:latin typeface="Calibri"/>
              <a:ea typeface="Calibri"/>
              <a:cs typeface="Calibri"/>
              <a:sym typeface="Calibri"/>
            </a:endParaRPr>
          </a:p>
        </p:txBody>
      </p:sp>
      <p:pic>
        <p:nvPicPr>
          <p:cNvPr descr="preencoded.png" id="149" name="Google Shape;149;p7"/>
          <p:cNvPicPr preferRelativeResize="0"/>
          <p:nvPr/>
        </p:nvPicPr>
        <p:blipFill rotWithShape="1">
          <a:blip r:embed="rId7">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p:nvPr/>
        </p:nvSpPr>
        <p:spPr>
          <a:xfrm>
            <a:off x="793790" y="649962"/>
            <a:ext cx="4326969" cy="460772"/>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201B18"/>
              </a:buClr>
              <a:buSzPts val="2900"/>
              <a:buFont typeface="Platypi Medium"/>
              <a:buNone/>
            </a:pPr>
            <a:r>
              <a:rPr lang="en-US" sz="2900">
                <a:solidFill>
                  <a:srgbClr val="201B18"/>
                </a:solidFill>
                <a:latin typeface="Platypi Medium"/>
                <a:ea typeface="Platypi Medium"/>
                <a:cs typeface="Platypi Medium"/>
                <a:sym typeface="Platypi Medium"/>
              </a:rPr>
              <a:t>Classification with KNN</a:t>
            </a:r>
            <a:endParaRPr sz="2900">
              <a:solidFill>
                <a:schemeClr val="dk1"/>
              </a:solidFill>
              <a:latin typeface="Calibri"/>
              <a:ea typeface="Calibri"/>
              <a:cs typeface="Calibri"/>
              <a:sym typeface="Calibri"/>
            </a:endParaRPr>
          </a:p>
        </p:txBody>
      </p:sp>
      <p:sp>
        <p:nvSpPr>
          <p:cNvPr id="156" name="Google Shape;156;p8"/>
          <p:cNvSpPr/>
          <p:nvPr/>
        </p:nvSpPr>
        <p:spPr>
          <a:xfrm>
            <a:off x="793790" y="1497687"/>
            <a:ext cx="331708" cy="331708"/>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1272901" y="1497675"/>
            <a:ext cx="3770100" cy="23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04C49"/>
              </a:buClr>
              <a:buSzPts val="1800"/>
              <a:buFont typeface="Platypi Medium"/>
              <a:buNone/>
            </a:pPr>
            <a:r>
              <a:rPr lang="en-US" sz="1800">
                <a:solidFill>
                  <a:srgbClr val="504C49"/>
                </a:solidFill>
                <a:latin typeface="Platypi Medium"/>
                <a:ea typeface="Platypi Medium"/>
                <a:cs typeface="Platypi Medium"/>
                <a:sym typeface="Platypi Medium"/>
              </a:rPr>
              <a:t>Majority Vote Among Neighbors</a:t>
            </a:r>
            <a:endParaRPr sz="1800">
              <a:solidFill>
                <a:schemeClr val="dk1"/>
              </a:solidFill>
              <a:latin typeface="Calibri"/>
              <a:ea typeface="Calibri"/>
              <a:cs typeface="Calibri"/>
              <a:sym typeface="Calibri"/>
            </a:endParaRPr>
          </a:p>
        </p:txBody>
      </p:sp>
      <p:sp>
        <p:nvSpPr>
          <p:cNvPr id="158" name="Google Shape;158;p8"/>
          <p:cNvSpPr/>
          <p:nvPr/>
        </p:nvSpPr>
        <p:spPr>
          <a:xfrm>
            <a:off x="1272898" y="1816418"/>
            <a:ext cx="3291126" cy="64817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For k=7: Count class labels of 7</a:t>
            </a:r>
            <a:endParaRPr/>
          </a:p>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 nearest neighbors</a:t>
            </a:r>
            <a:endParaRPr sz="1800">
              <a:solidFill>
                <a:schemeClr val="dk1"/>
              </a:solidFill>
              <a:latin typeface="Calibri"/>
              <a:ea typeface="Calibri"/>
              <a:cs typeface="Calibri"/>
              <a:sym typeface="Calibri"/>
            </a:endParaRPr>
          </a:p>
        </p:txBody>
      </p:sp>
      <p:sp>
        <p:nvSpPr>
          <p:cNvPr id="159" name="Google Shape;159;p8"/>
          <p:cNvSpPr/>
          <p:nvPr/>
        </p:nvSpPr>
        <p:spPr>
          <a:xfrm>
            <a:off x="5190530" y="1497687"/>
            <a:ext cx="331708" cy="331708"/>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5669621" y="1497675"/>
            <a:ext cx="3706500" cy="23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04C49"/>
              </a:buClr>
              <a:buSzPts val="1800"/>
              <a:buFont typeface="Platypi Medium"/>
              <a:buNone/>
            </a:pPr>
            <a:r>
              <a:rPr lang="en-US" sz="1800">
                <a:solidFill>
                  <a:srgbClr val="504C49"/>
                </a:solidFill>
                <a:latin typeface="Platypi Medium"/>
                <a:ea typeface="Platypi Medium"/>
                <a:cs typeface="Platypi Medium"/>
                <a:sym typeface="Platypi Medium"/>
              </a:rPr>
              <a:t>Assign the most frequent class</a:t>
            </a:r>
            <a:endParaRPr sz="1800">
              <a:solidFill>
                <a:schemeClr val="dk1"/>
              </a:solidFill>
              <a:latin typeface="Calibri"/>
              <a:ea typeface="Calibri"/>
              <a:cs typeface="Calibri"/>
              <a:sym typeface="Calibri"/>
            </a:endParaRPr>
          </a:p>
        </p:txBody>
      </p:sp>
      <p:sp>
        <p:nvSpPr>
          <p:cNvPr id="161" name="Google Shape;161;p8"/>
          <p:cNvSpPr/>
          <p:nvPr/>
        </p:nvSpPr>
        <p:spPr>
          <a:xfrm>
            <a:off x="5669637" y="1816418"/>
            <a:ext cx="3770233" cy="23574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e.g., 3 votes for Class A,</a:t>
            </a:r>
            <a:endParaRPr sz="1800">
              <a:solidFill>
                <a:schemeClr val="dk1"/>
              </a:solidFill>
              <a:latin typeface="Calibri"/>
              <a:ea typeface="Calibri"/>
              <a:cs typeface="Calibri"/>
              <a:sym typeface="Calibri"/>
            </a:endParaRPr>
          </a:p>
        </p:txBody>
      </p:sp>
      <p:sp>
        <p:nvSpPr>
          <p:cNvPr id="162" name="Google Shape;162;p8"/>
          <p:cNvSpPr/>
          <p:nvPr/>
        </p:nvSpPr>
        <p:spPr>
          <a:xfrm>
            <a:off x="5669637" y="2140506"/>
            <a:ext cx="3770233" cy="23574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 4 for Class B and </a:t>
            </a:r>
            <a:endParaRPr sz="1800">
              <a:solidFill>
                <a:schemeClr val="dk1"/>
              </a:solidFill>
              <a:latin typeface="Calibri"/>
              <a:ea typeface="Calibri"/>
              <a:cs typeface="Calibri"/>
              <a:sym typeface="Calibri"/>
            </a:endParaRPr>
          </a:p>
        </p:txBody>
      </p:sp>
      <p:sp>
        <p:nvSpPr>
          <p:cNvPr id="163" name="Google Shape;163;p8"/>
          <p:cNvSpPr/>
          <p:nvPr/>
        </p:nvSpPr>
        <p:spPr>
          <a:xfrm>
            <a:off x="5669637" y="2464594"/>
            <a:ext cx="3770233" cy="23574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0 for Class C</a:t>
            </a:r>
            <a:endParaRPr sz="1800">
              <a:solidFill>
                <a:schemeClr val="dk1"/>
              </a:solidFill>
              <a:latin typeface="Calibri"/>
              <a:ea typeface="Calibri"/>
              <a:cs typeface="Calibri"/>
              <a:sym typeface="Calibri"/>
            </a:endParaRPr>
          </a:p>
        </p:txBody>
      </p:sp>
      <p:sp>
        <p:nvSpPr>
          <p:cNvPr id="164" name="Google Shape;164;p8"/>
          <p:cNvSpPr/>
          <p:nvPr/>
        </p:nvSpPr>
        <p:spPr>
          <a:xfrm>
            <a:off x="9587270" y="1497687"/>
            <a:ext cx="331708" cy="331708"/>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0066377" y="1497687"/>
            <a:ext cx="1842968" cy="2303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04C49"/>
              </a:buClr>
              <a:buSzPts val="1800"/>
              <a:buFont typeface="Platypi Medium"/>
              <a:buNone/>
            </a:pPr>
            <a:r>
              <a:rPr lang="en-US" sz="1800">
                <a:solidFill>
                  <a:srgbClr val="504C49"/>
                </a:solidFill>
                <a:latin typeface="Platypi Medium"/>
                <a:ea typeface="Platypi Medium"/>
                <a:cs typeface="Platypi Medium"/>
                <a:sym typeface="Platypi Medium"/>
              </a:rPr>
              <a:t>Example</a:t>
            </a:r>
            <a:endParaRPr sz="1800">
              <a:solidFill>
                <a:schemeClr val="dk1"/>
              </a:solidFill>
              <a:latin typeface="Calibri"/>
              <a:ea typeface="Calibri"/>
              <a:cs typeface="Calibri"/>
              <a:sym typeface="Calibri"/>
            </a:endParaRPr>
          </a:p>
        </p:txBody>
      </p:sp>
      <p:sp>
        <p:nvSpPr>
          <p:cNvPr id="166" name="Google Shape;166;p8"/>
          <p:cNvSpPr/>
          <p:nvPr/>
        </p:nvSpPr>
        <p:spPr>
          <a:xfrm>
            <a:off x="10066377" y="1816418"/>
            <a:ext cx="3770233" cy="23574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3 (Class 1) | 4 (Class 2) | 0 (Class 3)</a:t>
            </a:r>
            <a:endParaRPr/>
          </a:p>
          <a:p>
            <a:pPr indent="0" lvl="0" marL="0" marR="0" rtl="0" algn="l">
              <a:lnSpc>
                <a:spcPct val="150000"/>
              </a:lnSpc>
              <a:spcBef>
                <a:spcPts val="0"/>
              </a:spcBef>
              <a:spcAft>
                <a:spcPts val="0"/>
              </a:spcAft>
              <a:buClr>
                <a:srgbClr val="504C49"/>
              </a:buClr>
              <a:buSzPts val="1800"/>
              <a:buFont typeface="Arial"/>
              <a:buNone/>
            </a:pPr>
            <a:r>
              <a:rPr lang="en-US" sz="1800">
                <a:solidFill>
                  <a:srgbClr val="504C49"/>
                </a:solidFill>
                <a:latin typeface="Arial"/>
                <a:ea typeface="Arial"/>
                <a:cs typeface="Arial"/>
                <a:sym typeface="Arial"/>
              </a:rPr>
              <a:t> → Predicted: Class 2</a:t>
            </a:r>
            <a:endParaRPr sz="1800">
              <a:solidFill>
                <a:schemeClr val="dk1"/>
              </a:solidFill>
              <a:latin typeface="Calibri"/>
              <a:ea typeface="Calibri"/>
              <a:cs typeface="Calibri"/>
              <a:sym typeface="Calibri"/>
            </a:endParaRPr>
          </a:p>
        </p:txBody>
      </p:sp>
      <p:pic>
        <p:nvPicPr>
          <p:cNvPr descr="preencoded.png" id="167" name="Google Shape;167;p8"/>
          <p:cNvPicPr preferRelativeResize="0"/>
          <p:nvPr/>
        </p:nvPicPr>
        <p:blipFill rotWithShape="1">
          <a:blip r:embed="rId3">
            <a:alphaModFix/>
          </a:blip>
          <a:srcRect b="0" l="0" r="0" t="0"/>
          <a:stretch/>
        </p:blipFill>
        <p:spPr>
          <a:xfrm>
            <a:off x="3076337" y="3442931"/>
            <a:ext cx="8477726" cy="4311729"/>
          </a:xfrm>
          <a:prstGeom prst="rect">
            <a:avLst/>
          </a:prstGeom>
          <a:noFill/>
          <a:ln>
            <a:noFill/>
          </a:ln>
        </p:spPr>
      </p:pic>
      <p:sp>
        <p:nvSpPr>
          <p:cNvPr id="168" name="Google Shape;168;p8"/>
          <p:cNvSpPr/>
          <p:nvPr/>
        </p:nvSpPr>
        <p:spPr>
          <a:xfrm>
            <a:off x="793790" y="7343775"/>
            <a:ext cx="13042821" cy="23574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pic>
        <p:nvPicPr>
          <p:cNvPr descr="preencoded.png" id="169" name="Google Shape;169;p8"/>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p:nvPr/>
        </p:nvSpPr>
        <p:spPr>
          <a:xfrm>
            <a:off x="788670" y="619720"/>
            <a:ext cx="4225528" cy="528161"/>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201B18"/>
              </a:buClr>
              <a:buSzPts val="3300"/>
              <a:buFont typeface="Platypi Medium"/>
              <a:buNone/>
            </a:pPr>
            <a:r>
              <a:rPr lang="en-US" sz="3300">
                <a:solidFill>
                  <a:srgbClr val="201B18"/>
                </a:solidFill>
                <a:latin typeface="Platypi Medium"/>
                <a:ea typeface="Platypi Medium"/>
                <a:cs typeface="Platypi Medium"/>
                <a:sym typeface="Platypi Medium"/>
              </a:rPr>
              <a:t>Choosing K Value</a:t>
            </a:r>
            <a:endParaRPr sz="3300">
              <a:solidFill>
                <a:schemeClr val="dk1"/>
              </a:solidFill>
              <a:latin typeface="Calibri"/>
              <a:ea typeface="Calibri"/>
              <a:cs typeface="Calibri"/>
              <a:sym typeface="Calibri"/>
            </a:endParaRPr>
          </a:p>
        </p:txBody>
      </p:sp>
      <p:sp>
        <p:nvSpPr>
          <p:cNvPr id="176" name="Google Shape;176;p9"/>
          <p:cNvSpPr/>
          <p:nvPr/>
        </p:nvSpPr>
        <p:spPr>
          <a:xfrm>
            <a:off x="788670" y="1485900"/>
            <a:ext cx="13053060" cy="27051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504C49"/>
              </a:buClr>
              <a:buSzPts val="1600"/>
              <a:buFont typeface="Arial"/>
              <a:buNone/>
            </a:pPr>
            <a:r>
              <a:rPr lang="en-US" sz="1600">
                <a:solidFill>
                  <a:srgbClr val="504C49"/>
                </a:solidFill>
                <a:latin typeface="Arial"/>
                <a:ea typeface="Arial"/>
                <a:cs typeface="Arial"/>
                <a:sym typeface="Arial"/>
              </a:rPr>
              <a:t>Critical Hyperparameter: K represents the number of nearest neighbors considered for prediction.</a:t>
            </a:r>
            <a:endParaRPr sz="1600">
              <a:solidFill>
                <a:schemeClr val="dk1"/>
              </a:solidFill>
              <a:latin typeface="Calibri"/>
              <a:ea typeface="Calibri"/>
              <a:cs typeface="Calibri"/>
              <a:sym typeface="Calibri"/>
            </a:endParaRPr>
          </a:p>
        </p:txBody>
      </p:sp>
      <p:sp>
        <p:nvSpPr>
          <p:cNvPr id="177" name="Google Shape;177;p9"/>
          <p:cNvSpPr/>
          <p:nvPr/>
        </p:nvSpPr>
        <p:spPr>
          <a:xfrm>
            <a:off x="788670" y="2136696"/>
            <a:ext cx="380286" cy="38028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1337898" y="2136700"/>
            <a:ext cx="3090300" cy="264000"/>
          </a:xfrm>
          <a:prstGeom prst="rect">
            <a:avLst/>
          </a:prstGeom>
          <a:noFill/>
          <a:ln>
            <a:noFill/>
          </a:ln>
        </p:spPr>
        <p:txBody>
          <a:bodyPr anchorCtr="0" anchor="t" bIns="0" lIns="0" spcFirstLastPara="1" rIns="0" wrap="square" tIns="0">
            <a:noAutofit/>
          </a:bodyPr>
          <a:lstStyle/>
          <a:p>
            <a:pPr indent="0" lvl="0" marL="0" marR="0" rtl="0" algn="l">
              <a:lnSpc>
                <a:spcPct val="102500"/>
              </a:lnSpc>
              <a:spcBef>
                <a:spcPts val="0"/>
              </a:spcBef>
              <a:spcAft>
                <a:spcPts val="0"/>
              </a:spcAft>
              <a:buClr>
                <a:srgbClr val="504C49"/>
              </a:buClr>
              <a:buSzPts val="2000"/>
              <a:buFont typeface="Platypi Medium"/>
              <a:buNone/>
            </a:pPr>
            <a:r>
              <a:rPr lang="en-US" sz="2000">
                <a:solidFill>
                  <a:srgbClr val="504C49"/>
                </a:solidFill>
                <a:latin typeface="Platypi Medium"/>
                <a:ea typeface="Platypi Medium"/>
                <a:cs typeface="Platypi Medium"/>
                <a:sym typeface="Platypi Medium"/>
              </a:rPr>
              <a:t>Small K (e.g., k=3)</a:t>
            </a:r>
            <a:endParaRPr sz="2000">
              <a:solidFill>
                <a:schemeClr val="dk1"/>
              </a:solidFill>
              <a:latin typeface="Calibri"/>
              <a:ea typeface="Calibri"/>
              <a:cs typeface="Calibri"/>
              <a:sym typeface="Calibri"/>
            </a:endParaRPr>
          </a:p>
        </p:txBody>
      </p:sp>
      <p:sp>
        <p:nvSpPr>
          <p:cNvPr id="179" name="Google Shape;179;p9"/>
          <p:cNvSpPr/>
          <p:nvPr/>
        </p:nvSpPr>
        <p:spPr>
          <a:xfrm>
            <a:off x="1337905" y="2502098"/>
            <a:ext cx="3689152" cy="5410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Low bias, high variance, Risk of  Overfitting  (noisy decision boundaries)</a:t>
            </a:r>
            <a:endParaRPr sz="2000">
              <a:solidFill>
                <a:schemeClr val="dk1"/>
              </a:solidFill>
              <a:latin typeface="Calibri"/>
              <a:ea typeface="Calibri"/>
              <a:cs typeface="Calibri"/>
              <a:sym typeface="Calibri"/>
            </a:endParaRPr>
          </a:p>
        </p:txBody>
      </p:sp>
      <p:sp>
        <p:nvSpPr>
          <p:cNvPr id="180" name="Google Shape;180;p9"/>
          <p:cNvSpPr/>
          <p:nvPr/>
        </p:nvSpPr>
        <p:spPr>
          <a:xfrm>
            <a:off x="5196007" y="2136696"/>
            <a:ext cx="380286" cy="38028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745252" y="2136700"/>
            <a:ext cx="2761200" cy="264000"/>
          </a:xfrm>
          <a:prstGeom prst="rect">
            <a:avLst/>
          </a:prstGeom>
          <a:noFill/>
          <a:ln>
            <a:noFill/>
          </a:ln>
        </p:spPr>
        <p:txBody>
          <a:bodyPr anchorCtr="0" anchor="t" bIns="0" lIns="0" spcFirstLastPara="1" rIns="0" wrap="square" tIns="0">
            <a:noAutofit/>
          </a:bodyPr>
          <a:lstStyle/>
          <a:p>
            <a:pPr indent="0" lvl="0" marL="0" marR="0" rtl="0" algn="l">
              <a:lnSpc>
                <a:spcPct val="102500"/>
              </a:lnSpc>
              <a:spcBef>
                <a:spcPts val="0"/>
              </a:spcBef>
              <a:spcAft>
                <a:spcPts val="0"/>
              </a:spcAft>
              <a:buClr>
                <a:srgbClr val="504C49"/>
              </a:buClr>
              <a:buSzPts val="2000"/>
              <a:buFont typeface="Platypi Medium"/>
              <a:buNone/>
            </a:pPr>
            <a:r>
              <a:rPr lang="en-US" sz="2000">
                <a:solidFill>
                  <a:srgbClr val="504C49"/>
                </a:solidFill>
                <a:latin typeface="Platypi Medium"/>
                <a:ea typeface="Platypi Medium"/>
                <a:cs typeface="Platypi Medium"/>
                <a:sym typeface="Platypi Medium"/>
              </a:rPr>
              <a:t>Large K (e.g., k=15)</a:t>
            </a:r>
            <a:endParaRPr sz="2000">
              <a:solidFill>
                <a:schemeClr val="dk1"/>
              </a:solidFill>
              <a:latin typeface="Calibri"/>
              <a:ea typeface="Calibri"/>
              <a:cs typeface="Calibri"/>
              <a:sym typeface="Calibri"/>
            </a:endParaRPr>
          </a:p>
        </p:txBody>
      </p:sp>
      <p:sp>
        <p:nvSpPr>
          <p:cNvPr id="182" name="Google Shape;182;p9"/>
          <p:cNvSpPr/>
          <p:nvPr/>
        </p:nvSpPr>
        <p:spPr>
          <a:xfrm>
            <a:off x="5745242" y="2502098"/>
            <a:ext cx="3689152" cy="5410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High bias, low variance, Risk of  Underfitting  (oversimplified model)</a:t>
            </a:r>
            <a:endParaRPr sz="2000">
              <a:solidFill>
                <a:schemeClr val="dk1"/>
              </a:solidFill>
              <a:latin typeface="Calibri"/>
              <a:ea typeface="Calibri"/>
              <a:cs typeface="Calibri"/>
              <a:sym typeface="Calibri"/>
            </a:endParaRPr>
          </a:p>
        </p:txBody>
      </p:sp>
      <p:sp>
        <p:nvSpPr>
          <p:cNvPr id="183" name="Google Shape;183;p9"/>
          <p:cNvSpPr/>
          <p:nvPr/>
        </p:nvSpPr>
        <p:spPr>
          <a:xfrm>
            <a:off x="9603343" y="2136696"/>
            <a:ext cx="380286" cy="38028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10152578" y="2136696"/>
            <a:ext cx="3689152" cy="528161"/>
          </a:xfrm>
          <a:prstGeom prst="rect">
            <a:avLst/>
          </a:prstGeom>
          <a:noFill/>
          <a:ln>
            <a:noFill/>
          </a:ln>
        </p:spPr>
        <p:txBody>
          <a:bodyPr anchorCtr="0" anchor="t" bIns="0" lIns="0" spcFirstLastPara="1" rIns="0" wrap="square" tIns="0">
            <a:noAutofit/>
          </a:bodyPr>
          <a:lstStyle/>
          <a:p>
            <a:pPr indent="0" lvl="0" marL="0" marR="0" rtl="0" algn="l">
              <a:lnSpc>
                <a:spcPct val="102500"/>
              </a:lnSpc>
              <a:spcBef>
                <a:spcPts val="0"/>
              </a:spcBef>
              <a:spcAft>
                <a:spcPts val="0"/>
              </a:spcAft>
              <a:buClr>
                <a:srgbClr val="504C49"/>
              </a:buClr>
              <a:buSzPts val="2000"/>
              <a:buFont typeface="Platypi Medium"/>
              <a:buNone/>
            </a:pPr>
            <a:r>
              <a:rPr lang="en-US" sz="2000">
                <a:solidFill>
                  <a:srgbClr val="504C49"/>
                </a:solidFill>
                <a:latin typeface="Platypi Medium"/>
                <a:ea typeface="Platypi Medium"/>
                <a:cs typeface="Platypi Medium"/>
                <a:sym typeface="Platypi Medium"/>
              </a:rPr>
              <a:t>Best K balances bias-variance tradeoff</a:t>
            </a:r>
            <a:endParaRPr sz="2000">
              <a:solidFill>
                <a:schemeClr val="dk1"/>
              </a:solidFill>
              <a:latin typeface="Calibri"/>
              <a:ea typeface="Calibri"/>
              <a:cs typeface="Calibri"/>
              <a:sym typeface="Calibri"/>
            </a:endParaRPr>
          </a:p>
        </p:txBody>
      </p:sp>
      <p:sp>
        <p:nvSpPr>
          <p:cNvPr id="185" name="Google Shape;185;p9"/>
          <p:cNvSpPr/>
          <p:nvPr/>
        </p:nvSpPr>
        <p:spPr>
          <a:xfrm>
            <a:off x="10152578" y="2766179"/>
            <a:ext cx="3689152" cy="27051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Find via cross-validation</a:t>
            </a:r>
            <a:endParaRPr sz="2000">
              <a:solidFill>
                <a:schemeClr val="dk1"/>
              </a:solidFill>
              <a:latin typeface="Calibri"/>
              <a:ea typeface="Calibri"/>
              <a:cs typeface="Calibri"/>
              <a:sym typeface="Calibri"/>
            </a:endParaRPr>
          </a:p>
        </p:txBody>
      </p:sp>
      <p:pic>
        <p:nvPicPr>
          <p:cNvPr descr="preencoded.png" id="186" name="Google Shape;186;p9"/>
          <p:cNvPicPr preferRelativeResize="0"/>
          <p:nvPr/>
        </p:nvPicPr>
        <p:blipFill rotWithShape="1">
          <a:blip r:embed="rId3">
            <a:alphaModFix/>
          </a:blip>
          <a:srcRect b="0" l="0" r="0" t="0"/>
          <a:stretch/>
        </p:blipFill>
        <p:spPr>
          <a:xfrm>
            <a:off x="2394287" y="4114800"/>
            <a:ext cx="9789795" cy="3948470"/>
          </a:xfrm>
          <a:prstGeom prst="rect">
            <a:avLst/>
          </a:prstGeom>
          <a:noFill/>
          <a:ln>
            <a:noFill/>
          </a:ln>
        </p:spPr>
      </p:pic>
      <p:sp>
        <p:nvSpPr>
          <p:cNvPr id="187" name="Google Shape;187;p9"/>
          <p:cNvSpPr/>
          <p:nvPr/>
        </p:nvSpPr>
        <p:spPr>
          <a:xfrm>
            <a:off x="788670" y="7371874"/>
            <a:ext cx="13053060" cy="27051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pic>
        <p:nvPicPr>
          <p:cNvPr descr="preencoded.png" id="188" name="Google Shape;188;p9"/>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p:nvPr/>
        </p:nvSpPr>
        <p:spPr>
          <a:xfrm>
            <a:off x="793790" y="663654"/>
            <a:ext cx="3969425"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01B18"/>
              </a:buClr>
              <a:buSzPts val="3100"/>
              <a:buFont typeface="Platypi Medium"/>
              <a:buNone/>
            </a:pPr>
            <a:r>
              <a:rPr lang="en-US" sz="3100">
                <a:solidFill>
                  <a:srgbClr val="201B18"/>
                </a:solidFill>
                <a:latin typeface="Platypi Medium"/>
                <a:ea typeface="Platypi Medium"/>
                <a:cs typeface="Platypi Medium"/>
                <a:sym typeface="Platypi Medium"/>
              </a:rPr>
              <a:t>KNN for Regression</a:t>
            </a:r>
            <a:endParaRPr sz="3100">
              <a:solidFill>
                <a:schemeClr val="dk1"/>
              </a:solidFill>
              <a:latin typeface="Calibri"/>
              <a:ea typeface="Calibri"/>
              <a:cs typeface="Calibri"/>
              <a:sym typeface="Calibri"/>
            </a:endParaRPr>
          </a:p>
        </p:txBody>
      </p:sp>
      <p:sp>
        <p:nvSpPr>
          <p:cNvPr id="195" name="Google Shape;195;p10"/>
          <p:cNvSpPr/>
          <p:nvPr/>
        </p:nvSpPr>
        <p:spPr>
          <a:xfrm>
            <a:off x="960120" y="1508403"/>
            <a:ext cx="6192560" cy="31754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How KNN Helps in Regression</a:t>
            </a:r>
            <a:endParaRPr sz="2000">
              <a:solidFill>
                <a:schemeClr val="dk1"/>
              </a:solidFill>
              <a:latin typeface="Calibri"/>
              <a:ea typeface="Calibri"/>
              <a:cs typeface="Calibri"/>
              <a:sym typeface="Calibri"/>
            </a:endParaRPr>
          </a:p>
        </p:txBody>
      </p:sp>
      <p:sp>
        <p:nvSpPr>
          <p:cNvPr id="196" name="Google Shape;196;p10"/>
          <p:cNvSpPr/>
          <p:nvPr/>
        </p:nvSpPr>
        <p:spPr>
          <a:xfrm>
            <a:off x="960120" y="1921193"/>
            <a:ext cx="6192560" cy="635079"/>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504C49"/>
              </a:buClr>
              <a:buSzPts val="1800"/>
              <a:buFont typeface="Arial"/>
              <a:buChar char="•"/>
            </a:pPr>
            <a:r>
              <a:rPr b="1" lang="en-US" sz="1800">
                <a:solidFill>
                  <a:srgbClr val="504C49"/>
                </a:solidFill>
                <a:latin typeface="Arial"/>
                <a:ea typeface="Arial"/>
                <a:cs typeface="Arial"/>
                <a:sym typeface="Arial"/>
              </a:rPr>
              <a:t>Interpolation for Missing Values:</a:t>
            </a:r>
            <a:r>
              <a:rPr lang="en-US" sz="1800">
                <a:solidFill>
                  <a:srgbClr val="504C49"/>
                </a:solidFill>
                <a:latin typeface="Arial"/>
                <a:ea typeface="Arial"/>
                <a:cs typeface="Arial"/>
                <a:sym typeface="Arial"/>
              </a:rPr>
              <a:t> Predicts continuous target values by learning from similar data points</a:t>
            </a:r>
            <a:endParaRPr sz="1800">
              <a:solidFill>
                <a:schemeClr val="dk1"/>
              </a:solidFill>
              <a:latin typeface="Calibri"/>
              <a:ea typeface="Calibri"/>
              <a:cs typeface="Calibri"/>
              <a:sym typeface="Calibri"/>
            </a:endParaRPr>
          </a:p>
        </p:txBody>
      </p:sp>
      <p:sp>
        <p:nvSpPr>
          <p:cNvPr id="197" name="Google Shape;197;p10"/>
          <p:cNvSpPr/>
          <p:nvPr/>
        </p:nvSpPr>
        <p:spPr>
          <a:xfrm>
            <a:off x="960120" y="2748960"/>
            <a:ext cx="6192560" cy="635079"/>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504C49"/>
              </a:buClr>
              <a:buSzPts val="1800"/>
              <a:buFont typeface="Arial"/>
              <a:buChar char="•"/>
            </a:pPr>
            <a:r>
              <a:rPr b="1" lang="en-US" sz="1800">
                <a:solidFill>
                  <a:srgbClr val="504C49"/>
                </a:solidFill>
                <a:latin typeface="Arial"/>
                <a:ea typeface="Arial"/>
                <a:cs typeface="Arial"/>
                <a:sym typeface="Arial"/>
              </a:rPr>
              <a:t>Local Approximation:</a:t>
            </a:r>
            <a:r>
              <a:rPr lang="en-US" sz="1800">
                <a:solidFill>
                  <a:srgbClr val="504C49"/>
                </a:solidFill>
                <a:latin typeface="Arial"/>
                <a:ea typeface="Arial"/>
                <a:cs typeface="Arial"/>
                <a:sym typeface="Arial"/>
              </a:rPr>
              <a:t> Captures complex patterns by focusing on nearby points rather than global trends</a:t>
            </a:r>
            <a:endParaRPr sz="1800">
              <a:solidFill>
                <a:schemeClr val="dk1"/>
              </a:solidFill>
              <a:latin typeface="Calibri"/>
              <a:ea typeface="Calibri"/>
              <a:cs typeface="Calibri"/>
              <a:sym typeface="Calibri"/>
            </a:endParaRPr>
          </a:p>
        </p:txBody>
      </p:sp>
      <p:sp>
        <p:nvSpPr>
          <p:cNvPr id="198" name="Google Shape;198;p10"/>
          <p:cNvSpPr/>
          <p:nvPr/>
        </p:nvSpPr>
        <p:spPr>
          <a:xfrm>
            <a:off x="7477720" y="1427361"/>
            <a:ext cx="6192560" cy="63507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For regression problems, KNN works similarly but with a key difference:</a:t>
            </a:r>
            <a:endParaRPr sz="2000">
              <a:solidFill>
                <a:schemeClr val="dk1"/>
              </a:solidFill>
              <a:latin typeface="Calibri"/>
              <a:ea typeface="Calibri"/>
              <a:cs typeface="Calibri"/>
              <a:sym typeface="Calibri"/>
            </a:endParaRPr>
          </a:p>
        </p:txBody>
      </p:sp>
      <p:sp>
        <p:nvSpPr>
          <p:cNvPr id="199" name="Google Shape;199;p10"/>
          <p:cNvSpPr/>
          <p:nvPr/>
        </p:nvSpPr>
        <p:spPr>
          <a:xfrm>
            <a:off x="7477720" y="2238732"/>
            <a:ext cx="6192560" cy="635079"/>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504C49"/>
              </a:buClr>
              <a:buSzPts val="1800"/>
              <a:buFont typeface="Arial"/>
              <a:buChar char="•"/>
            </a:pPr>
            <a:r>
              <a:rPr b="1" lang="en-US" sz="1800">
                <a:solidFill>
                  <a:srgbClr val="504C49"/>
                </a:solidFill>
                <a:latin typeface="Arial"/>
                <a:ea typeface="Arial"/>
                <a:cs typeface="Arial"/>
                <a:sym typeface="Arial"/>
              </a:rPr>
              <a:t>Average of Neighbors' Values:</a:t>
            </a:r>
            <a:r>
              <a:rPr lang="en-US" sz="1800">
                <a:solidFill>
                  <a:srgbClr val="504C49"/>
                </a:solidFill>
                <a:latin typeface="Arial"/>
                <a:ea typeface="Arial"/>
                <a:cs typeface="Arial"/>
                <a:sym typeface="Arial"/>
              </a:rPr>
              <a:t> Instead of voting, calculate mean of target values</a:t>
            </a:r>
            <a:endParaRPr sz="1800">
              <a:solidFill>
                <a:schemeClr val="dk1"/>
              </a:solidFill>
              <a:latin typeface="Calibri"/>
              <a:ea typeface="Calibri"/>
              <a:cs typeface="Calibri"/>
              <a:sym typeface="Calibri"/>
            </a:endParaRPr>
          </a:p>
        </p:txBody>
      </p:sp>
      <p:sp>
        <p:nvSpPr>
          <p:cNvPr id="200" name="Google Shape;200;p10"/>
          <p:cNvSpPr/>
          <p:nvPr/>
        </p:nvSpPr>
        <p:spPr>
          <a:xfrm>
            <a:off x="7477720" y="3072586"/>
            <a:ext cx="6192560" cy="31754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504C49"/>
              </a:buClr>
              <a:buSzPts val="1800"/>
              <a:buFont typeface="Arial"/>
              <a:buChar char="•"/>
            </a:pPr>
            <a:r>
              <a:rPr b="1" lang="en-US" sz="1800">
                <a:solidFill>
                  <a:srgbClr val="504C49"/>
                </a:solidFill>
                <a:latin typeface="Arial"/>
                <a:ea typeface="Arial"/>
                <a:cs typeface="Arial"/>
                <a:sym typeface="Arial"/>
              </a:rPr>
              <a:t>Formula:</a:t>
            </a:r>
            <a:r>
              <a:rPr lang="en-US" sz="1800">
                <a:solidFill>
                  <a:srgbClr val="504C49"/>
                </a:solidFill>
                <a:latin typeface="Arial"/>
                <a:ea typeface="Arial"/>
                <a:cs typeface="Arial"/>
                <a:sym typeface="Arial"/>
              </a:rPr>
              <a:t> y = (y4 + y1 + y5 + y3 + y8) / k</a:t>
            </a:r>
            <a:endParaRPr sz="1800">
              <a:solidFill>
                <a:schemeClr val="dk1"/>
              </a:solidFill>
              <a:latin typeface="Calibri"/>
              <a:ea typeface="Calibri"/>
              <a:cs typeface="Calibri"/>
              <a:sym typeface="Calibri"/>
            </a:endParaRPr>
          </a:p>
        </p:txBody>
      </p:sp>
      <p:sp>
        <p:nvSpPr>
          <p:cNvPr id="201" name="Google Shape;201;p10"/>
          <p:cNvSpPr/>
          <p:nvPr/>
        </p:nvSpPr>
        <p:spPr>
          <a:xfrm>
            <a:off x="7477720" y="3525758"/>
            <a:ext cx="6192560" cy="31754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504C49"/>
              </a:buClr>
              <a:buSzPts val="1800"/>
              <a:buFont typeface="Arial"/>
              <a:buChar char="•"/>
            </a:pPr>
            <a:r>
              <a:rPr b="1" lang="en-US" sz="1800">
                <a:solidFill>
                  <a:srgbClr val="504C49"/>
                </a:solidFill>
                <a:latin typeface="Arial"/>
                <a:ea typeface="Arial"/>
                <a:cs typeface="Arial"/>
                <a:sym typeface="Arial"/>
              </a:rPr>
              <a:t>Same Process:</a:t>
            </a:r>
            <a:r>
              <a:rPr lang="en-US" sz="1800">
                <a:solidFill>
                  <a:srgbClr val="504C49"/>
                </a:solidFill>
                <a:latin typeface="Arial"/>
                <a:ea typeface="Arial"/>
                <a:cs typeface="Arial"/>
                <a:sym typeface="Arial"/>
              </a:rPr>
              <a:t> Uses same distance/sorting steps as classification</a:t>
            </a:r>
            <a:endParaRPr sz="1800">
              <a:solidFill>
                <a:schemeClr val="dk1"/>
              </a:solidFill>
              <a:latin typeface="Calibri"/>
              <a:ea typeface="Calibri"/>
              <a:cs typeface="Calibri"/>
              <a:sym typeface="Calibri"/>
            </a:endParaRPr>
          </a:p>
        </p:txBody>
      </p:sp>
      <p:pic>
        <p:nvPicPr>
          <p:cNvPr descr="preencoded.png" id="202" name="Google Shape;202;p10"/>
          <p:cNvPicPr preferRelativeResize="0"/>
          <p:nvPr/>
        </p:nvPicPr>
        <p:blipFill rotWithShape="1">
          <a:blip r:embed="rId3">
            <a:alphaModFix/>
          </a:blip>
          <a:srcRect b="0" l="0" r="0" t="0"/>
          <a:stretch/>
        </p:blipFill>
        <p:spPr>
          <a:xfrm>
            <a:off x="2778502" y="4114800"/>
            <a:ext cx="9129951" cy="3720346"/>
          </a:xfrm>
          <a:prstGeom prst="rect">
            <a:avLst/>
          </a:prstGeom>
          <a:noFill/>
          <a:ln>
            <a:noFill/>
          </a:ln>
        </p:spPr>
      </p:pic>
      <p:pic>
        <p:nvPicPr>
          <p:cNvPr descr="preencoded.png" id="203" name="Google Shape;203;p10"/>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p:nvPr/>
        </p:nvSpPr>
        <p:spPr>
          <a:xfrm>
            <a:off x="793790" y="239244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Advantages of k-NN</a:t>
            </a:r>
            <a:endParaRPr sz="4450">
              <a:solidFill>
                <a:schemeClr val="dk1"/>
              </a:solidFill>
              <a:latin typeface="Calibri"/>
              <a:ea typeface="Calibri"/>
              <a:cs typeface="Calibri"/>
              <a:sym typeface="Calibri"/>
            </a:endParaRPr>
          </a:p>
        </p:txBody>
      </p:sp>
      <p:sp>
        <p:nvSpPr>
          <p:cNvPr id="210" name="Google Shape;210;p11"/>
          <p:cNvSpPr/>
          <p:nvPr/>
        </p:nvSpPr>
        <p:spPr>
          <a:xfrm>
            <a:off x="793790" y="3441382"/>
            <a:ext cx="4196358" cy="2395657"/>
          </a:xfrm>
          <a:prstGeom prst="roundRect">
            <a:avLst>
              <a:gd fmla="val 1420"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1020604" y="366819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Simple</a:t>
            </a:r>
            <a:endParaRPr sz="2200">
              <a:solidFill>
                <a:schemeClr val="dk1"/>
              </a:solidFill>
              <a:latin typeface="Calibri"/>
              <a:ea typeface="Calibri"/>
              <a:cs typeface="Calibri"/>
              <a:sym typeface="Calibri"/>
            </a:endParaRPr>
          </a:p>
        </p:txBody>
      </p:sp>
      <p:sp>
        <p:nvSpPr>
          <p:cNvPr id="212" name="Google Shape;212;p11"/>
          <p:cNvSpPr/>
          <p:nvPr/>
        </p:nvSpPr>
        <p:spPr>
          <a:xfrm>
            <a:off x="1020604" y="4158615"/>
            <a:ext cx="3742730" cy="1088708"/>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Intuitive algorithm with straightforward implementation and minimal training requirements</a:t>
            </a:r>
            <a:endParaRPr sz="2000">
              <a:solidFill>
                <a:schemeClr val="dk1"/>
              </a:solidFill>
              <a:latin typeface="Calibri"/>
              <a:ea typeface="Calibri"/>
              <a:cs typeface="Calibri"/>
              <a:sym typeface="Calibri"/>
            </a:endParaRPr>
          </a:p>
        </p:txBody>
      </p:sp>
      <p:sp>
        <p:nvSpPr>
          <p:cNvPr id="213" name="Google Shape;213;p11"/>
          <p:cNvSpPr/>
          <p:nvPr/>
        </p:nvSpPr>
        <p:spPr>
          <a:xfrm>
            <a:off x="5216962" y="3441382"/>
            <a:ext cx="4196358" cy="2395657"/>
          </a:xfrm>
          <a:prstGeom prst="roundRect">
            <a:avLst>
              <a:gd fmla="val 1420"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5443776" y="366819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Multi-class</a:t>
            </a:r>
            <a:endParaRPr sz="2200">
              <a:solidFill>
                <a:schemeClr val="dk1"/>
              </a:solidFill>
              <a:latin typeface="Calibri"/>
              <a:ea typeface="Calibri"/>
              <a:cs typeface="Calibri"/>
              <a:sym typeface="Calibri"/>
            </a:endParaRPr>
          </a:p>
        </p:txBody>
      </p:sp>
      <p:sp>
        <p:nvSpPr>
          <p:cNvPr id="215" name="Google Shape;215;p11"/>
          <p:cNvSpPr/>
          <p:nvPr/>
        </p:nvSpPr>
        <p:spPr>
          <a:xfrm>
            <a:off x="5443776" y="4158615"/>
            <a:ext cx="3742730" cy="1451610"/>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Naturally handles multiple classes without modification and maintains effectiveness regardless of class count</a:t>
            </a:r>
            <a:endParaRPr sz="2000">
              <a:solidFill>
                <a:schemeClr val="dk1"/>
              </a:solidFill>
              <a:latin typeface="Calibri"/>
              <a:ea typeface="Calibri"/>
              <a:cs typeface="Calibri"/>
              <a:sym typeface="Calibri"/>
            </a:endParaRPr>
          </a:p>
        </p:txBody>
      </p:sp>
      <p:sp>
        <p:nvSpPr>
          <p:cNvPr id="216" name="Google Shape;216;p11"/>
          <p:cNvSpPr/>
          <p:nvPr/>
        </p:nvSpPr>
        <p:spPr>
          <a:xfrm>
            <a:off x="9640133" y="3441382"/>
            <a:ext cx="4196358" cy="2395657"/>
          </a:xfrm>
          <a:prstGeom prst="roundRect">
            <a:avLst>
              <a:gd fmla="val 1420"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a:off x="9866948" y="366819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Non-parametric</a:t>
            </a:r>
            <a:endParaRPr sz="2200">
              <a:solidFill>
                <a:schemeClr val="dk1"/>
              </a:solidFill>
              <a:latin typeface="Calibri"/>
              <a:ea typeface="Calibri"/>
              <a:cs typeface="Calibri"/>
              <a:sym typeface="Calibri"/>
            </a:endParaRPr>
          </a:p>
        </p:txBody>
      </p:sp>
      <p:sp>
        <p:nvSpPr>
          <p:cNvPr id="218" name="Google Shape;218;p11"/>
          <p:cNvSpPr/>
          <p:nvPr/>
        </p:nvSpPr>
        <p:spPr>
          <a:xfrm>
            <a:off x="9866948" y="4158615"/>
            <a:ext cx="3742730" cy="1451610"/>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Makes no assumptions about underlying data distribution, allowing flexibility with complex datasets</a:t>
            </a:r>
            <a:endParaRPr sz="2000">
              <a:solidFill>
                <a:schemeClr val="dk1"/>
              </a:solidFill>
              <a:latin typeface="Calibri"/>
              <a:ea typeface="Calibri"/>
              <a:cs typeface="Calibri"/>
              <a:sym typeface="Calibri"/>
            </a:endParaRPr>
          </a:p>
        </p:txBody>
      </p:sp>
      <p:pic>
        <p:nvPicPr>
          <p:cNvPr descr="preencoded.png" id="219" name="Google Shape;219;p11"/>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p:nvPr/>
        </p:nvSpPr>
        <p:spPr>
          <a:xfrm>
            <a:off x="793790" y="102881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Limitations of k-NN</a:t>
            </a:r>
            <a:endParaRPr sz="4450">
              <a:solidFill>
                <a:schemeClr val="dk1"/>
              </a:solidFill>
              <a:latin typeface="Calibri"/>
              <a:ea typeface="Calibri"/>
              <a:cs typeface="Calibri"/>
              <a:sym typeface="Calibri"/>
            </a:endParaRPr>
          </a:p>
        </p:txBody>
      </p:sp>
      <p:pic>
        <p:nvPicPr>
          <p:cNvPr descr="preencoded.png" id="226" name="Google Shape;226;p12"/>
          <p:cNvPicPr preferRelativeResize="0"/>
          <p:nvPr/>
        </p:nvPicPr>
        <p:blipFill rotWithShape="1">
          <a:blip r:embed="rId3">
            <a:alphaModFix/>
          </a:blip>
          <a:srcRect b="0" l="0" r="0" t="0"/>
          <a:stretch/>
        </p:blipFill>
        <p:spPr>
          <a:xfrm>
            <a:off x="793790" y="2191226"/>
            <a:ext cx="1134070" cy="1669852"/>
          </a:xfrm>
          <a:prstGeom prst="rect">
            <a:avLst/>
          </a:prstGeom>
          <a:noFill/>
          <a:ln>
            <a:noFill/>
          </a:ln>
        </p:spPr>
      </p:pic>
      <p:sp>
        <p:nvSpPr>
          <p:cNvPr id="227" name="Google Shape;227;p12"/>
          <p:cNvSpPr/>
          <p:nvPr/>
        </p:nvSpPr>
        <p:spPr>
          <a:xfrm>
            <a:off x="2268022" y="2418040"/>
            <a:ext cx="379547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Computationally expensive</a:t>
            </a:r>
            <a:endParaRPr sz="2200">
              <a:solidFill>
                <a:schemeClr val="dk1"/>
              </a:solidFill>
              <a:latin typeface="Calibri"/>
              <a:ea typeface="Calibri"/>
              <a:cs typeface="Calibri"/>
              <a:sym typeface="Calibri"/>
            </a:endParaRPr>
          </a:p>
        </p:txBody>
      </p:sp>
      <p:sp>
        <p:nvSpPr>
          <p:cNvPr id="228" name="Google Shape;228;p12"/>
          <p:cNvSpPr/>
          <p:nvPr/>
        </p:nvSpPr>
        <p:spPr>
          <a:xfrm>
            <a:off x="2268022" y="2908459"/>
            <a:ext cx="11568589"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Requires calculating distances between the query instance and all training examples, making it prohibitively slow for large datasets with many samples or features.</a:t>
            </a:r>
            <a:endParaRPr sz="2000">
              <a:solidFill>
                <a:schemeClr val="dk1"/>
              </a:solidFill>
              <a:latin typeface="Calibri"/>
              <a:ea typeface="Calibri"/>
              <a:cs typeface="Calibri"/>
              <a:sym typeface="Calibri"/>
            </a:endParaRPr>
          </a:p>
        </p:txBody>
      </p:sp>
      <p:pic>
        <p:nvPicPr>
          <p:cNvPr descr="preencoded.png" id="229" name="Google Shape;229;p12"/>
          <p:cNvPicPr preferRelativeResize="0"/>
          <p:nvPr/>
        </p:nvPicPr>
        <p:blipFill rotWithShape="1">
          <a:blip r:embed="rId4">
            <a:alphaModFix/>
          </a:blip>
          <a:srcRect b="0" l="0" r="0" t="0"/>
          <a:stretch/>
        </p:blipFill>
        <p:spPr>
          <a:xfrm>
            <a:off x="793790" y="3861078"/>
            <a:ext cx="1134070" cy="1669852"/>
          </a:xfrm>
          <a:prstGeom prst="rect">
            <a:avLst/>
          </a:prstGeom>
          <a:noFill/>
          <a:ln>
            <a:noFill/>
          </a:ln>
        </p:spPr>
      </p:pic>
      <p:sp>
        <p:nvSpPr>
          <p:cNvPr id="230" name="Google Shape;230;p12"/>
          <p:cNvSpPr/>
          <p:nvPr/>
        </p:nvSpPr>
        <p:spPr>
          <a:xfrm>
            <a:off x="2268022" y="4087892"/>
            <a:ext cx="428232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Sensitive to irrelevant features</a:t>
            </a:r>
            <a:endParaRPr sz="2200">
              <a:solidFill>
                <a:schemeClr val="dk1"/>
              </a:solidFill>
              <a:latin typeface="Calibri"/>
              <a:ea typeface="Calibri"/>
              <a:cs typeface="Calibri"/>
              <a:sym typeface="Calibri"/>
            </a:endParaRPr>
          </a:p>
        </p:txBody>
      </p:sp>
      <p:sp>
        <p:nvSpPr>
          <p:cNvPr id="231" name="Google Shape;231;p12"/>
          <p:cNvSpPr/>
          <p:nvPr/>
        </p:nvSpPr>
        <p:spPr>
          <a:xfrm>
            <a:off x="2268022" y="4578310"/>
            <a:ext cx="11568589"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Does not distinguish between important and unimportant attributes, so irrelevant features can disproportionately influence distance calculations and reduce classification accuracy.</a:t>
            </a:r>
            <a:endParaRPr sz="2000">
              <a:solidFill>
                <a:schemeClr val="dk1"/>
              </a:solidFill>
              <a:latin typeface="Calibri"/>
              <a:ea typeface="Calibri"/>
              <a:cs typeface="Calibri"/>
              <a:sym typeface="Calibri"/>
            </a:endParaRPr>
          </a:p>
        </p:txBody>
      </p:sp>
      <p:pic>
        <p:nvPicPr>
          <p:cNvPr descr="preencoded.png" id="232" name="Google Shape;232;p12"/>
          <p:cNvPicPr preferRelativeResize="0"/>
          <p:nvPr/>
        </p:nvPicPr>
        <p:blipFill rotWithShape="1">
          <a:blip r:embed="rId5">
            <a:alphaModFix/>
          </a:blip>
          <a:srcRect b="0" l="0" r="0" t="0"/>
          <a:stretch/>
        </p:blipFill>
        <p:spPr>
          <a:xfrm>
            <a:off x="793790" y="5530929"/>
            <a:ext cx="1134070" cy="1669852"/>
          </a:xfrm>
          <a:prstGeom prst="rect">
            <a:avLst/>
          </a:prstGeom>
          <a:noFill/>
          <a:ln>
            <a:noFill/>
          </a:ln>
        </p:spPr>
      </p:pic>
      <p:sp>
        <p:nvSpPr>
          <p:cNvPr id="233" name="Google Shape;233;p12"/>
          <p:cNvSpPr/>
          <p:nvPr/>
        </p:nvSpPr>
        <p:spPr>
          <a:xfrm>
            <a:off x="2268022" y="57577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Memory-intensive</a:t>
            </a:r>
            <a:endParaRPr sz="2200">
              <a:solidFill>
                <a:schemeClr val="dk1"/>
              </a:solidFill>
              <a:latin typeface="Calibri"/>
              <a:ea typeface="Calibri"/>
              <a:cs typeface="Calibri"/>
              <a:sym typeface="Calibri"/>
            </a:endParaRPr>
          </a:p>
        </p:txBody>
      </p:sp>
      <p:sp>
        <p:nvSpPr>
          <p:cNvPr id="234" name="Google Shape;234;p12"/>
          <p:cNvSpPr/>
          <p:nvPr/>
        </p:nvSpPr>
        <p:spPr>
          <a:xfrm>
            <a:off x="2268022" y="6248162"/>
            <a:ext cx="11568589"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Needs to store the entire training dataset in memory during prediction, creating significant storage requirements for large datasets and limiting deployment on memory-constrained systems.</a:t>
            </a:r>
            <a:endParaRPr sz="2000">
              <a:solidFill>
                <a:schemeClr val="dk1"/>
              </a:solidFill>
              <a:latin typeface="Calibri"/>
              <a:ea typeface="Calibri"/>
              <a:cs typeface="Calibri"/>
              <a:sym typeface="Calibri"/>
            </a:endParaRPr>
          </a:p>
        </p:txBody>
      </p:sp>
      <p:pic>
        <p:nvPicPr>
          <p:cNvPr descr="preencoded.png" id="235" name="Google Shape;235;p12"/>
          <p:cNvPicPr preferRelativeResize="0"/>
          <p:nvPr/>
        </p:nvPicPr>
        <p:blipFill rotWithShape="1">
          <a:blip r:embed="rId6">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p:nvPr/>
        </p:nvSpPr>
        <p:spPr>
          <a:xfrm>
            <a:off x="793790" y="1060013"/>
            <a:ext cx="605194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Code Implementation</a:t>
            </a:r>
            <a:endParaRPr sz="4450">
              <a:solidFill>
                <a:schemeClr val="dk1"/>
              </a:solidFill>
              <a:latin typeface="Calibri"/>
              <a:ea typeface="Calibri"/>
              <a:cs typeface="Calibri"/>
              <a:sym typeface="Calibri"/>
            </a:endParaRPr>
          </a:p>
        </p:txBody>
      </p:sp>
      <p:sp>
        <p:nvSpPr>
          <p:cNvPr id="242" name="Google Shape;242;p13"/>
          <p:cNvSpPr/>
          <p:nvPr/>
        </p:nvSpPr>
        <p:spPr>
          <a:xfrm>
            <a:off x="793790" y="23357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lang="en-US" sz="2200">
                <a:solidFill>
                  <a:srgbClr val="201B18"/>
                </a:solidFill>
                <a:latin typeface="Platypi Medium"/>
                <a:ea typeface="Platypi Medium"/>
                <a:cs typeface="Platypi Medium"/>
                <a:sym typeface="Platypi Medium"/>
              </a:rPr>
              <a:t>Using scikit-learn</a:t>
            </a:r>
            <a:endParaRPr sz="2200">
              <a:solidFill>
                <a:schemeClr val="dk1"/>
              </a:solidFill>
              <a:latin typeface="Calibri"/>
              <a:ea typeface="Calibri"/>
              <a:cs typeface="Calibri"/>
              <a:sym typeface="Calibri"/>
            </a:endParaRPr>
          </a:p>
        </p:txBody>
      </p:sp>
      <p:sp>
        <p:nvSpPr>
          <p:cNvPr id="243" name="Google Shape;243;p13"/>
          <p:cNvSpPr/>
          <p:nvPr/>
        </p:nvSpPr>
        <p:spPr>
          <a:xfrm>
            <a:off x="793790" y="2945249"/>
            <a:ext cx="6244709" cy="3969067"/>
          </a:xfrm>
          <a:prstGeom prst="roundRect">
            <a:avLst>
              <a:gd fmla="val 857" name="adj"/>
            </a:avLst>
          </a:prstGeom>
          <a:solidFill>
            <a:srgbClr val="F3E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a:off x="782475" y="2945250"/>
            <a:ext cx="6267300" cy="4836600"/>
          </a:xfrm>
          <a:prstGeom prst="roundRect">
            <a:avLst>
              <a:gd fmla="val 857" name="adj"/>
            </a:avLst>
          </a:prstGeom>
          <a:solidFill>
            <a:srgbClr val="F3E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a:off x="1009293" y="3115270"/>
            <a:ext cx="5813703"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from sklearn import neighbors, datasets</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 Load iris dataset (first two features only)</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iris = datasets.load_iris()</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X = iris.data[:, :2]</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y = iris.target</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 Create KNN classifier (k=15)</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clf = neighbors.KNeighborsClassifier(n_neighbors=15)</a:t>
            </a:r>
            <a:endParaRPr sz="1750">
              <a:solidFill>
                <a:schemeClr val="dk1"/>
              </a:solidFill>
              <a:latin typeface="Calibri"/>
              <a:ea typeface="Calibri"/>
              <a:cs typeface="Calibri"/>
              <a:sym typeface="Calibri"/>
            </a:endParaRPr>
          </a:p>
          <a:p>
            <a:pPr indent="0" lvl="0" marL="0" marR="0" rtl="0" algn="l">
              <a:lnSpc>
                <a:spcPct val="162857"/>
              </a:lnSpc>
              <a:spcBef>
                <a:spcPts val="0"/>
              </a:spcBef>
              <a:spcAft>
                <a:spcPts val="0"/>
              </a:spcAft>
              <a:buClr>
                <a:srgbClr val="504C49"/>
              </a:buClr>
              <a:buSzPts val="1750"/>
              <a:buFont typeface="Consolas"/>
              <a:buNone/>
            </a:pPr>
            <a:r>
              <a:rPr lang="en-US" sz="1750">
                <a:solidFill>
                  <a:srgbClr val="504C49"/>
                </a:solidFill>
                <a:highlight>
                  <a:srgbClr val="F3E3D8"/>
                </a:highlight>
                <a:latin typeface="Consolas"/>
                <a:ea typeface="Consolas"/>
                <a:cs typeface="Consolas"/>
                <a:sym typeface="Consolas"/>
              </a:rPr>
              <a:t>clf.fit(X, y)</a:t>
            </a:r>
            <a:endParaRPr sz="1750">
              <a:solidFill>
                <a:schemeClr val="dk1"/>
              </a:solidFill>
              <a:latin typeface="Calibri"/>
              <a:ea typeface="Calibri"/>
              <a:cs typeface="Calibri"/>
              <a:sym typeface="Calibri"/>
            </a:endParaRPr>
          </a:p>
        </p:txBody>
      </p:sp>
      <p:sp>
        <p:nvSpPr>
          <p:cNvPr id="246" name="Google Shape;246;p13"/>
          <p:cNvSpPr/>
          <p:nvPr/>
        </p:nvSpPr>
        <p:spPr>
          <a:xfrm>
            <a:off x="7599521" y="23357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lang="en-US" sz="2200">
                <a:solidFill>
                  <a:srgbClr val="201B18"/>
                </a:solidFill>
                <a:latin typeface="Platypi Medium"/>
                <a:ea typeface="Platypi Medium"/>
                <a:cs typeface="Platypi Medium"/>
                <a:sym typeface="Platypi Medium"/>
              </a:rPr>
              <a:t>Key steps:</a:t>
            </a:r>
            <a:endParaRPr sz="2200">
              <a:solidFill>
                <a:schemeClr val="dk1"/>
              </a:solidFill>
              <a:latin typeface="Calibri"/>
              <a:ea typeface="Calibri"/>
              <a:cs typeface="Calibri"/>
              <a:sym typeface="Calibri"/>
            </a:endParaRPr>
          </a:p>
        </p:txBody>
      </p:sp>
      <p:sp>
        <p:nvSpPr>
          <p:cNvPr id="247" name="Google Shape;247;p13"/>
          <p:cNvSpPr/>
          <p:nvPr/>
        </p:nvSpPr>
        <p:spPr>
          <a:xfrm>
            <a:off x="7599521" y="2916912"/>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lang="en-US" sz="1750">
                <a:solidFill>
                  <a:srgbClr val="504C49"/>
                </a:solidFill>
                <a:latin typeface="Arial"/>
                <a:ea typeface="Arial"/>
                <a:cs typeface="Arial"/>
                <a:sym typeface="Arial"/>
              </a:rPr>
              <a:t>Load data</a:t>
            </a:r>
            <a:endParaRPr sz="1750">
              <a:solidFill>
                <a:schemeClr val="dk1"/>
              </a:solidFill>
              <a:latin typeface="Calibri"/>
              <a:ea typeface="Calibri"/>
              <a:cs typeface="Calibri"/>
              <a:sym typeface="Calibri"/>
            </a:endParaRPr>
          </a:p>
        </p:txBody>
      </p:sp>
      <p:sp>
        <p:nvSpPr>
          <p:cNvPr id="248" name="Google Shape;248;p13"/>
          <p:cNvSpPr/>
          <p:nvPr/>
        </p:nvSpPr>
        <p:spPr>
          <a:xfrm>
            <a:off x="7599521" y="3359110"/>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lang="en-US" sz="1750">
                <a:solidFill>
                  <a:srgbClr val="504C49"/>
                </a:solidFill>
                <a:latin typeface="Arial"/>
                <a:ea typeface="Arial"/>
                <a:cs typeface="Arial"/>
                <a:sym typeface="Arial"/>
              </a:rPr>
              <a:t>Initialize model with chosen K</a:t>
            </a:r>
            <a:endParaRPr sz="1750">
              <a:solidFill>
                <a:schemeClr val="dk1"/>
              </a:solidFill>
              <a:latin typeface="Calibri"/>
              <a:ea typeface="Calibri"/>
              <a:cs typeface="Calibri"/>
              <a:sym typeface="Calibri"/>
            </a:endParaRPr>
          </a:p>
        </p:txBody>
      </p:sp>
      <p:sp>
        <p:nvSpPr>
          <p:cNvPr id="249" name="Google Shape;249;p13"/>
          <p:cNvSpPr/>
          <p:nvPr/>
        </p:nvSpPr>
        <p:spPr>
          <a:xfrm>
            <a:off x="7599521" y="3801308"/>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lang="en-US" sz="1750">
                <a:solidFill>
                  <a:srgbClr val="504C49"/>
                </a:solidFill>
                <a:latin typeface="Arial"/>
                <a:ea typeface="Arial"/>
                <a:cs typeface="Arial"/>
                <a:sym typeface="Arial"/>
              </a:rPr>
              <a:t>Fit to training data</a:t>
            </a:r>
            <a:endParaRPr sz="1750">
              <a:solidFill>
                <a:schemeClr val="dk1"/>
              </a:solidFill>
              <a:latin typeface="Calibri"/>
              <a:ea typeface="Calibri"/>
              <a:cs typeface="Calibri"/>
              <a:sym typeface="Calibri"/>
            </a:endParaRPr>
          </a:p>
        </p:txBody>
      </p:sp>
      <p:pic>
        <p:nvPicPr>
          <p:cNvPr descr="preencoded.png" id="250" name="Google Shape;250;p13"/>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p:nvPr/>
        </p:nvSpPr>
        <p:spPr>
          <a:xfrm>
            <a:off x="793790" y="1957388"/>
            <a:ext cx="643866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lang="en-US" sz="4450">
                <a:solidFill>
                  <a:srgbClr val="201B18"/>
                </a:solidFill>
                <a:latin typeface="Platypi Medium"/>
                <a:ea typeface="Platypi Medium"/>
                <a:cs typeface="Platypi Medium"/>
                <a:sym typeface="Platypi Medium"/>
              </a:rPr>
              <a:t>Summary &amp; Key Points</a:t>
            </a:r>
            <a:endParaRPr sz="4450">
              <a:solidFill>
                <a:schemeClr val="dk1"/>
              </a:solidFill>
              <a:latin typeface="Calibri"/>
              <a:ea typeface="Calibri"/>
              <a:cs typeface="Calibri"/>
              <a:sym typeface="Calibri"/>
            </a:endParaRPr>
          </a:p>
        </p:txBody>
      </p:sp>
      <p:sp>
        <p:nvSpPr>
          <p:cNvPr id="257" name="Google Shape;257;p14"/>
          <p:cNvSpPr/>
          <p:nvPr/>
        </p:nvSpPr>
        <p:spPr>
          <a:xfrm>
            <a:off x="793790" y="3374946"/>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14"/>
          <p:cNvPicPr preferRelativeResize="0"/>
          <p:nvPr/>
        </p:nvPicPr>
        <p:blipFill rotWithShape="1">
          <a:blip r:embed="rId3">
            <a:alphaModFix/>
          </a:blip>
          <a:srcRect b="0" l="0" r="0" t="0"/>
          <a:stretch/>
        </p:blipFill>
        <p:spPr>
          <a:xfrm>
            <a:off x="878860" y="3459956"/>
            <a:ext cx="340162" cy="340162"/>
          </a:xfrm>
          <a:prstGeom prst="rect">
            <a:avLst/>
          </a:prstGeom>
          <a:noFill/>
          <a:ln>
            <a:noFill/>
          </a:ln>
        </p:spPr>
      </p:pic>
      <p:sp>
        <p:nvSpPr>
          <p:cNvPr id="259" name="Google Shape;259;p14"/>
          <p:cNvSpPr/>
          <p:nvPr/>
        </p:nvSpPr>
        <p:spPr>
          <a:xfrm>
            <a:off x="1530906" y="3374946"/>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Simple but powerful algorithm</a:t>
            </a:r>
            <a:endParaRPr sz="2200">
              <a:solidFill>
                <a:schemeClr val="dk1"/>
              </a:solidFill>
              <a:latin typeface="Calibri"/>
              <a:ea typeface="Calibri"/>
              <a:cs typeface="Calibri"/>
              <a:sym typeface="Calibri"/>
            </a:endParaRPr>
          </a:p>
        </p:txBody>
      </p:sp>
      <p:sp>
        <p:nvSpPr>
          <p:cNvPr id="260" name="Google Shape;260;p14"/>
          <p:cNvSpPr/>
          <p:nvPr/>
        </p:nvSpPr>
        <p:spPr>
          <a:xfrm>
            <a:off x="1530906" y="4219694"/>
            <a:ext cx="3459242"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For classification/regression</a:t>
            </a:r>
            <a:endParaRPr sz="2000">
              <a:solidFill>
                <a:schemeClr val="dk1"/>
              </a:solidFill>
              <a:latin typeface="Calibri"/>
              <a:ea typeface="Calibri"/>
              <a:cs typeface="Calibri"/>
              <a:sym typeface="Calibri"/>
            </a:endParaRPr>
          </a:p>
        </p:txBody>
      </p:sp>
      <p:sp>
        <p:nvSpPr>
          <p:cNvPr id="261" name="Google Shape;261;p14"/>
          <p:cNvSpPr/>
          <p:nvPr/>
        </p:nvSpPr>
        <p:spPr>
          <a:xfrm>
            <a:off x="5216962" y="3374946"/>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2" name="Google Shape;262;p14"/>
          <p:cNvPicPr preferRelativeResize="0"/>
          <p:nvPr/>
        </p:nvPicPr>
        <p:blipFill rotWithShape="1">
          <a:blip r:embed="rId4">
            <a:alphaModFix/>
          </a:blip>
          <a:srcRect b="0" l="0" r="0" t="0"/>
          <a:stretch/>
        </p:blipFill>
        <p:spPr>
          <a:xfrm>
            <a:off x="5302032" y="3417451"/>
            <a:ext cx="340162" cy="425291"/>
          </a:xfrm>
          <a:prstGeom prst="rect">
            <a:avLst/>
          </a:prstGeom>
          <a:noFill/>
          <a:ln>
            <a:noFill/>
          </a:ln>
        </p:spPr>
      </p:pic>
      <p:sp>
        <p:nvSpPr>
          <p:cNvPr id="263" name="Google Shape;263;p14"/>
          <p:cNvSpPr/>
          <p:nvPr/>
        </p:nvSpPr>
        <p:spPr>
          <a:xfrm>
            <a:off x="5954078" y="337494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No training phase</a:t>
            </a:r>
            <a:endParaRPr sz="2200">
              <a:solidFill>
                <a:schemeClr val="dk1"/>
              </a:solidFill>
              <a:latin typeface="Calibri"/>
              <a:ea typeface="Calibri"/>
              <a:cs typeface="Calibri"/>
              <a:sym typeface="Calibri"/>
            </a:endParaRPr>
          </a:p>
        </p:txBody>
      </p:sp>
      <p:sp>
        <p:nvSpPr>
          <p:cNvPr id="264" name="Google Shape;264;p14"/>
          <p:cNvSpPr/>
          <p:nvPr/>
        </p:nvSpPr>
        <p:spPr>
          <a:xfrm>
            <a:off x="5954078" y="3865364"/>
            <a:ext cx="3459242"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Stores all training data</a:t>
            </a:r>
            <a:endParaRPr sz="2000">
              <a:solidFill>
                <a:schemeClr val="dk1"/>
              </a:solidFill>
              <a:latin typeface="Calibri"/>
              <a:ea typeface="Calibri"/>
              <a:cs typeface="Calibri"/>
              <a:sym typeface="Calibri"/>
            </a:endParaRPr>
          </a:p>
        </p:txBody>
      </p:sp>
      <p:sp>
        <p:nvSpPr>
          <p:cNvPr id="265" name="Google Shape;265;p14"/>
          <p:cNvSpPr/>
          <p:nvPr/>
        </p:nvSpPr>
        <p:spPr>
          <a:xfrm>
            <a:off x="9640133" y="3374946"/>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6" name="Google Shape;266;p14"/>
          <p:cNvPicPr preferRelativeResize="0"/>
          <p:nvPr/>
        </p:nvPicPr>
        <p:blipFill rotWithShape="1">
          <a:blip r:embed="rId5">
            <a:alphaModFix/>
          </a:blip>
          <a:srcRect b="0" l="0" r="0" t="0"/>
          <a:stretch/>
        </p:blipFill>
        <p:spPr>
          <a:xfrm>
            <a:off x="9725204" y="3417451"/>
            <a:ext cx="340162" cy="425291"/>
          </a:xfrm>
          <a:prstGeom prst="rect">
            <a:avLst/>
          </a:prstGeom>
          <a:noFill/>
          <a:ln>
            <a:noFill/>
          </a:ln>
        </p:spPr>
      </p:pic>
      <p:sp>
        <p:nvSpPr>
          <p:cNvPr id="267" name="Google Shape;267;p14"/>
          <p:cNvSpPr/>
          <p:nvPr/>
        </p:nvSpPr>
        <p:spPr>
          <a:xfrm>
            <a:off x="10377249" y="3374946"/>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Distance metric choice affects results</a:t>
            </a:r>
            <a:endParaRPr sz="2200">
              <a:solidFill>
                <a:schemeClr val="dk1"/>
              </a:solidFill>
              <a:latin typeface="Calibri"/>
              <a:ea typeface="Calibri"/>
              <a:cs typeface="Calibri"/>
              <a:sym typeface="Calibri"/>
            </a:endParaRPr>
          </a:p>
        </p:txBody>
      </p:sp>
      <p:sp>
        <p:nvSpPr>
          <p:cNvPr id="268" name="Google Shape;268;p14"/>
          <p:cNvSpPr/>
          <p:nvPr/>
        </p:nvSpPr>
        <p:spPr>
          <a:xfrm>
            <a:off x="10377249" y="4219694"/>
            <a:ext cx="3459242"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Euclidean common</a:t>
            </a:r>
            <a:endParaRPr sz="2000">
              <a:solidFill>
                <a:schemeClr val="dk1"/>
              </a:solidFill>
              <a:latin typeface="Calibri"/>
              <a:ea typeface="Calibri"/>
              <a:cs typeface="Calibri"/>
              <a:sym typeface="Calibri"/>
            </a:endParaRPr>
          </a:p>
        </p:txBody>
      </p:sp>
      <p:sp>
        <p:nvSpPr>
          <p:cNvPr id="269" name="Google Shape;269;p14"/>
          <p:cNvSpPr/>
          <p:nvPr/>
        </p:nvSpPr>
        <p:spPr>
          <a:xfrm>
            <a:off x="793790" y="5064562"/>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0" name="Google Shape;270;p14"/>
          <p:cNvPicPr preferRelativeResize="0"/>
          <p:nvPr/>
        </p:nvPicPr>
        <p:blipFill rotWithShape="1">
          <a:blip r:embed="rId6">
            <a:alphaModFix/>
          </a:blip>
          <a:srcRect b="0" l="0" r="0" t="0"/>
          <a:stretch/>
        </p:blipFill>
        <p:spPr>
          <a:xfrm>
            <a:off x="878860" y="5107067"/>
            <a:ext cx="340162" cy="425291"/>
          </a:xfrm>
          <a:prstGeom prst="rect">
            <a:avLst/>
          </a:prstGeom>
          <a:noFill/>
          <a:ln>
            <a:noFill/>
          </a:ln>
        </p:spPr>
      </p:pic>
      <p:sp>
        <p:nvSpPr>
          <p:cNvPr id="271" name="Google Shape;271;p14"/>
          <p:cNvSpPr/>
          <p:nvPr/>
        </p:nvSpPr>
        <p:spPr>
          <a:xfrm>
            <a:off x="1530906" y="5064562"/>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K value controls bias-variance tradeoff</a:t>
            </a:r>
            <a:endParaRPr sz="2200">
              <a:solidFill>
                <a:schemeClr val="dk1"/>
              </a:solidFill>
              <a:latin typeface="Calibri"/>
              <a:ea typeface="Calibri"/>
              <a:cs typeface="Calibri"/>
              <a:sym typeface="Calibri"/>
            </a:endParaRPr>
          </a:p>
        </p:txBody>
      </p:sp>
      <p:sp>
        <p:nvSpPr>
          <p:cNvPr id="272" name="Google Shape;272;p14"/>
          <p:cNvSpPr/>
          <p:nvPr/>
        </p:nvSpPr>
        <p:spPr>
          <a:xfrm>
            <a:off x="5216962" y="5064562"/>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3" name="Google Shape;273;p14"/>
          <p:cNvPicPr preferRelativeResize="0"/>
          <p:nvPr/>
        </p:nvPicPr>
        <p:blipFill rotWithShape="1">
          <a:blip r:embed="rId7">
            <a:alphaModFix/>
          </a:blip>
          <a:srcRect b="0" l="0" r="0" t="0"/>
          <a:stretch/>
        </p:blipFill>
        <p:spPr>
          <a:xfrm>
            <a:off x="5302032" y="5107067"/>
            <a:ext cx="340162" cy="425291"/>
          </a:xfrm>
          <a:prstGeom prst="rect">
            <a:avLst/>
          </a:prstGeom>
          <a:noFill/>
          <a:ln>
            <a:noFill/>
          </a:ln>
        </p:spPr>
      </p:pic>
      <p:sp>
        <p:nvSpPr>
          <p:cNvPr id="274" name="Google Shape;274;p14"/>
          <p:cNvSpPr/>
          <p:nvPr/>
        </p:nvSpPr>
        <p:spPr>
          <a:xfrm>
            <a:off x="5954078" y="5064562"/>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Computationally expensive</a:t>
            </a:r>
            <a:endParaRPr sz="2200">
              <a:solidFill>
                <a:schemeClr val="dk1"/>
              </a:solidFill>
              <a:latin typeface="Calibri"/>
              <a:ea typeface="Calibri"/>
              <a:cs typeface="Calibri"/>
              <a:sym typeface="Calibri"/>
            </a:endParaRPr>
          </a:p>
        </p:txBody>
      </p:sp>
      <p:sp>
        <p:nvSpPr>
          <p:cNvPr id="275" name="Google Shape;275;p14"/>
          <p:cNvSpPr/>
          <p:nvPr/>
        </p:nvSpPr>
        <p:spPr>
          <a:xfrm>
            <a:off x="5954078" y="5909310"/>
            <a:ext cx="3459242"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For large datasets</a:t>
            </a:r>
            <a:endParaRPr sz="2000">
              <a:solidFill>
                <a:schemeClr val="dk1"/>
              </a:solidFill>
              <a:latin typeface="Calibri"/>
              <a:ea typeface="Calibri"/>
              <a:cs typeface="Calibri"/>
              <a:sym typeface="Calibri"/>
            </a:endParaRPr>
          </a:p>
        </p:txBody>
      </p:sp>
      <p:sp>
        <p:nvSpPr>
          <p:cNvPr id="276" name="Google Shape;276;p14"/>
          <p:cNvSpPr/>
          <p:nvPr/>
        </p:nvSpPr>
        <p:spPr>
          <a:xfrm>
            <a:off x="9640133" y="5064562"/>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7" name="Google Shape;277;p14"/>
          <p:cNvPicPr preferRelativeResize="0"/>
          <p:nvPr/>
        </p:nvPicPr>
        <p:blipFill rotWithShape="1">
          <a:blip r:embed="rId6">
            <a:alphaModFix/>
          </a:blip>
          <a:srcRect b="0" l="0" r="0" t="0"/>
          <a:stretch/>
        </p:blipFill>
        <p:spPr>
          <a:xfrm>
            <a:off x="9725204" y="5107067"/>
            <a:ext cx="340162" cy="425291"/>
          </a:xfrm>
          <a:prstGeom prst="rect">
            <a:avLst/>
          </a:prstGeom>
          <a:noFill/>
          <a:ln>
            <a:noFill/>
          </a:ln>
        </p:spPr>
      </p:pic>
      <p:sp>
        <p:nvSpPr>
          <p:cNvPr id="278" name="Google Shape;278;p14"/>
          <p:cNvSpPr/>
          <p:nvPr/>
        </p:nvSpPr>
        <p:spPr>
          <a:xfrm>
            <a:off x="10377249" y="5064562"/>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lang="en-US" sz="2200">
                <a:solidFill>
                  <a:srgbClr val="504C49"/>
                </a:solidFill>
                <a:latin typeface="Platypi Medium"/>
                <a:ea typeface="Platypi Medium"/>
                <a:cs typeface="Platypi Medium"/>
                <a:sym typeface="Platypi Medium"/>
              </a:rPr>
              <a:t>Feature scaling important</a:t>
            </a:r>
            <a:endParaRPr sz="2200">
              <a:solidFill>
                <a:schemeClr val="dk1"/>
              </a:solidFill>
              <a:latin typeface="Calibri"/>
              <a:ea typeface="Calibri"/>
              <a:cs typeface="Calibri"/>
              <a:sym typeface="Calibri"/>
            </a:endParaRPr>
          </a:p>
        </p:txBody>
      </p:sp>
      <p:sp>
        <p:nvSpPr>
          <p:cNvPr id="279" name="Google Shape;279;p14"/>
          <p:cNvSpPr/>
          <p:nvPr/>
        </p:nvSpPr>
        <p:spPr>
          <a:xfrm>
            <a:off x="10377249" y="5909310"/>
            <a:ext cx="3459242"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504C49"/>
              </a:buClr>
              <a:buSzPts val="2000"/>
              <a:buFont typeface="Arial"/>
              <a:buNone/>
            </a:pPr>
            <a:r>
              <a:rPr lang="en-US" sz="2000">
                <a:solidFill>
                  <a:srgbClr val="504C49"/>
                </a:solidFill>
                <a:latin typeface="Arial"/>
                <a:ea typeface="Arial"/>
                <a:cs typeface="Arial"/>
                <a:sym typeface="Arial"/>
              </a:rPr>
              <a:t>Distance-based</a:t>
            </a:r>
            <a:endParaRPr sz="2000">
              <a:solidFill>
                <a:schemeClr val="dk1"/>
              </a:solidFill>
              <a:latin typeface="Calibri"/>
              <a:ea typeface="Calibri"/>
              <a:cs typeface="Calibri"/>
              <a:sym typeface="Calibri"/>
            </a:endParaRPr>
          </a:p>
        </p:txBody>
      </p:sp>
      <p:pic>
        <p:nvPicPr>
          <p:cNvPr descr="preencoded.png" id="280" name="Google Shape;280;p14"/>
          <p:cNvPicPr preferRelativeResize="0"/>
          <p:nvPr/>
        </p:nvPicPr>
        <p:blipFill rotWithShape="1">
          <a:blip r:embed="rId8">
            <a:alphaModFix/>
          </a:blip>
          <a:srcRect b="0" l="0" r="0" t="0"/>
          <a:stretch/>
        </p:blipFill>
        <p:spPr>
          <a:xfrm>
            <a:off x="13624560" y="228600"/>
            <a:ext cx="777240" cy="6094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2025-04-11T08:27:05Z</dcterms:created>
  <dc:creator>PptxGenJS</dc:creator>
</cp:coreProperties>
</file>