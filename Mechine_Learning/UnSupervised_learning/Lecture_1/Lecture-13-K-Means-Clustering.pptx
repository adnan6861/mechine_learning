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8229600" cx="14630400"/>
  <p:notesSz cx="8229600" cy="14630400"/>
  <p:embeddedFontLst>
    <p:embeddedFont>
      <p:font typeface="Platypi Medium"/>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xCo/A/PHvf9bWA/LnmHRSJVRM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typiMedium-regular.fntdata"/><Relationship Id="rId11" Type="http://schemas.openxmlformats.org/officeDocument/2006/relationships/slide" Target="slides/slide7.xml"/><Relationship Id="rId22" Type="http://schemas.openxmlformats.org/officeDocument/2006/relationships/font" Target="fonts/PlatypiMedium-italic.fntdata"/><Relationship Id="rId10" Type="http://schemas.openxmlformats.org/officeDocument/2006/relationships/slide" Target="slides/slide6.xml"/><Relationship Id="rId21" Type="http://schemas.openxmlformats.org/officeDocument/2006/relationships/font" Target="fonts/PlatypiMedium-bold.fntdata"/><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font" Target="fonts/PlatypiMedium-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 name="Google Shape;5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 name="Google Shape;7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4c302f651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4c302f651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34c302f651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17"/>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18"/>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19"/>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20"/>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21"/>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22"/>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23"/>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24"/>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25"/>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26"/>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27"/>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28"/>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6" name="Shape 46"/>
        <p:cNvGrpSpPr/>
        <p:nvPr/>
      </p:nvGrpSpPr>
      <p:grpSpPr>
        <a:xfrm>
          <a:off x="0" y="0"/>
          <a:ext cx="0" cy="0"/>
          <a:chOff x="0" y="0"/>
          <a:chExt cx="0" cy="0"/>
        </a:xfrm>
      </p:grpSpPr>
      <p:sp>
        <p:nvSpPr>
          <p:cNvPr id="47" name="Google Shape;47;p29"/>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9" name="Shape 49"/>
        <p:cNvGrpSpPr/>
        <p:nvPr/>
      </p:nvGrpSpPr>
      <p:grpSpPr>
        <a:xfrm>
          <a:off x="0" y="0"/>
          <a:ext cx="0" cy="0"/>
          <a:chOff x="0" y="0"/>
          <a:chExt cx="0" cy="0"/>
        </a:xfrm>
      </p:grpSpPr>
      <p:sp>
        <p:nvSpPr>
          <p:cNvPr id="50" name="Google Shape;50;p30"/>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52" name="Shape 52"/>
        <p:cNvGrpSpPr/>
        <p:nvPr/>
      </p:nvGrpSpPr>
      <p:grpSpPr>
        <a:xfrm>
          <a:off x="0" y="0"/>
          <a:ext cx="0" cy="0"/>
          <a:chOff x="0" y="0"/>
          <a:chExt cx="0" cy="0"/>
        </a:xfrm>
      </p:grpSpPr>
      <p:sp>
        <p:nvSpPr>
          <p:cNvPr id="53" name="Google Shape;53;p31"/>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4.png"/><Relationship Id="rId5" Type="http://schemas.openxmlformats.org/officeDocument/2006/relationships/image" Target="../media/image21.png"/><Relationship Id="rId6" Type="http://schemas.openxmlformats.org/officeDocument/2006/relationships/image" Target="../media/image17.png"/><Relationship Id="rId7" Type="http://schemas.openxmlformats.org/officeDocument/2006/relationships/image" Target="../media/image16.png"/><Relationship Id="rId8"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6.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descr="preencoded.png" id="61" name="Google Shape;61;p1"/>
          <p:cNvPicPr preferRelativeResize="0"/>
          <p:nvPr/>
        </p:nvPicPr>
        <p:blipFill rotWithShape="1">
          <a:blip r:embed="rId3">
            <a:alphaModFix/>
          </a:blip>
          <a:srcRect b="0" l="0" r="0" t="0"/>
          <a:stretch/>
        </p:blipFill>
        <p:spPr>
          <a:xfrm>
            <a:off x="185827" y="1705877"/>
            <a:ext cx="5670574" cy="4817850"/>
          </a:xfrm>
          <a:prstGeom prst="rect">
            <a:avLst/>
          </a:prstGeom>
          <a:noFill/>
          <a:ln>
            <a:noFill/>
          </a:ln>
        </p:spPr>
      </p:pic>
      <p:sp>
        <p:nvSpPr>
          <p:cNvPr id="62" name="Google Shape;62;p1"/>
          <p:cNvSpPr/>
          <p:nvPr/>
        </p:nvSpPr>
        <p:spPr>
          <a:xfrm>
            <a:off x="6280190" y="2498765"/>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Machine Learning</a:t>
            </a:r>
            <a:endParaRPr b="0" i="0" sz="4450" u="none" cap="none" strike="noStrike">
              <a:solidFill>
                <a:srgbClr val="000000"/>
              </a:solidFill>
              <a:latin typeface="Arial"/>
              <a:ea typeface="Arial"/>
              <a:cs typeface="Arial"/>
              <a:sym typeface="Arial"/>
            </a:endParaRPr>
          </a:p>
        </p:txBody>
      </p:sp>
      <p:sp>
        <p:nvSpPr>
          <p:cNvPr id="63" name="Google Shape;63;p1"/>
          <p:cNvSpPr/>
          <p:nvPr/>
        </p:nvSpPr>
        <p:spPr>
          <a:xfrm>
            <a:off x="6280190" y="3547705"/>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Lecture 13: K-Means Clustering </a:t>
            </a:r>
            <a:endParaRPr b="0" i="0" sz="4450" u="none" cap="none" strike="noStrike">
              <a:solidFill>
                <a:srgbClr val="000000"/>
              </a:solidFill>
              <a:latin typeface="Arial"/>
              <a:ea typeface="Arial"/>
              <a:cs typeface="Arial"/>
              <a:sym typeface="Arial"/>
            </a:endParaRPr>
          </a:p>
        </p:txBody>
      </p:sp>
      <p:sp>
        <p:nvSpPr>
          <p:cNvPr id="64" name="Google Shape;64;p1"/>
          <p:cNvSpPr/>
          <p:nvPr/>
        </p:nvSpPr>
        <p:spPr>
          <a:xfrm>
            <a:off x="6280190" y="5305425"/>
            <a:ext cx="4581644"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201B18"/>
              </a:buClr>
              <a:buSzPts val="2650"/>
              <a:buFont typeface="Platypi Medium"/>
              <a:buNone/>
            </a:pPr>
            <a:r>
              <a:rPr b="0" i="0" lang="en-US" sz="2650" u="none" cap="none" strike="noStrike">
                <a:solidFill>
                  <a:srgbClr val="201B18"/>
                </a:solidFill>
                <a:latin typeface="Platypi Medium"/>
                <a:ea typeface="Platypi Medium"/>
                <a:cs typeface="Platypi Medium"/>
                <a:sym typeface="Platypi Medium"/>
              </a:rPr>
              <a:t>Instructor: Dr. Shazia Saqib</a:t>
            </a:r>
            <a:endParaRPr b="0" i="0" sz="2650" u="none" cap="none" strike="noStrike">
              <a:solidFill>
                <a:srgbClr val="000000"/>
              </a:solidFill>
              <a:latin typeface="Arial"/>
              <a:ea typeface="Arial"/>
              <a:cs typeface="Arial"/>
              <a:sym typeface="Arial"/>
            </a:endParaRPr>
          </a:p>
        </p:txBody>
      </p:sp>
      <p:pic>
        <p:nvPicPr>
          <p:cNvPr descr="preencoded.png" id="65" name="Google Shape;65;p1"/>
          <p:cNvPicPr preferRelativeResize="0"/>
          <p:nvPr/>
        </p:nvPicPr>
        <p:blipFill rotWithShape="1">
          <a:blip r:embed="rId4">
            <a:alphaModFix/>
          </a:blip>
          <a:srcRect b="0" l="0" r="0" t="0"/>
          <a:stretch/>
        </p:blipFill>
        <p:spPr>
          <a:xfrm>
            <a:off x="13003075" y="228600"/>
            <a:ext cx="1398725" cy="1095540"/>
          </a:xfrm>
          <a:prstGeom prst="rect">
            <a:avLst/>
          </a:prstGeom>
          <a:noFill/>
          <a:ln>
            <a:noFill/>
          </a:ln>
        </p:spPr>
      </p:pic>
      <p:pic>
        <p:nvPicPr>
          <p:cNvPr descr="preencoded.png" id="66" name="Google Shape;66;p1"/>
          <p:cNvPicPr preferRelativeResize="0"/>
          <p:nvPr/>
        </p:nvPicPr>
        <p:blipFill rotWithShape="1">
          <a:blip r:embed="rId5">
            <a:alphaModFix/>
          </a:blip>
          <a:srcRect b="0" l="0" r="0" t="0"/>
          <a:stretch/>
        </p:blipFill>
        <p:spPr>
          <a:xfrm>
            <a:off x="13003065" y="6684210"/>
            <a:ext cx="1398746" cy="139874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p:nvPr/>
        </p:nvSpPr>
        <p:spPr>
          <a:xfrm>
            <a:off x="710922" y="560308"/>
            <a:ext cx="4062532" cy="507802"/>
          </a:xfrm>
          <a:prstGeom prst="rect">
            <a:avLst/>
          </a:prstGeom>
          <a:noFill/>
          <a:ln>
            <a:noFill/>
          </a:ln>
        </p:spPr>
        <p:txBody>
          <a:bodyPr anchorCtr="0" anchor="t" bIns="0" lIns="0" spcFirstLastPara="1" rIns="0" wrap="square" tIns="0">
            <a:noAutofit/>
          </a:bodyPr>
          <a:lstStyle/>
          <a:p>
            <a:pPr indent="0" lvl="0" marL="0" marR="0" rtl="0" algn="l">
              <a:lnSpc>
                <a:spcPct val="125396"/>
              </a:lnSpc>
              <a:spcBef>
                <a:spcPts val="0"/>
              </a:spcBef>
              <a:spcAft>
                <a:spcPts val="0"/>
              </a:spcAft>
              <a:buClr>
                <a:srgbClr val="201B18"/>
              </a:buClr>
              <a:buSzPts val="3150"/>
              <a:buFont typeface="Platypi Medium"/>
              <a:buNone/>
            </a:pPr>
            <a:r>
              <a:rPr b="0" i="0" lang="en-US" sz="3150" u="none" cap="none" strike="noStrike">
                <a:solidFill>
                  <a:srgbClr val="201B18"/>
                </a:solidFill>
                <a:latin typeface="Platypi Medium"/>
                <a:ea typeface="Platypi Medium"/>
                <a:cs typeface="Platypi Medium"/>
                <a:sym typeface="Platypi Medium"/>
              </a:rPr>
              <a:t>K-means Clustering</a:t>
            </a:r>
            <a:endParaRPr b="0" i="0" sz="3150" u="none" cap="none" strike="noStrike">
              <a:solidFill>
                <a:srgbClr val="000000"/>
              </a:solidFill>
              <a:latin typeface="Arial"/>
              <a:ea typeface="Arial"/>
              <a:cs typeface="Arial"/>
              <a:sym typeface="Arial"/>
            </a:endParaRPr>
          </a:p>
        </p:txBody>
      </p:sp>
      <p:sp>
        <p:nvSpPr>
          <p:cNvPr id="73" name="Google Shape;73;p2"/>
          <p:cNvSpPr/>
          <p:nvPr/>
        </p:nvSpPr>
        <p:spPr>
          <a:xfrm>
            <a:off x="710922" y="1474351"/>
            <a:ext cx="4267438" cy="1820228"/>
          </a:xfrm>
          <a:prstGeom prst="roundRect">
            <a:avLst>
              <a:gd fmla="val 1674"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
          <p:cNvSpPr/>
          <p:nvPr/>
        </p:nvSpPr>
        <p:spPr>
          <a:xfrm>
            <a:off x="914043" y="1677472"/>
            <a:ext cx="3049905" cy="317421"/>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504C49"/>
              </a:buClr>
              <a:buSzPts val="1950"/>
              <a:buFont typeface="Platypi Medium"/>
              <a:buNone/>
            </a:pPr>
            <a:r>
              <a:rPr b="0" i="0" lang="en-US" sz="1950" u="none" cap="none" strike="noStrike">
                <a:solidFill>
                  <a:srgbClr val="504C49"/>
                </a:solidFill>
                <a:latin typeface="Platypi Medium"/>
                <a:ea typeface="Platypi Medium"/>
                <a:cs typeface="Platypi Medium"/>
                <a:sym typeface="Platypi Medium"/>
              </a:rPr>
              <a:t>Unsupervised Algorithm</a:t>
            </a:r>
            <a:endParaRPr b="0" i="0" sz="1950" u="none" cap="none" strike="noStrike">
              <a:solidFill>
                <a:srgbClr val="000000"/>
              </a:solidFill>
              <a:latin typeface="Arial"/>
              <a:ea typeface="Arial"/>
              <a:cs typeface="Arial"/>
              <a:sym typeface="Arial"/>
            </a:endParaRPr>
          </a:p>
        </p:txBody>
      </p:sp>
      <p:sp>
        <p:nvSpPr>
          <p:cNvPr id="75" name="Google Shape;75;p2"/>
          <p:cNvSpPr/>
          <p:nvPr/>
        </p:nvSpPr>
        <p:spPr>
          <a:xfrm>
            <a:off x="914043" y="2116693"/>
            <a:ext cx="3861197" cy="974765"/>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504C49"/>
              </a:buClr>
              <a:buSzPts val="1550"/>
              <a:buFont typeface="Arial"/>
              <a:buNone/>
            </a:pPr>
            <a:r>
              <a:rPr b="0" i="0" lang="en-US" sz="1550" u="none" cap="none" strike="noStrike">
                <a:solidFill>
                  <a:srgbClr val="504C49"/>
                </a:solidFill>
                <a:latin typeface="Arial"/>
                <a:ea typeface="Arial"/>
                <a:cs typeface="Arial"/>
                <a:sym typeface="Arial"/>
              </a:rPr>
              <a:t>K-Means Clustering is an unsupervised machine learning algorithm that operates without labeled data.</a:t>
            </a:r>
            <a:endParaRPr b="0" i="0" sz="1550" u="none" cap="none" strike="noStrike">
              <a:solidFill>
                <a:srgbClr val="000000"/>
              </a:solidFill>
              <a:latin typeface="Arial"/>
              <a:ea typeface="Arial"/>
              <a:cs typeface="Arial"/>
              <a:sym typeface="Arial"/>
            </a:endParaRPr>
          </a:p>
        </p:txBody>
      </p:sp>
      <p:sp>
        <p:nvSpPr>
          <p:cNvPr id="76" name="Google Shape;76;p2"/>
          <p:cNvSpPr/>
          <p:nvPr/>
        </p:nvSpPr>
        <p:spPr>
          <a:xfrm>
            <a:off x="5181481" y="1474351"/>
            <a:ext cx="4267438" cy="1820228"/>
          </a:xfrm>
          <a:prstGeom prst="roundRect">
            <a:avLst>
              <a:gd fmla="val 1674"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5384602" y="1677472"/>
            <a:ext cx="2539008" cy="317421"/>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504C49"/>
              </a:buClr>
              <a:buSzPts val="1950"/>
              <a:buFont typeface="Platypi Medium"/>
              <a:buNone/>
            </a:pPr>
            <a:r>
              <a:rPr b="0" i="0" lang="en-US" sz="1950" u="none" cap="none" strike="noStrike">
                <a:solidFill>
                  <a:srgbClr val="504C49"/>
                </a:solidFill>
                <a:latin typeface="Platypi Medium"/>
                <a:ea typeface="Platypi Medium"/>
                <a:cs typeface="Platypi Medium"/>
                <a:sym typeface="Platypi Medium"/>
              </a:rPr>
              <a:t>Data Grouping</a:t>
            </a:r>
            <a:endParaRPr b="0" i="0" sz="1950" u="none" cap="none" strike="noStrike">
              <a:solidFill>
                <a:srgbClr val="000000"/>
              </a:solidFill>
              <a:latin typeface="Arial"/>
              <a:ea typeface="Arial"/>
              <a:cs typeface="Arial"/>
              <a:sym typeface="Arial"/>
            </a:endParaRPr>
          </a:p>
        </p:txBody>
      </p:sp>
      <p:sp>
        <p:nvSpPr>
          <p:cNvPr id="78" name="Google Shape;78;p2"/>
          <p:cNvSpPr/>
          <p:nvPr/>
        </p:nvSpPr>
        <p:spPr>
          <a:xfrm>
            <a:off x="5384602" y="2116693"/>
            <a:ext cx="3861197" cy="974765"/>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504C49"/>
              </a:buClr>
              <a:buSzPts val="1550"/>
              <a:buFont typeface="Arial"/>
              <a:buNone/>
            </a:pPr>
            <a:r>
              <a:rPr b="0" i="0" lang="en-US" sz="1550" u="none" cap="none" strike="noStrike">
                <a:solidFill>
                  <a:srgbClr val="504C49"/>
                </a:solidFill>
                <a:latin typeface="Arial"/>
                <a:ea typeface="Arial"/>
                <a:cs typeface="Arial"/>
                <a:sym typeface="Arial"/>
              </a:rPr>
              <a:t>It automatically groups the unlabeled dataset into different clusters based on similarity.</a:t>
            </a:r>
            <a:endParaRPr b="0" i="0" sz="1550" u="none" cap="none" strike="noStrike">
              <a:solidFill>
                <a:srgbClr val="000000"/>
              </a:solidFill>
              <a:latin typeface="Arial"/>
              <a:ea typeface="Arial"/>
              <a:cs typeface="Arial"/>
              <a:sym typeface="Arial"/>
            </a:endParaRPr>
          </a:p>
        </p:txBody>
      </p:sp>
      <p:sp>
        <p:nvSpPr>
          <p:cNvPr id="79" name="Google Shape;79;p2"/>
          <p:cNvSpPr/>
          <p:nvPr/>
        </p:nvSpPr>
        <p:spPr>
          <a:xfrm>
            <a:off x="9652040" y="1474351"/>
            <a:ext cx="4267438" cy="1820228"/>
          </a:xfrm>
          <a:prstGeom prst="roundRect">
            <a:avLst>
              <a:gd fmla="val 1674"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
          <p:cNvSpPr/>
          <p:nvPr/>
        </p:nvSpPr>
        <p:spPr>
          <a:xfrm>
            <a:off x="9855160" y="1677472"/>
            <a:ext cx="2728555" cy="317421"/>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504C49"/>
              </a:buClr>
              <a:buSzPts val="1950"/>
              <a:buFont typeface="Platypi Medium"/>
              <a:buNone/>
            </a:pPr>
            <a:r>
              <a:rPr b="0" i="0" lang="en-US" sz="1950" u="none" cap="none" strike="noStrike">
                <a:solidFill>
                  <a:srgbClr val="504C49"/>
                </a:solidFill>
                <a:latin typeface="Platypi Medium"/>
                <a:ea typeface="Platypi Medium"/>
                <a:cs typeface="Platypi Medium"/>
                <a:sym typeface="Platypi Medium"/>
              </a:rPr>
              <a:t>Practical Applications</a:t>
            </a:r>
            <a:endParaRPr b="0" i="0" sz="1950" u="none" cap="none" strike="noStrike">
              <a:solidFill>
                <a:srgbClr val="000000"/>
              </a:solidFill>
              <a:latin typeface="Arial"/>
              <a:ea typeface="Arial"/>
              <a:cs typeface="Arial"/>
              <a:sym typeface="Arial"/>
            </a:endParaRPr>
          </a:p>
        </p:txBody>
      </p:sp>
      <p:sp>
        <p:nvSpPr>
          <p:cNvPr id="81" name="Google Shape;81;p2"/>
          <p:cNvSpPr/>
          <p:nvPr/>
        </p:nvSpPr>
        <p:spPr>
          <a:xfrm>
            <a:off x="9855160" y="2116693"/>
            <a:ext cx="3861197" cy="974765"/>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504C49"/>
              </a:buClr>
              <a:buSzPts val="1550"/>
              <a:buFont typeface="Arial"/>
              <a:buNone/>
            </a:pPr>
            <a:r>
              <a:rPr b="0" i="0" lang="en-US" sz="1550" u="none" cap="none" strike="noStrike">
                <a:solidFill>
                  <a:srgbClr val="504C49"/>
                </a:solidFill>
                <a:latin typeface="Arial"/>
                <a:ea typeface="Arial"/>
                <a:cs typeface="Arial"/>
                <a:sym typeface="Arial"/>
              </a:rPr>
              <a:t>This technique is widely used for customer segmentation, image compression, and anomaly detection.</a:t>
            </a:r>
            <a:endParaRPr b="0" i="0" sz="1550" u="none" cap="none" strike="noStrike">
              <a:solidFill>
                <a:srgbClr val="000000"/>
              </a:solidFill>
              <a:latin typeface="Arial"/>
              <a:ea typeface="Arial"/>
              <a:cs typeface="Arial"/>
              <a:sym typeface="Arial"/>
            </a:endParaRPr>
          </a:p>
        </p:txBody>
      </p:sp>
      <p:pic>
        <p:nvPicPr>
          <p:cNvPr descr="preencoded.png" id="82" name="Google Shape;82;p2"/>
          <p:cNvPicPr preferRelativeResize="0"/>
          <p:nvPr/>
        </p:nvPicPr>
        <p:blipFill rotWithShape="1">
          <a:blip r:embed="rId3">
            <a:alphaModFix/>
          </a:blip>
          <a:srcRect b="0" l="0" r="0" t="0"/>
          <a:stretch/>
        </p:blipFill>
        <p:spPr>
          <a:xfrm>
            <a:off x="2900410" y="3523048"/>
            <a:ext cx="8829574" cy="4454056"/>
          </a:xfrm>
          <a:prstGeom prst="rect">
            <a:avLst/>
          </a:prstGeom>
          <a:noFill/>
          <a:ln>
            <a:noFill/>
          </a:ln>
        </p:spPr>
      </p:pic>
      <p:sp>
        <p:nvSpPr>
          <p:cNvPr id="83" name="Google Shape;83;p2"/>
          <p:cNvSpPr/>
          <p:nvPr/>
        </p:nvSpPr>
        <p:spPr>
          <a:xfrm>
            <a:off x="710922" y="7344251"/>
            <a:ext cx="13208556" cy="324922"/>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000000"/>
              </a:buClr>
              <a:buSzPts val="1550"/>
              <a:buFont typeface="Arial"/>
              <a:buNone/>
            </a:pPr>
            <a:r>
              <a:t/>
            </a:r>
            <a:endParaRPr b="0" i="0" sz="1550" u="none" cap="none" strike="noStrike">
              <a:solidFill>
                <a:srgbClr val="000000"/>
              </a:solidFill>
              <a:latin typeface="Arial"/>
              <a:ea typeface="Arial"/>
              <a:cs typeface="Arial"/>
              <a:sym typeface="Arial"/>
            </a:endParaRPr>
          </a:p>
        </p:txBody>
      </p:sp>
      <p:pic>
        <p:nvPicPr>
          <p:cNvPr descr="preencoded.png" id="84" name="Google Shape;84;p2"/>
          <p:cNvPicPr preferRelativeResize="0"/>
          <p:nvPr/>
        </p:nvPicPr>
        <p:blipFill rotWithShape="1">
          <a:blip r:embed="rId4">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descr="preencoded.png" id="90" name="Google Shape;90;p3"/>
          <p:cNvPicPr preferRelativeResize="0"/>
          <p:nvPr/>
        </p:nvPicPr>
        <p:blipFill rotWithShape="1">
          <a:blip r:embed="rId3">
            <a:alphaModFix/>
          </a:blip>
          <a:srcRect b="0" l="0" r="0" t="0"/>
          <a:stretch/>
        </p:blipFill>
        <p:spPr>
          <a:xfrm>
            <a:off x="555900" y="2310301"/>
            <a:ext cx="4884100" cy="3859400"/>
          </a:xfrm>
          <a:prstGeom prst="rect">
            <a:avLst/>
          </a:prstGeom>
          <a:noFill/>
          <a:ln>
            <a:noFill/>
          </a:ln>
        </p:spPr>
      </p:pic>
      <p:sp>
        <p:nvSpPr>
          <p:cNvPr id="91" name="Google Shape;91;p3"/>
          <p:cNvSpPr/>
          <p:nvPr/>
        </p:nvSpPr>
        <p:spPr>
          <a:xfrm>
            <a:off x="6280190" y="2310289"/>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What is Clustering?</a:t>
            </a:r>
            <a:endParaRPr b="0" i="0" sz="4450" u="none" cap="none" strike="noStrike">
              <a:solidFill>
                <a:srgbClr val="000000"/>
              </a:solidFill>
              <a:latin typeface="Arial"/>
              <a:ea typeface="Arial"/>
              <a:cs typeface="Arial"/>
              <a:sym typeface="Arial"/>
            </a:endParaRPr>
          </a:p>
        </p:txBody>
      </p:sp>
      <p:sp>
        <p:nvSpPr>
          <p:cNvPr id="92" name="Google Shape;92;p3"/>
          <p:cNvSpPr/>
          <p:nvPr/>
        </p:nvSpPr>
        <p:spPr>
          <a:xfrm>
            <a:off x="6280190" y="3614380"/>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
          <p:cNvSpPr/>
          <p:nvPr/>
        </p:nvSpPr>
        <p:spPr>
          <a:xfrm>
            <a:off x="7017306" y="361438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Grouping Objects</a:t>
            </a:r>
            <a:endParaRPr b="0" i="0" sz="2200" u="none" cap="none" strike="noStrike">
              <a:solidFill>
                <a:srgbClr val="000000"/>
              </a:solidFill>
              <a:latin typeface="Arial"/>
              <a:ea typeface="Arial"/>
              <a:cs typeface="Arial"/>
              <a:sym typeface="Arial"/>
            </a:endParaRPr>
          </a:p>
        </p:txBody>
      </p:sp>
      <p:sp>
        <p:nvSpPr>
          <p:cNvPr id="94" name="Google Shape;94;p3"/>
          <p:cNvSpPr/>
          <p:nvPr/>
        </p:nvSpPr>
        <p:spPr>
          <a:xfrm>
            <a:off x="7017306" y="4104799"/>
            <a:ext cx="6819305"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The task of grouping data points based on their similarity with each other is called Clustering or Cluster Analysis. This method is defined under the branch of Unsupervised Learning, which aims at gaining insights from unlabelled data points, that is, unlike supervised learning we don’t have a target variable.</a:t>
            </a:r>
            <a:endParaRPr b="0" i="0" sz="1750" u="none" cap="none" strike="noStrike">
              <a:solidFill>
                <a:srgbClr val="000000"/>
              </a:solidFill>
              <a:latin typeface="Arial"/>
              <a:ea typeface="Arial"/>
              <a:cs typeface="Arial"/>
              <a:sym typeface="Arial"/>
            </a:endParaRPr>
          </a:p>
        </p:txBody>
      </p:sp>
      <p:pic>
        <p:nvPicPr>
          <p:cNvPr descr="preencoded.png" id="95" name="Google Shape;95;p3"/>
          <p:cNvPicPr preferRelativeResize="0"/>
          <p:nvPr/>
        </p:nvPicPr>
        <p:blipFill rotWithShape="1">
          <a:blip r:embed="rId4">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preencoded.png" id="101" name="Google Shape;101;p4"/>
          <p:cNvPicPr preferRelativeResize="0"/>
          <p:nvPr/>
        </p:nvPicPr>
        <p:blipFill rotWithShape="1">
          <a:blip r:embed="rId3">
            <a:alphaModFix/>
          </a:blip>
          <a:srcRect b="0" l="0" r="0" t="0"/>
          <a:stretch/>
        </p:blipFill>
        <p:spPr>
          <a:xfrm>
            <a:off x="576538" y="648770"/>
            <a:ext cx="4919304" cy="7000160"/>
          </a:xfrm>
          <a:prstGeom prst="rect">
            <a:avLst/>
          </a:prstGeom>
          <a:noFill/>
          <a:ln>
            <a:noFill/>
          </a:ln>
        </p:spPr>
      </p:pic>
      <p:sp>
        <p:nvSpPr>
          <p:cNvPr id="102" name="Google Shape;102;p4"/>
          <p:cNvSpPr/>
          <p:nvPr/>
        </p:nvSpPr>
        <p:spPr>
          <a:xfrm>
            <a:off x="6280190" y="2209681"/>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How k-means clustering works?</a:t>
            </a:r>
            <a:endParaRPr b="0" i="0" sz="4450" u="none" cap="none" strike="noStrike">
              <a:solidFill>
                <a:srgbClr val="000000"/>
              </a:solidFill>
              <a:latin typeface="Arial"/>
              <a:ea typeface="Arial"/>
              <a:cs typeface="Arial"/>
              <a:sym typeface="Arial"/>
            </a:endParaRPr>
          </a:p>
        </p:txBody>
      </p:sp>
      <p:sp>
        <p:nvSpPr>
          <p:cNvPr id="103" name="Google Shape;103;p4"/>
          <p:cNvSpPr/>
          <p:nvPr/>
        </p:nvSpPr>
        <p:spPr>
          <a:xfrm>
            <a:off x="6280190" y="3967401"/>
            <a:ext cx="75564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1" i="0" lang="en-US" sz="1750" u="none" cap="none" strike="noStrike">
                <a:solidFill>
                  <a:srgbClr val="504C49"/>
                </a:solidFill>
                <a:latin typeface="Arial"/>
                <a:ea typeface="Arial"/>
                <a:cs typeface="Arial"/>
                <a:sym typeface="Arial"/>
              </a:rPr>
              <a:t>Initialize</a:t>
            </a:r>
            <a:r>
              <a:rPr b="0" i="0" lang="en-US" sz="1750" u="none" cap="none" strike="noStrike">
                <a:solidFill>
                  <a:srgbClr val="504C49"/>
                </a:solidFill>
                <a:latin typeface="Arial"/>
                <a:ea typeface="Arial"/>
                <a:cs typeface="Arial"/>
                <a:sym typeface="Arial"/>
              </a:rPr>
              <a:t>: Select ‘k’ initial cluster centers (centroids).</a:t>
            </a:r>
            <a:endParaRPr b="0" i="0" sz="1750" u="none" cap="none" strike="noStrike">
              <a:solidFill>
                <a:srgbClr val="000000"/>
              </a:solidFill>
              <a:latin typeface="Arial"/>
              <a:ea typeface="Arial"/>
              <a:cs typeface="Arial"/>
              <a:sym typeface="Arial"/>
            </a:endParaRPr>
          </a:p>
        </p:txBody>
      </p:sp>
      <p:sp>
        <p:nvSpPr>
          <p:cNvPr id="104" name="Google Shape;104;p4"/>
          <p:cNvSpPr/>
          <p:nvPr/>
        </p:nvSpPr>
        <p:spPr>
          <a:xfrm>
            <a:off x="6280190" y="4409599"/>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1" i="0" lang="en-US" sz="1750" u="none" cap="none" strike="noStrike">
                <a:solidFill>
                  <a:srgbClr val="504C49"/>
                </a:solidFill>
                <a:latin typeface="Arial"/>
                <a:ea typeface="Arial"/>
                <a:cs typeface="Arial"/>
                <a:sym typeface="Arial"/>
              </a:rPr>
              <a:t>Assign</a:t>
            </a:r>
            <a:r>
              <a:rPr b="0" i="0" lang="en-US" sz="1750" u="none" cap="none" strike="noStrike">
                <a:solidFill>
                  <a:srgbClr val="504C49"/>
                </a:solidFill>
                <a:latin typeface="Arial"/>
                <a:ea typeface="Arial"/>
                <a:cs typeface="Arial"/>
                <a:sym typeface="Arial"/>
              </a:rPr>
              <a:t>: Assign each item to the nearest centroid based on Euclidean distance.</a:t>
            </a:r>
            <a:endParaRPr b="0" i="0" sz="1750" u="none" cap="none" strike="noStrike">
              <a:solidFill>
                <a:srgbClr val="000000"/>
              </a:solidFill>
              <a:latin typeface="Arial"/>
              <a:ea typeface="Arial"/>
              <a:cs typeface="Arial"/>
              <a:sym typeface="Arial"/>
            </a:endParaRPr>
          </a:p>
        </p:txBody>
      </p:sp>
      <p:sp>
        <p:nvSpPr>
          <p:cNvPr id="105" name="Google Shape;105;p4"/>
          <p:cNvSpPr/>
          <p:nvPr/>
        </p:nvSpPr>
        <p:spPr>
          <a:xfrm>
            <a:off x="6280190" y="5214699"/>
            <a:ext cx="75564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1" i="0" lang="en-US" sz="1750" u="none" cap="none" strike="noStrike">
                <a:solidFill>
                  <a:srgbClr val="504C49"/>
                </a:solidFill>
                <a:latin typeface="Arial"/>
                <a:ea typeface="Arial"/>
                <a:cs typeface="Arial"/>
                <a:sym typeface="Arial"/>
              </a:rPr>
              <a:t>Update</a:t>
            </a:r>
            <a:r>
              <a:rPr b="0" i="0" lang="en-US" sz="1750" u="none" cap="none" strike="noStrike">
                <a:solidFill>
                  <a:srgbClr val="504C49"/>
                </a:solidFill>
                <a:latin typeface="Arial"/>
                <a:ea typeface="Arial"/>
                <a:cs typeface="Arial"/>
                <a:sym typeface="Arial"/>
              </a:rPr>
              <a:t>: Recalculate centroids by averaging the points in each cluster.</a:t>
            </a:r>
            <a:endParaRPr b="0" i="0" sz="1750" u="none" cap="none" strike="noStrike">
              <a:solidFill>
                <a:srgbClr val="000000"/>
              </a:solidFill>
              <a:latin typeface="Arial"/>
              <a:ea typeface="Arial"/>
              <a:cs typeface="Arial"/>
              <a:sym typeface="Arial"/>
            </a:endParaRPr>
          </a:p>
        </p:txBody>
      </p:sp>
      <p:sp>
        <p:nvSpPr>
          <p:cNvPr id="106" name="Google Shape;106;p4"/>
          <p:cNvSpPr/>
          <p:nvPr/>
        </p:nvSpPr>
        <p:spPr>
          <a:xfrm>
            <a:off x="6280190" y="5656898"/>
            <a:ext cx="75564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1" i="0" lang="en-US" sz="1750" u="none" cap="none" strike="noStrike">
                <a:solidFill>
                  <a:srgbClr val="504C49"/>
                </a:solidFill>
                <a:latin typeface="Arial"/>
                <a:ea typeface="Arial"/>
                <a:cs typeface="Arial"/>
                <a:sym typeface="Arial"/>
              </a:rPr>
              <a:t>Repeat</a:t>
            </a:r>
            <a:r>
              <a:rPr b="0" i="0" lang="en-US" sz="1750" u="none" cap="none" strike="noStrike">
                <a:solidFill>
                  <a:srgbClr val="504C49"/>
                </a:solidFill>
                <a:latin typeface="Arial"/>
                <a:ea typeface="Arial"/>
                <a:cs typeface="Arial"/>
                <a:sym typeface="Arial"/>
              </a:rPr>
              <a:t>: Reassign and update until convergence (centroids stabilize).</a:t>
            </a:r>
            <a:endParaRPr b="0" i="0" sz="1750" u="none" cap="none" strike="noStrike">
              <a:solidFill>
                <a:srgbClr val="000000"/>
              </a:solidFill>
              <a:latin typeface="Arial"/>
              <a:ea typeface="Arial"/>
              <a:cs typeface="Arial"/>
              <a:sym typeface="Arial"/>
            </a:endParaRPr>
          </a:p>
        </p:txBody>
      </p:sp>
      <p:pic>
        <p:nvPicPr>
          <p:cNvPr descr="preencoded.png" id="107" name="Google Shape;107;p4"/>
          <p:cNvPicPr preferRelativeResize="0"/>
          <p:nvPr/>
        </p:nvPicPr>
        <p:blipFill rotWithShape="1">
          <a:blip r:embed="rId4">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p:nvPr/>
        </p:nvSpPr>
        <p:spPr>
          <a:xfrm>
            <a:off x="793790" y="1622703"/>
            <a:ext cx="800969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Distance Metrics in K-Means</a:t>
            </a:r>
            <a:endParaRPr b="0" i="0" sz="4450" u="none" cap="none" strike="noStrike">
              <a:solidFill>
                <a:srgbClr val="000000"/>
              </a:solidFill>
              <a:latin typeface="Arial"/>
              <a:ea typeface="Arial"/>
              <a:cs typeface="Arial"/>
              <a:sym typeface="Arial"/>
            </a:endParaRPr>
          </a:p>
        </p:txBody>
      </p:sp>
      <p:sp>
        <p:nvSpPr>
          <p:cNvPr id="114" name="Google Shape;114;p5"/>
          <p:cNvSpPr/>
          <p:nvPr/>
        </p:nvSpPr>
        <p:spPr>
          <a:xfrm>
            <a:off x="793790" y="3040261"/>
            <a:ext cx="13042821" cy="30480"/>
          </a:xfrm>
          <a:prstGeom prst="roundRect">
            <a:avLst>
              <a:gd fmla="val 111628"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
          <p:cNvSpPr/>
          <p:nvPr/>
        </p:nvSpPr>
        <p:spPr>
          <a:xfrm>
            <a:off x="2323743" y="3040261"/>
            <a:ext cx="30480" cy="680442"/>
          </a:xfrm>
          <a:prstGeom prst="roundRect">
            <a:avLst>
              <a:gd fmla="val 111628"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5"/>
          <p:cNvSpPr/>
          <p:nvPr/>
        </p:nvSpPr>
        <p:spPr>
          <a:xfrm>
            <a:off x="2083832" y="2785110"/>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5"/>
          <p:cNvSpPr/>
          <p:nvPr/>
        </p:nvSpPr>
        <p:spPr>
          <a:xfrm>
            <a:off x="2168902" y="2827615"/>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1</a:t>
            </a:r>
            <a:endParaRPr b="0" i="0" sz="2650" u="none" cap="none" strike="noStrike">
              <a:solidFill>
                <a:srgbClr val="000000"/>
              </a:solidFill>
              <a:latin typeface="Arial"/>
              <a:ea typeface="Arial"/>
              <a:cs typeface="Arial"/>
              <a:sym typeface="Arial"/>
            </a:endParaRPr>
          </a:p>
        </p:txBody>
      </p:sp>
      <p:sp>
        <p:nvSpPr>
          <p:cNvPr id="118" name="Google Shape;118;p5"/>
          <p:cNvSpPr/>
          <p:nvPr/>
        </p:nvSpPr>
        <p:spPr>
          <a:xfrm>
            <a:off x="1020604" y="3947517"/>
            <a:ext cx="2636877" cy="35433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Euclidean Distance</a:t>
            </a:r>
            <a:endParaRPr b="0" i="0" sz="2200" u="none" cap="none" strike="noStrike">
              <a:solidFill>
                <a:srgbClr val="000000"/>
              </a:solidFill>
              <a:latin typeface="Arial"/>
              <a:ea typeface="Arial"/>
              <a:cs typeface="Arial"/>
              <a:sym typeface="Arial"/>
            </a:endParaRPr>
          </a:p>
        </p:txBody>
      </p:sp>
      <p:sp>
        <p:nvSpPr>
          <p:cNvPr id="119" name="Google Shape;119;p5"/>
          <p:cNvSpPr/>
          <p:nvPr/>
        </p:nvSpPr>
        <p:spPr>
          <a:xfrm>
            <a:off x="1020604" y="4437936"/>
            <a:ext cx="2636877" cy="145161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The most common metric, measuring straight-line distance between points in space</a:t>
            </a:r>
            <a:endParaRPr b="0" i="0" sz="1750" u="none" cap="none" strike="noStrike">
              <a:solidFill>
                <a:srgbClr val="000000"/>
              </a:solidFill>
              <a:latin typeface="Arial"/>
              <a:ea typeface="Arial"/>
              <a:cs typeface="Arial"/>
              <a:sym typeface="Arial"/>
            </a:endParaRPr>
          </a:p>
        </p:txBody>
      </p:sp>
      <p:sp>
        <p:nvSpPr>
          <p:cNvPr id="120" name="Google Shape;120;p5"/>
          <p:cNvSpPr/>
          <p:nvPr/>
        </p:nvSpPr>
        <p:spPr>
          <a:xfrm>
            <a:off x="5641181" y="3040261"/>
            <a:ext cx="30480" cy="680442"/>
          </a:xfrm>
          <a:prstGeom prst="roundRect">
            <a:avLst>
              <a:gd fmla="val 111628"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5"/>
          <p:cNvSpPr/>
          <p:nvPr/>
        </p:nvSpPr>
        <p:spPr>
          <a:xfrm>
            <a:off x="5401270" y="2785110"/>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5"/>
          <p:cNvSpPr/>
          <p:nvPr/>
        </p:nvSpPr>
        <p:spPr>
          <a:xfrm>
            <a:off x="5486340" y="2827615"/>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2</a:t>
            </a:r>
            <a:endParaRPr b="0" i="0" sz="2650" u="none" cap="none" strike="noStrike">
              <a:solidFill>
                <a:srgbClr val="000000"/>
              </a:solidFill>
              <a:latin typeface="Arial"/>
              <a:ea typeface="Arial"/>
              <a:cs typeface="Arial"/>
              <a:sym typeface="Arial"/>
            </a:endParaRPr>
          </a:p>
        </p:txBody>
      </p:sp>
      <p:sp>
        <p:nvSpPr>
          <p:cNvPr id="123" name="Google Shape;123;p5"/>
          <p:cNvSpPr/>
          <p:nvPr/>
        </p:nvSpPr>
        <p:spPr>
          <a:xfrm>
            <a:off x="4337923" y="3947517"/>
            <a:ext cx="2636996" cy="70866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Manhattan Distance</a:t>
            </a:r>
            <a:endParaRPr b="0" i="0" sz="2200" u="none" cap="none" strike="noStrike">
              <a:solidFill>
                <a:srgbClr val="000000"/>
              </a:solidFill>
              <a:latin typeface="Arial"/>
              <a:ea typeface="Arial"/>
              <a:cs typeface="Arial"/>
              <a:sym typeface="Arial"/>
            </a:endParaRPr>
          </a:p>
        </p:txBody>
      </p:sp>
      <p:sp>
        <p:nvSpPr>
          <p:cNvPr id="124" name="Google Shape;124;p5"/>
          <p:cNvSpPr/>
          <p:nvPr/>
        </p:nvSpPr>
        <p:spPr>
          <a:xfrm>
            <a:off x="4337923" y="4792266"/>
            <a:ext cx="2636996" cy="145161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Sum of absolute differences between points, useful for grid-like structures</a:t>
            </a:r>
            <a:endParaRPr b="0" i="0" sz="1750" u="none" cap="none" strike="noStrike">
              <a:solidFill>
                <a:srgbClr val="000000"/>
              </a:solidFill>
              <a:latin typeface="Arial"/>
              <a:ea typeface="Arial"/>
              <a:cs typeface="Arial"/>
              <a:sym typeface="Arial"/>
            </a:endParaRPr>
          </a:p>
        </p:txBody>
      </p:sp>
      <p:sp>
        <p:nvSpPr>
          <p:cNvPr id="125" name="Google Shape;125;p5"/>
          <p:cNvSpPr/>
          <p:nvPr/>
        </p:nvSpPr>
        <p:spPr>
          <a:xfrm>
            <a:off x="8958620" y="3040261"/>
            <a:ext cx="30480" cy="680442"/>
          </a:xfrm>
          <a:prstGeom prst="roundRect">
            <a:avLst>
              <a:gd fmla="val 111628"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5"/>
          <p:cNvSpPr/>
          <p:nvPr/>
        </p:nvSpPr>
        <p:spPr>
          <a:xfrm>
            <a:off x="8718709" y="2785110"/>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5"/>
          <p:cNvSpPr/>
          <p:nvPr/>
        </p:nvSpPr>
        <p:spPr>
          <a:xfrm>
            <a:off x="8803779" y="2827615"/>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3</a:t>
            </a:r>
            <a:endParaRPr b="0" i="0" sz="2650" u="none" cap="none" strike="noStrike">
              <a:solidFill>
                <a:srgbClr val="000000"/>
              </a:solidFill>
              <a:latin typeface="Arial"/>
              <a:ea typeface="Arial"/>
              <a:cs typeface="Arial"/>
              <a:sym typeface="Arial"/>
            </a:endParaRPr>
          </a:p>
        </p:txBody>
      </p:sp>
      <p:sp>
        <p:nvSpPr>
          <p:cNvPr id="128" name="Google Shape;128;p5"/>
          <p:cNvSpPr/>
          <p:nvPr/>
        </p:nvSpPr>
        <p:spPr>
          <a:xfrm>
            <a:off x="7655362" y="3947517"/>
            <a:ext cx="2636996" cy="35433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Cosine Similarity</a:t>
            </a:r>
            <a:endParaRPr b="0" i="0" sz="2200" u="none" cap="none" strike="noStrike">
              <a:solidFill>
                <a:srgbClr val="000000"/>
              </a:solidFill>
              <a:latin typeface="Arial"/>
              <a:ea typeface="Arial"/>
              <a:cs typeface="Arial"/>
              <a:sym typeface="Arial"/>
            </a:endParaRPr>
          </a:p>
        </p:txBody>
      </p:sp>
      <p:sp>
        <p:nvSpPr>
          <p:cNvPr id="129" name="Google Shape;129;p5"/>
          <p:cNvSpPr/>
          <p:nvPr/>
        </p:nvSpPr>
        <p:spPr>
          <a:xfrm>
            <a:off x="7655362" y="4437936"/>
            <a:ext cx="2636996" cy="1088708"/>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Measures angle between vectors, ideal for high-dimensional data</a:t>
            </a:r>
            <a:endParaRPr b="0" i="0" sz="1750" u="none" cap="none" strike="noStrike">
              <a:solidFill>
                <a:srgbClr val="000000"/>
              </a:solidFill>
              <a:latin typeface="Arial"/>
              <a:ea typeface="Arial"/>
              <a:cs typeface="Arial"/>
              <a:sym typeface="Arial"/>
            </a:endParaRPr>
          </a:p>
        </p:txBody>
      </p:sp>
      <p:sp>
        <p:nvSpPr>
          <p:cNvPr id="130" name="Google Shape;130;p5"/>
          <p:cNvSpPr/>
          <p:nvPr/>
        </p:nvSpPr>
        <p:spPr>
          <a:xfrm>
            <a:off x="12276058" y="3040261"/>
            <a:ext cx="30480" cy="680442"/>
          </a:xfrm>
          <a:prstGeom prst="roundRect">
            <a:avLst>
              <a:gd fmla="val 111628"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
          <p:cNvSpPr/>
          <p:nvPr/>
        </p:nvSpPr>
        <p:spPr>
          <a:xfrm>
            <a:off x="12036147" y="2785110"/>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5"/>
          <p:cNvSpPr/>
          <p:nvPr/>
        </p:nvSpPr>
        <p:spPr>
          <a:xfrm>
            <a:off x="12121217" y="2827615"/>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4</a:t>
            </a:r>
            <a:endParaRPr b="0" i="0" sz="2650" u="none" cap="none" strike="noStrike">
              <a:solidFill>
                <a:srgbClr val="000000"/>
              </a:solidFill>
              <a:latin typeface="Arial"/>
              <a:ea typeface="Arial"/>
              <a:cs typeface="Arial"/>
              <a:sym typeface="Arial"/>
            </a:endParaRPr>
          </a:p>
        </p:txBody>
      </p:sp>
      <p:sp>
        <p:nvSpPr>
          <p:cNvPr id="133" name="Google Shape;133;p5"/>
          <p:cNvSpPr/>
          <p:nvPr/>
        </p:nvSpPr>
        <p:spPr>
          <a:xfrm>
            <a:off x="10972800" y="3947517"/>
            <a:ext cx="2636996" cy="70866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Minkowski Distance</a:t>
            </a:r>
            <a:endParaRPr b="0" i="0" sz="2200" u="none" cap="none" strike="noStrike">
              <a:solidFill>
                <a:srgbClr val="000000"/>
              </a:solidFill>
              <a:latin typeface="Arial"/>
              <a:ea typeface="Arial"/>
              <a:cs typeface="Arial"/>
              <a:sym typeface="Arial"/>
            </a:endParaRPr>
          </a:p>
        </p:txBody>
      </p:sp>
      <p:sp>
        <p:nvSpPr>
          <p:cNvPr id="134" name="Google Shape;134;p5"/>
          <p:cNvSpPr/>
          <p:nvPr/>
        </p:nvSpPr>
        <p:spPr>
          <a:xfrm>
            <a:off x="10972800" y="4792266"/>
            <a:ext cx="2636996" cy="181451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Generalization of Euclidean and Manhattan distances, offering flexible distance calculation</a:t>
            </a:r>
            <a:endParaRPr b="0" i="0" sz="1750" u="none" cap="none" strike="noStrike">
              <a:solidFill>
                <a:srgbClr val="000000"/>
              </a:solidFill>
              <a:latin typeface="Arial"/>
              <a:ea typeface="Arial"/>
              <a:cs typeface="Arial"/>
              <a:sym typeface="Arial"/>
            </a:endParaRPr>
          </a:p>
        </p:txBody>
      </p:sp>
      <p:pic>
        <p:nvPicPr>
          <p:cNvPr descr="preencoded.png" id="135" name="Google Shape;135;p5"/>
          <p:cNvPicPr preferRelativeResize="0"/>
          <p:nvPr/>
        </p:nvPicPr>
        <p:blipFill rotWithShape="1">
          <a:blip r:embed="rId3">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preencoded.png" id="141" name="Google Shape;141;p6"/>
          <p:cNvPicPr preferRelativeResize="0"/>
          <p:nvPr/>
        </p:nvPicPr>
        <p:blipFill rotWithShape="1">
          <a:blip r:embed="rId3">
            <a:alphaModFix/>
          </a:blip>
          <a:srcRect b="0" l="0" r="0" t="0"/>
          <a:stretch/>
        </p:blipFill>
        <p:spPr>
          <a:xfrm>
            <a:off x="283488" y="1903095"/>
            <a:ext cx="4919305" cy="4423291"/>
          </a:xfrm>
          <a:prstGeom prst="rect">
            <a:avLst/>
          </a:prstGeom>
          <a:noFill/>
          <a:ln>
            <a:noFill/>
          </a:ln>
        </p:spPr>
      </p:pic>
      <p:sp>
        <p:nvSpPr>
          <p:cNvPr id="142" name="Google Shape;142;p6"/>
          <p:cNvSpPr/>
          <p:nvPr/>
        </p:nvSpPr>
        <p:spPr>
          <a:xfrm>
            <a:off x="6280190" y="1585912"/>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Euclidean Distance</a:t>
            </a:r>
            <a:endParaRPr b="0" i="0" sz="4450" u="none" cap="none" strike="noStrike">
              <a:solidFill>
                <a:srgbClr val="000000"/>
              </a:solidFill>
              <a:latin typeface="Arial"/>
              <a:ea typeface="Arial"/>
              <a:cs typeface="Arial"/>
              <a:sym typeface="Arial"/>
            </a:endParaRPr>
          </a:p>
        </p:txBody>
      </p:sp>
      <p:sp>
        <p:nvSpPr>
          <p:cNvPr id="143" name="Google Shape;143;p6"/>
          <p:cNvSpPr/>
          <p:nvPr/>
        </p:nvSpPr>
        <p:spPr>
          <a:xfrm>
            <a:off x="6280190" y="2634853"/>
            <a:ext cx="75564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The Euclidean distance is the most widely used distance measure in clustering. It calculates the straight-line distance between two points in n-dimensional space.</a:t>
            </a:r>
            <a:endParaRPr b="0" i="0" sz="1750" u="none" cap="none" strike="noStrike">
              <a:solidFill>
                <a:srgbClr val="000000"/>
              </a:solidFill>
              <a:latin typeface="Arial"/>
              <a:ea typeface="Arial"/>
              <a:cs typeface="Arial"/>
              <a:sym typeface="Arial"/>
            </a:endParaRPr>
          </a:p>
        </p:txBody>
      </p:sp>
      <p:sp>
        <p:nvSpPr>
          <p:cNvPr id="144" name="Google Shape;144;p6"/>
          <p:cNvSpPr/>
          <p:nvPr/>
        </p:nvSpPr>
        <p:spPr>
          <a:xfrm>
            <a:off x="6280190" y="3978712"/>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The formula for Euclidean distance between two points A(x₁, y₁) and B(x₂, y₂) is:</a:t>
            </a:r>
            <a:endParaRPr b="0" i="0" sz="1750" u="none" cap="none" strike="noStrike">
              <a:solidFill>
                <a:srgbClr val="000000"/>
              </a:solidFill>
              <a:latin typeface="Arial"/>
              <a:ea typeface="Arial"/>
              <a:cs typeface="Arial"/>
              <a:sym typeface="Arial"/>
            </a:endParaRPr>
          </a:p>
        </p:txBody>
      </p:sp>
      <p:sp>
        <p:nvSpPr>
          <p:cNvPr id="145" name="Google Shape;145;p6"/>
          <p:cNvSpPr/>
          <p:nvPr/>
        </p:nvSpPr>
        <p:spPr>
          <a:xfrm>
            <a:off x="6280190" y="4959668"/>
            <a:ext cx="7556421" cy="702945"/>
          </a:xfrm>
          <a:prstGeom prst="roundRect">
            <a:avLst>
              <a:gd fmla="val 4840" name="adj"/>
            </a:avLst>
          </a:prstGeom>
          <a:solidFill>
            <a:srgbClr val="F3E3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6"/>
          <p:cNvSpPr/>
          <p:nvPr/>
        </p:nvSpPr>
        <p:spPr>
          <a:xfrm>
            <a:off x="6268879" y="4959668"/>
            <a:ext cx="7579043" cy="702945"/>
          </a:xfrm>
          <a:prstGeom prst="roundRect">
            <a:avLst>
              <a:gd fmla="val 4840" name="adj"/>
            </a:avLst>
          </a:prstGeom>
          <a:solidFill>
            <a:srgbClr val="F3E3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6"/>
          <p:cNvSpPr/>
          <p:nvPr/>
        </p:nvSpPr>
        <p:spPr>
          <a:xfrm>
            <a:off x="6495693" y="5129689"/>
            <a:ext cx="7125414"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Consolas"/>
              <a:buNone/>
            </a:pPr>
            <a:r>
              <a:rPr b="0" i="0" lang="en-US" sz="1750" u="none" cap="none" strike="noStrike">
                <a:solidFill>
                  <a:srgbClr val="504C49"/>
                </a:solidFill>
                <a:highlight>
                  <a:srgbClr val="F3E3D8"/>
                </a:highlight>
                <a:latin typeface="Consolas"/>
                <a:ea typeface="Consolas"/>
                <a:cs typeface="Consolas"/>
                <a:sym typeface="Consolas"/>
              </a:rPr>
              <a:t>d(A,B) = √[(x₂ - x₁)² + (y₂ - y₁)²]</a:t>
            </a:r>
            <a:endParaRPr b="0" i="0" sz="1750" u="none" cap="none" strike="noStrike">
              <a:solidFill>
                <a:srgbClr val="000000"/>
              </a:solidFill>
              <a:latin typeface="Arial"/>
              <a:ea typeface="Arial"/>
              <a:cs typeface="Arial"/>
              <a:sym typeface="Arial"/>
            </a:endParaRPr>
          </a:p>
        </p:txBody>
      </p:sp>
      <p:sp>
        <p:nvSpPr>
          <p:cNvPr id="148" name="Google Shape;148;p6"/>
          <p:cNvSpPr/>
          <p:nvPr/>
        </p:nvSpPr>
        <p:spPr>
          <a:xfrm>
            <a:off x="6280190" y="5917763"/>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The Euclidean distance always measures the shortest possible path between two points, represented by a straight line.</a:t>
            </a:r>
            <a:endParaRPr b="0" i="0" sz="1750" u="none" cap="none" strike="noStrike">
              <a:solidFill>
                <a:srgbClr val="000000"/>
              </a:solidFill>
              <a:latin typeface="Arial"/>
              <a:ea typeface="Arial"/>
              <a:cs typeface="Arial"/>
              <a:sym typeface="Arial"/>
            </a:endParaRPr>
          </a:p>
        </p:txBody>
      </p:sp>
      <p:pic>
        <p:nvPicPr>
          <p:cNvPr descr="preencoded.png" id="149" name="Google Shape;149;p6"/>
          <p:cNvPicPr preferRelativeResize="0"/>
          <p:nvPr/>
        </p:nvPicPr>
        <p:blipFill rotWithShape="1">
          <a:blip r:embed="rId4">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descr="preencoded.png" id="155" name="Google Shape;155;p7"/>
          <p:cNvPicPr preferRelativeResize="0"/>
          <p:nvPr/>
        </p:nvPicPr>
        <p:blipFill rotWithShape="1">
          <a:blip r:embed="rId3">
            <a:alphaModFix/>
          </a:blip>
          <a:srcRect b="0" l="0" r="0" t="0"/>
          <a:stretch/>
        </p:blipFill>
        <p:spPr>
          <a:xfrm>
            <a:off x="9417606" y="2151936"/>
            <a:ext cx="4939070" cy="3926562"/>
          </a:xfrm>
          <a:prstGeom prst="rect">
            <a:avLst/>
          </a:prstGeom>
          <a:noFill/>
          <a:ln>
            <a:noFill/>
          </a:ln>
        </p:spPr>
      </p:pic>
      <p:sp>
        <p:nvSpPr>
          <p:cNvPr id="156" name="Google Shape;156;p7"/>
          <p:cNvSpPr/>
          <p:nvPr/>
        </p:nvSpPr>
        <p:spPr>
          <a:xfrm>
            <a:off x="766167" y="601980"/>
            <a:ext cx="5472946" cy="684133"/>
          </a:xfrm>
          <a:prstGeom prst="rect">
            <a:avLst/>
          </a:prstGeom>
          <a:noFill/>
          <a:ln>
            <a:noFill/>
          </a:ln>
        </p:spPr>
        <p:txBody>
          <a:bodyPr anchorCtr="0" anchor="t" bIns="0" lIns="0" spcFirstLastPara="1" rIns="0" wrap="square" tIns="0">
            <a:noAutofit/>
          </a:bodyPr>
          <a:lstStyle/>
          <a:p>
            <a:pPr indent="0" lvl="0" marL="0" marR="0" rtl="0" algn="l">
              <a:lnSpc>
                <a:spcPct val="124418"/>
              </a:lnSpc>
              <a:spcBef>
                <a:spcPts val="0"/>
              </a:spcBef>
              <a:spcAft>
                <a:spcPts val="0"/>
              </a:spcAft>
              <a:buClr>
                <a:srgbClr val="201B18"/>
              </a:buClr>
              <a:buSzPts val="4300"/>
              <a:buFont typeface="Platypi Medium"/>
              <a:buNone/>
            </a:pPr>
            <a:r>
              <a:rPr b="0" i="0" lang="en-US" sz="4300" u="none" cap="none" strike="noStrike">
                <a:solidFill>
                  <a:srgbClr val="201B18"/>
                </a:solidFill>
                <a:latin typeface="Platypi Medium"/>
                <a:ea typeface="Platypi Medium"/>
                <a:cs typeface="Platypi Medium"/>
                <a:sym typeface="Platypi Medium"/>
              </a:rPr>
              <a:t>Cosine Similarity</a:t>
            </a:r>
            <a:endParaRPr b="0" i="0" sz="4300" u="none" cap="none" strike="noStrike">
              <a:solidFill>
                <a:srgbClr val="000000"/>
              </a:solidFill>
              <a:latin typeface="Arial"/>
              <a:ea typeface="Arial"/>
              <a:cs typeface="Arial"/>
              <a:sym typeface="Arial"/>
            </a:endParaRPr>
          </a:p>
        </p:txBody>
      </p:sp>
      <p:sp>
        <p:nvSpPr>
          <p:cNvPr id="157" name="Google Shape;157;p7"/>
          <p:cNvSpPr/>
          <p:nvPr/>
        </p:nvSpPr>
        <p:spPr>
          <a:xfrm>
            <a:off x="766167" y="1614488"/>
            <a:ext cx="7611666" cy="700564"/>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504C49"/>
              </a:buClr>
              <a:buSzPts val="1700"/>
              <a:buFont typeface="Arial"/>
              <a:buNone/>
            </a:pPr>
            <a:r>
              <a:rPr b="0" i="0" lang="en-US" sz="1700" u="none" cap="none" strike="noStrike">
                <a:solidFill>
                  <a:srgbClr val="504C49"/>
                </a:solidFill>
                <a:latin typeface="Arial"/>
                <a:ea typeface="Arial"/>
                <a:cs typeface="Arial"/>
                <a:sym typeface="Arial"/>
              </a:rPr>
              <a:t>Measures the cosine of the angle between two vectors, focusing on orientation rather than magnitude.</a:t>
            </a:r>
            <a:endParaRPr b="0" i="0" sz="1700" u="none" cap="none" strike="noStrike">
              <a:solidFill>
                <a:srgbClr val="000000"/>
              </a:solidFill>
              <a:latin typeface="Arial"/>
              <a:ea typeface="Arial"/>
              <a:cs typeface="Arial"/>
              <a:sym typeface="Arial"/>
            </a:endParaRPr>
          </a:p>
        </p:txBody>
      </p:sp>
      <p:sp>
        <p:nvSpPr>
          <p:cNvPr id="158" name="Google Shape;158;p7"/>
          <p:cNvSpPr/>
          <p:nvPr/>
        </p:nvSpPr>
        <p:spPr>
          <a:xfrm>
            <a:off x="766167" y="2561273"/>
            <a:ext cx="7611666" cy="678656"/>
          </a:xfrm>
          <a:prstGeom prst="roundRect">
            <a:avLst>
              <a:gd fmla="val 4839" name="adj"/>
            </a:avLst>
          </a:prstGeom>
          <a:solidFill>
            <a:srgbClr val="F3E3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7"/>
          <p:cNvSpPr/>
          <p:nvPr/>
        </p:nvSpPr>
        <p:spPr>
          <a:xfrm>
            <a:off x="755333" y="2561273"/>
            <a:ext cx="7633335" cy="678656"/>
          </a:xfrm>
          <a:prstGeom prst="roundRect">
            <a:avLst>
              <a:gd fmla="val 4839" name="adj"/>
            </a:avLst>
          </a:prstGeom>
          <a:solidFill>
            <a:srgbClr val="F3E3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7"/>
          <p:cNvSpPr/>
          <p:nvPr/>
        </p:nvSpPr>
        <p:spPr>
          <a:xfrm>
            <a:off x="974169" y="2725460"/>
            <a:ext cx="7195661" cy="350282"/>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504C49"/>
              </a:buClr>
              <a:buSzPts val="1700"/>
              <a:buFont typeface="Consolas"/>
              <a:buNone/>
            </a:pPr>
            <a:r>
              <a:rPr b="0" i="0" lang="en-US" sz="1700" u="none" cap="none" strike="noStrike">
                <a:solidFill>
                  <a:srgbClr val="504C49"/>
                </a:solidFill>
                <a:highlight>
                  <a:srgbClr val="F3E3D8"/>
                </a:highlight>
                <a:latin typeface="Consolas"/>
                <a:ea typeface="Consolas"/>
                <a:cs typeface="Consolas"/>
                <a:sym typeface="Consolas"/>
              </a:rPr>
              <a:t>cos(θ) = (A·B)/(||A||·||B||)</a:t>
            </a:r>
            <a:endParaRPr b="0" i="0" sz="1700" u="none" cap="none" strike="noStrike">
              <a:solidFill>
                <a:srgbClr val="000000"/>
              </a:solidFill>
              <a:latin typeface="Arial"/>
              <a:ea typeface="Arial"/>
              <a:cs typeface="Arial"/>
              <a:sym typeface="Arial"/>
            </a:endParaRPr>
          </a:p>
        </p:txBody>
      </p:sp>
      <p:sp>
        <p:nvSpPr>
          <p:cNvPr id="161" name="Google Shape;161;p7"/>
          <p:cNvSpPr/>
          <p:nvPr/>
        </p:nvSpPr>
        <p:spPr>
          <a:xfrm>
            <a:off x="766167" y="3486150"/>
            <a:ext cx="3696414" cy="1961793"/>
          </a:xfrm>
          <a:prstGeom prst="roundRect">
            <a:avLst>
              <a:gd fmla="val 1674"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7"/>
          <p:cNvSpPr/>
          <p:nvPr/>
        </p:nvSpPr>
        <p:spPr>
          <a:xfrm>
            <a:off x="985004" y="3704987"/>
            <a:ext cx="2736413" cy="341948"/>
          </a:xfrm>
          <a:prstGeom prst="rect">
            <a:avLst/>
          </a:prstGeom>
          <a:noFill/>
          <a:ln>
            <a:noFill/>
          </a:ln>
        </p:spPr>
        <p:txBody>
          <a:bodyPr anchorCtr="0" anchor="t" bIns="0" lIns="0" spcFirstLastPara="1" rIns="0" wrap="square" tIns="0">
            <a:noAutofit/>
          </a:bodyPr>
          <a:lstStyle/>
          <a:p>
            <a:pPr indent="0" lvl="0" marL="0" marR="0" rtl="0" algn="l">
              <a:lnSpc>
                <a:spcPct val="123255"/>
              </a:lnSpc>
              <a:spcBef>
                <a:spcPts val="0"/>
              </a:spcBef>
              <a:spcAft>
                <a:spcPts val="0"/>
              </a:spcAft>
              <a:buClr>
                <a:srgbClr val="504C49"/>
              </a:buClr>
              <a:buSzPts val="2150"/>
              <a:buFont typeface="Platypi Medium"/>
              <a:buNone/>
            </a:pPr>
            <a:r>
              <a:rPr b="0" i="0" lang="en-US" sz="2150" u="none" cap="none" strike="noStrike">
                <a:solidFill>
                  <a:srgbClr val="504C49"/>
                </a:solidFill>
                <a:latin typeface="Platypi Medium"/>
                <a:ea typeface="Platypi Medium"/>
                <a:cs typeface="Platypi Medium"/>
                <a:sym typeface="Platypi Medium"/>
              </a:rPr>
              <a:t>Definition</a:t>
            </a:r>
            <a:endParaRPr b="0" i="0" sz="2150" u="none" cap="none" strike="noStrike">
              <a:solidFill>
                <a:srgbClr val="000000"/>
              </a:solidFill>
              <a:latin typeface="Arial"/>
              <a:ea typeface="Arial"/>
              <a:cs typeface="Arial"/>
              <a:sym typeface="Arial"/>
            </a:endParaRPr>
          </a:p>
        </p:txBody>
      </p:sp>
      <p:sp>
        <p:nvSpPr>
          <p:cNvPr id="163" name="Google Shape;163;p7"/>
          <p:cNvSpPr/>
          <p:nvPr/>
        </p:nvSpPr>
        <p:spPr>
          <a:xfrm>
            <a:off x="985004" y="4178260"/>
            <a:ext cx="3258741" cy="1050846"/>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504C49"/>
              </a:buClr>
              <a:buSzPts val="1700"/>
              <a:buFont typeface="Arial"/>
              <a:buNone/>
            </a:pPr>
            <a:r>
              <a:rPr b="0" i="0" lang="en-US" sz="1700" u="none" cap="none" strike="noStrike">
                <a:solidFill>
                  <a:srgbClr val="504C49"/>
                </a:solidFill>
                <a:latin typeface="Arial"/>
                <a:ea typeface="Arial"/>
                <a:cs typeface="Arial"/>
                <a:sym typeface="Arial"/>
              </a:rPr>
              <a:t>Calculates alignment between vectors by finding the cosine of their angle</a:t>
            </a:r>
            <a:endParaRPr b="0" i="0" sz="1700" u="none" cap="none" strike="noStrike">
              <a:solidFill>
                <a:srgbClr val="000000"/>
              </a:solidFill>
              <a:latin typeface="Arial"/>
              <a:ea typeface="Arial"/>
              <a:cs typeface="Arial"/>
              <a:sym typeface="Arial"/>
            </a:endParaRPr>
          </a:p>
        </p:txBody>
      </p:sp>
      <p:sp>
        <p:nvSpPr>
          <p:cNvPr id="164" name="Google Shape;164;p7"/>
          <p:cNvSpPr/>
          <p:nvPr/>
        </p:nvSpPr>
        <p:spPr>
          <a:xfrm>
            <a:off x="4681418" y="3486150"/>
            <a:ext cx="3696414" cy="1961793"/>
          </a:xfrm>
          <a:prstGeom prst="roundRect">
            <a:avLst>
              <a:gd fmla="val 1674"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7"/>
          <p:cNvSpPr/>
          <p:nvPr/>
        </p:nvSpPr>
        <p:spPr>
          <a:xfrm>
            <a:off x="4900255" y="3704987"/>
            <a:ext cx="2736413" cy="341948"/>
          </a:xfrm>
          <a:prstGeom prst="rect">
            <a:avLst/>
          </a:prstGeom>
          <a:noFill/>
          <a:ln>
            <a:noFill/>
          </a:ln>
        </p:spPr>
        <p:txBody>
          <a:bodyPr anchorCtr="0" anchor="t" bIns="0" lIns="0" spcFirstLastPara="1" rIns="0" wrap="square" tIns="0">
            <a:noAutofit/>
          </a:bodyPr>
          <a:lstStyle/>
          <a:p>
            <a:pPr indent="0" lvl="0" marL="0" marR="0" rtl="0" algn="l">
              <a:lnSpc>
                <a:spcPct val="123255"/>
              </a:lnSpc>
              <a:spcBef>
                <a:spcPts val="0"/>
              </a:spcBef>
              <a:spcAft>
                <a:spcPts val="0"/>
              </a:spcAft>
              <a:buClr>
                <a:srgbClr val="504C49"/>
              </a:buClr>
              <a:buSzPts val="2150"/>
              <a:buFont typeface="Platypi Medium"/>
              <a:buNone/>
            </a:pPr>
            <a:r>
              <a:rPr b="0" i="0" lang="en-US" sz="2150" u="none" cap="none" strike="noStrike">
                <a:solidFill>
                  <a:srgbClr val="504C49"/>
                </a:solidFill>
                <a:latin typeface="Platypi Medium"/>
                <a:ea typeface="Platypi Medium"/>
                <a:cs typeface="Platypi Medium"/>
                <a:sym typeface="Platypi Medium"/>
              </a:rPr>
              <a:t>Key Property</a:t>
            </a:r>
            <a:endParaRPr b="0" i="0" sz="2150" u="none" cap="none" strike="noStrike">
              <a:solidFill>
                <a:srgbClr val="000000"/>
              </a:solidFill>
              <a:latin typeface="Arial"/>
              <a:ea typeface="Arial"/>
              <a:cs typeface="Arial"/>
              <a:sym typeface="Arial"/>
            </a:endParaRPr>
          </a:p>
        </p:txBody>
      </p:sp>
      <p:sp>
        <p:nvSpPr>
          <p:cNvPr id="166" name="Google Shape;166;p7"/>
          <p:cNvSpPr/>
          <p:nvPr/>
        </p:nvSpPr>
        <p:spPr>
          <a:xfrm>
            <a:off x="4900255" y="4178260"/>
            <a:ext cx="3258741" cy="1050846"/>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504C49"/>
              </a:buClr>
              <a:buSzPts val="1700"/>
              <a:buFont typeface="Arial"/>
              <a:buNone/>
            </a:pPr>
            <a:r>
              <a:rPr b="0" i="0" lang="en-US" sz="1700" u="none" cap="none" strike="noStrike">
                <a:solidFill>
                  <a:srgbClr val="504C49"/>
                </a:solidFill>
                <a:latin typeface="Arial"/>
                <a:ea typeface="Arial"/>
                <a:cs typeface="Arial"/>
                <a:sym typeface="Arial"/>
              </a:rPr>
              <a:t>Higher values (closer to 1) indicate greater similarity between vectors</a:t>
            </a:r>
            <a:endParaRPr b="0" i="0" sz="1700" u="none" cap="none" strike="noStrike">
              <a:solidFill>
                <a:srgbClr val="000000"/>
              </a:solidFill>
              <a:latin typeface="Arial"/>
              <a:ea typeface="Arial"/>
              <a:cs typeface="Arial"/>
              <a:sym typeface="Arial"/>
            </a:endParaRPr>
          </a:p>
        </p:txBody>
      </p:sp>
      <p:sp>
        <p:nvSpPr>
          <p:cNvPr id="167" name="Google Shape;167;p7"/>
          <p:cNvSpPr/>
          <p:nvPr/>
        </p:nvSpPr>
        <p:spPr>
          <a:xfrm>
            <a:off x="766167" y="5666780"/>
            <a:ext cx="3696414" cy="1961793"/>
          </a:xfrm>
          <a:prstGeom prst="roundRect">
            <a:avLst>
              <a:gd fmla="val 1674"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7"/>
          <p:cNvSpPr/>
          <p:nvPr/>
        </p:nvSpPr>
        <p:spPr>
          <a:xfrm>
            <a:off x="985004" y="5885617"/>
            <a:ext cx="2736413" cy="341948"/>
          </a:xfrm>
          <a:prstGeom prst="rect">
            <a:avLst/>
          </a:prstGeom>
          <a:noFill/>
          <a:ln>
            <a:noFill/>
          </a:ln>
        </p:spPr>
        <p:txBody>
          <a:bodyPr anchorCtr="0" anchor="t" bIns="0" lIns="0" spcFirstLastPara="1" rIns="0" wrap="square" tIns="0">
            <a:noAutofit/>
          </a:bodyPr>
          <a:lstStyle/>
          <a:p>
            <a:pPr indent="0" lvl="0" marL="0" marR="0" rtl="0" algn="l">
              <a:lnSpc>
                <a:spcPct val="123255"/>
              </a:lnSpc>
              <a:spcBef>
                <a:spcPts val="0"/>
              </a:spcBef>
              <a:spcAft>
                <a:spcPts val="0"/>
              </a:spcAft>
              <a:buClr>
                <a:srgbClr val="504C49"/>
              </a:buClr>
              <a:buSzPts val="2150"/>
              <a:buFont typeface="Platypi Medium"/>
              <a:buNone/>
            </a:pPr>
            <a:r>
              <a:rPr b="0" i="0" lang="en-US" sz="2150" u="none" cap="none" strike="noStrike">
                <a:solidFill>
                  <a:srgbClr val="504C49"/>
                </a:solidFill>
                <a:latin typeface="Platypi Medium"/>
                <a:ea typeface="Platypi Medium"/>
                <a:cs typeface="Platypi Medium"/>
                <a:sym typeface="Platypi Medium"/>
              </a:rPr>
              <a:t>Applications</a:t>
            </a:r>
            <a:endParaRPr b="0" i="0" sz="2150" u="none" cap="none" strike="noStrike">
              <a:solidFill>
                <a:srgbClr val="000000"/>
              </a:solidFill>
              <a:latin typeface="Arial"/>
              <a:ea typeface="Arial"/>
              <a:cs typeface="Arial"/>
              <a:sym typeface="Arial"/>
            </a:endParaRPr>
          </a:p>
        </p:txBody>
      </p:sp>
      <p:sp>
        <p:nvSpPr>
          <p:cNvPr id="169" name="Google Shape;169;p7"/>
          <p:cNvSpPr/>
          <p:nvPr/>
        </p:nvSpPr>
        <p:spPr>
          <a:xfrm>
            <a:off x="985004" y="6358890"/>
            <a:ext cx="3258741" cy="1050846"/>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504C49"/>
              </a:buClr>
              <a:buSzPts val="1700"/>
              <a:buFont typeface="Arial"/>
              <a:buNone/>
            </a:pPr>
            <a:r>
              <a:rPr b="0" i="0" lang="en-US" sz="1700" u="none" cap="none" strike="noStrike">
                <a:solidFill>
                  <a:srgbClr val="504C49"/>
                </a:solidFill>
                <a:latin typeface="Arial"/>
                <a:ea typeface="Arial"/>
                <a:cs typeface="Arial"/>
                <a:sym typeface="Arial"/>
              </a:rPr>
              <a:t>Ideal for text analysis, document comparison, and recommendation systems</a:t>
            </a:r>
            <a:endParaRPr b="0" i="0" sz="1700" u="none" cap="none" strike="noStrike">
              <a:solidFill>
                <a:srgbClr val="000000"/>
              </a:solidFill>
              <a:latin typeface="Arial"/>
              <a:ea typeface="Arial"/>
              <a:cs typeface="Arial"/>
              <a:sym typeface="Arial"/>
            </a:endParaRPr>
          </a:p>
        </p:txBody>
      </p:sp>
      <p:sp>
        <p:nvSpPr>
          <p:cNvPr id="170" name="Google Shape;170;p7"/>
          <p:cNvSpPr/>
          <p:nvPr/>
        </p:nvSpPr>
        <p:spPr>
          <a:xfrm>
            <a:off x="4681418" y="5666780"/>
            <a:ext cx="3696414" cy="1961793"/>
          </a:xfrm>
          <a:prstGeom prst="roundRect">
            <a:avLst>
              <a:gd fmla="val 1674"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7"/>
          <p:cNvSpPr/>
          <p:nvPr/>
        </p:nvSpPr>
        <p:spPr>
          <a:xfrm>
            <a:off x="4900255" y="5885617"/>
            <a:ext cx="2736413" cy="341948"/>
          </a:xfrm>
          <a:prstGeom prst="rect">
            <a:avLst/>
          </a:prstGeom>
          <a:noFill/>
          <a:ln>
            <a:noFill/>
          </a:ln>
        </p:spPr>
        <p:txBody>
          <a:bodyPr anchorCtr="0" anchor="t" bIns="0" lIns="0" spcFirstLastPara="1" rIns="0" wrap="square" tIns="0">
            <a:noAutofit/>
          </a:bodyPr>
          <a:lstStyle/>
          <a:p>
            <a:pPr indent="0" lvl="0" marL="0" marR="0" rtl="0" algn="l">
              <a:lnSpc>
                <a:spcPct val="123255"/>
              </a:lnSpc>
              <a:spcBef>
                <a:spcPts val="0"/>
              </a:spcBef>
              <a:spcAft>
                <a:spcPts val="0"/>
              </a:spcAft>
              <a:buClr>
                <a:srgbClr val="504C49"/>
              </a:buClr>
              <a:buSzPts val="2150"/>
              <a:buFont typeface="Platypi Medium"/>
              <a:buNone/>
            </a:pPr>
            <a:r>
              <a:rPr b="0" i="0" lang="en-US" sz="2150" u="none" cap="none" strike="noStrike">
                <a:solidFill>
                  <a:srgbClr val="504C49"/>
                </a:solidFill>
                <a:latin typeface="Platypi Medium"/>
                <a:ea typeface="Platypi Medium"/>
                <a:cs typeface="Platypi Medium"/>
                <a:sym typeface="Platypi Medium"/>
              </a:rPr>
              <a:t>Advantage</a:t>
            </a:r>
            <a:endParaRPr b="0" i="0" sz="2150" u="none" cap="none" strike="noStrike">
              <a:solidFill>
                <a:srgbClr val="000000"/>
              </a:solidFill>
              <a:latin typeface="Arial"/>
              <a:ea typeface="Arial"/>
              <a:cs typeface="Arial"/>
              <a:sym typeface="Arial"/>
            </a:endParaRPr>
          </a:p>
        </p:txBody>
      </p:sp>
      <p:sp>
        <p:nvSpPr>
          <p:cNvPr id="172" name="Google Shape;172;p7"/>
          <p:cNvSpPr/>
          <p:nvPr/>
        </p:nvSpPr>
        <p:spPr>
          <a:xfrm>
            <a:off x="4900255" y="6358890"/>
            <a:ext cx="3258741" cy="700564"/>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504C49"/>
              </a:buClr>
              <a:buSzPts val="1700"/>
              <a:buFont typeface="Arial"/>
              <a:buNone/>
            </a:pPr>
            <a:r>
              <a:rPr b="0" i="0" lang="en-US" sz="1700" u="none" cap="none" strike="noStrike">
                <a:solidFill>
                  <a:srgbClr val="504C49"/>
                </a:solidFill>
                <a:latin typeface="Arial"/>
                <a:ea typeface="Arial"/>
                <a:cs typeface="Arial"/>
                <a:sym typeface="Arial"/>
              </a:rPr>
              <a:t>Ignores magnitude differences, focusing on directional similarity</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preencoded.png" id="178" name="Google Shape;178;p8"/>
          <p:cNvPicPr preferRelativeResize="0"/>
          <p:nvPr/>
        </p:nvPicPr>
        <p:blipFill rotWithShape="1">
          <a:blip r:embed="rId3">
            <a:alphaModFix/>
          </a:blip>
          <a:srcRect b="0" l="0" r="0" t="0"/>
          <a:stretch/>
        </p:blipFill>
        <p:spPr>
          <a:xfrm>
            <a:off x="582930" y="2381250"/>
            <a:ext cx="4320540" cy="3467100"/>
          </a:xfrm>
          <a:prstGeom prst="rect">
            <a:avLst/>
          </a:prstGeom>
          <a:noFill/>
          <a:ln>
            <a:noFill/>
          </a:ln>
        </p:spPr>
      </p:pic>
      <p:sp>
        <p:nvSpPr>
          <p:cNvPr id="179" name="Google Shape;179;p8"/>
          <p:cNvSpPr/>
          <p:nvPr/>
        </p:nvSpPr>
        <p:spPr>
          <a:xfrm>
            <a:off x="6280190" y="1935361"/>
            <a:ext cx="6456096"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Manhattan Distance</a:t>
            </a:r>
            <a:endParaRPr b="0" i="0" sz="4450" u="none" cap="none" strike="noStrike">
              <a:solidFill>
                <a:srgbClr val="000000"/>
              </a:solidFill>
              <a:latin typeface="Arial"/>
              <a:ea typeface="Arial"/>
              <a:cs typeface="Arial"/>
              <a:sym typeface="Arial"/>
            </a:endParaRPr>
          </a:p>
        </p:txBody>
      </p:sp>
      <p:sp>
        <p:nvSpPr>
          <p:cNvPr id="180" name="Google Shape;180;p8"/>
          <p:cNvSpPr/>
          <p:nvPr/>
        </p:nvSpPr>
        <p:spPr>
          <a:xfrm>
            <a:off x="6280190" y="2984302"/>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Measures the total </a:t>
            </a:r>
            <a:r>
              <a:rPr b="1" i="0" lang="en-US" sz="1750" u="none" cap="none" strike="noStrike">
                <a:solidFill>
                  <a:srgbClr val="504C49"/>
                </a:solidFill>
                <a:latin typeface="Arial"/>
                <a:ea typeface="Arial"/>
                <a:cs typeface="Arial"/>
                <a:sym typeface="Arial"/>
              </a:rPr>
              <a:t>absolute differences</a:t>
            </a:r>
            <a:r>
              <a:rPr b="0" i="0" lang="en-US" sz="1750" u="none" cap="none" strike="noStrike">
                <a:solidFill>
                  <a:srgbClr val="504C49"/>
                </a:solidFill>
                <a:latin typeface="Arial"/>
                <a:ea typeface="Arial"/>
                <a:cs typeface="Arial"/>
                <a:sym typeface="Arial"/>
              </a:rPr>
              <a:t> between the Cartesian coordinates of two points.</a:t>
            </a:r>
            <a:endParaRPr b="0" i="0" sz="1750" u="none" cap="none" strike="noStrike">
              <a:solidFill>
                <a:srgbClr val="000000"/>
              </a:solidFill>
              <a:latin typeface="Arial"/>
              <a:ea typeface="Arial"/>
              <a:cs typeface="Arial"/>
              <a:sym typeface="Arial"/>
            </a:endParaRPr>
          </a:p>
        </p:txBody>
      </p:sp>
      <p:sp>
        <p:nvSpPr>
          <p:cNvPr id="181" name="Google Shape;181;p8"/>
          <p:cNvSpPr/>
          <p:nvPr/>
        </p:nvSpPr>
        <p:spPr>
          <a:xfrm>
            <a:off x="6280190" y="3789402"/>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1" i="0" lang="en-US" sz="1750" u="none" cap="none" strike="noStrike">
                <a:solidFill>
                  <a:srgbClr val="504C49"/>
                </a:solidFill>
                <a:latin typeface="Arial"/>
                <a:ea typeface="Arial"/>
                <a:cs typeface="Arial"/>
                <a:sym typeface="Arial"/>
              </a:rPr>
              <a:t>Analogy</a:t>
            </a:r>
            <a:r>
              <a:rPr b="0" i="0" lang="en-US" sz="1750" u="none" cap="none" strike="noStrike">
                <a:solidFill>
                  <a:srgbClr val="504C49"/>
                </a:solidFill>
                <a:latin typeface="Arial"/>
                <a:ea typeface="Arial"/>
                <a:cs typeface="Arial"/>
                <a:sym typeface="Arial"/>
              </a:rPr>
              <a:t>: Like moving across a city grid, where only horizontal and vertical moves are allowed.</a:t>
            </a:r>
            <a:endParaRPr b="0" i="0" sz="1750" u="none" cap="none" strike="noStrike">
              <a:solidFill>
                <a:srgbClr val="000000"/>
              </a:solidFill>
              <a:latin typeface="Arial"/>
              <a:ea typeface="Arial"/>
              <a:cs typeface="Arial"/>
              <a:sym typeface="Arial"/>
            </a:endParaRPr>
          </a:p>
        </p:txBody>
      </p:sp>
      <p:sp>
        <p:nvSpPr>
          <p:cNvPr id="182" name="Google Shape;182;p8"/>
          <p:cNvSpPr/>
          <p:nvPr/>
        </p:nvSpPr>
        <p:spPr>
          <a:xfrm>
            <a:off x="6280190" y="4594503"/>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1" i="0" lang="en-US" sz="1750" u="none" cap="none" strike="noStrike">
                <a:solidFill>
                  <a:srgbClr val="504C49"/>
                </a:solidFill>
                <a:latin typeface="Arial"/>
                <a:ea typeface="Arial"/>
                <a:cs typeface="Arial"/>
                <a:sym typeface="Arial"/>
              </a:rPr>
              <a:t>Formula</a:t>
            </a:r>
            <a:r>
              <a:rPr b="0" i="0" lang="en-US" sz="1750" u="none" cap="none" strike="noStrike">
                <a:solidFill>
                  <a:srgbClr val="504C49"/>
                </a:solidFill>
                <a:latin typeface="Arial"/>
                <a:ea typeface="Arial"/>
                <a:cs typeface="Arial"/>
                <a:sym typeface="Arial"/>
              </a:rPr>
              <a:t>: Sum of the absolute differences in each dimension:</a:t>
            </a:r>
            <a:br>
              <a:rPr b="0" i="0" lang="en-US" sz="1750" u="none" cap="none" strike="noStrike">
                <a:solidFill>
                  <a:srgbClr val="504C49"/>
                </a:solidFill>
                <a:latin typeface="Arial"/>
                <a:ea typeface="Arial"/>
                <a:cs typeface="Arial"/>
                <a:sym typeface="Arial"/>
              </a:rPr>
            </a:br>
            <a:endParaRPr b="0" i="0" sz="1750" u="none" cap="none" strike="noStrike">
              <a:solidFill>
                <a:srgbClr val="000000"/>
              </a:solidFill>
              <a:latin typeface="Arial"/>
              <a:ea typeface="Arial"/>
              <a:cs typeface="Arial"/>
              <a:sym typeface="Arial"/>
            </a:endParaRPr>
          </a:p>
        </p:txBody>
      </p:sp>
      <p:pic>
        <p:nvPicPr>
          <p:cNvPr descr="preencoded.png" id="183" name="Google Shape;183;p8"/>
          <p:cNvPicPr preferRelativeResize="0"/>
          <p:nvPr/>
        </p:nvPicPr>
        <p:blipFill rotWithShape="1">
          <a:blip r:embed="rId4">
            <a:alphaModFix/>
          </a:blip>
          <a:srcRect b="0" l="0" r="0" t="0"/>
          <a:stretch/>
        </p:blipFill>
        <p:spPr>
          <a:xfrm>
            <a:off x="7282101" y="5575459"/>
            <a:ext cx="5552480" cy="718661"/>
          </a:xfrm>
          <a:prstGeom prst="rect">
            <a:avLst/>
          </a:prstGeom>
          <a:noFill/>
          <a:ln>
            <a:noFill/>
          </a:ln>
        </p:spPr>
      </p:pic>
      <p:pic>
        <p:nvPicPr>
          <p:cNvPr descr="preencoded.png" id="184" name="Google Shape;184;p8"/>
          <p:cNvPicPr preferRelativeResize="0"/>
          <p:nvPr/>
        </p:nvPicPr>
        <p:blipFill rotWithShape="1">
          <a:blip r:embed="rId5">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4c302f6510_0_0"/>
          <p:cNvSpPr/>
          <p:nvPr/>
        </p:nvSpPr>
        <p:spPr>
          <a:xfrm>
            <a:off x="659393" y="900425"/>
            <a:ext cx="4841400" cy="588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01B18"/>
              </a:buClr>
              <a:buSzPts val="3700"/>
              <a:buFont typeface="Platypi Medium"/>
              <a:buNone/>
            </a:pPr>
            <a:r>
              <a:rPr b="0" i="0" lang="en-US" sz="3700" u="none" cap="none" strike="noStrike">
                <a:solidFill>
                  <a:srgbClr val="201B18"/>
                </a:solidFill>
                <a:latin typeface="Platypi Medium"/>
                <a:ea typeface="Platypi Medium"/>
                <a:cs typeface="Platypi Medium"/>
                <a:sym typeface="Platypi Medium"/>
              </a:rPr>
              <a:t>Minkowski Distance </a:t>
            </a:r>
            <a:endParaRPr b="0" i="0" sz="3700" u="none" cap="none" strike="noStrike">
              <a:solidFill>
                <a:srgbClr val="000000"/>
              </a:solidFill>
              <a:latin typeface="Arial"/>
              <a:ea typeface="Arial"/>
              <a:cs typeface="Arial"/>
              <a:sym typeface="Arial"/>
            </a:endParaRPr>
          </a:p>
        </p:txBody>
      </p:sp>
      <p:sp>
        <p:nvSpPr>
          <p:cNvPr id="191" name="Google Shape;191;g34c302f6510_0_0"/>
          <p:cNvSpPr/>
          <p:nvPr/>
        </p:nvSpPr>
        <p:spPr>
          <a:xfrm>
            <a:off x="659393" y="1771725"/>
            <a:ext cx="13311600" cy="3012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504C49"/>
              </a:buClr>
              <a:buSzPts val="1450"/>
              <a:buFont typeface="Arial"/>
              <a:buNone/>
            </a:pPr>
            <a:r>
              <a:rPr b="0" i="0" lang="en-US" sz="1450" u="none" cap="none" strike="noStrike">
                <a:solidFill>
                  <a:srgbClr val="504C49"/>
                </a:solidFill>
                <a:latin typeface="Arial"/>
                <a:ea typeface="Arial"/>
                <a:cs typeface="Arial"/>
                <a:sym typeface="Arial"/>
              </a:rPr>
              <a:t>A </a:t>
            </a:r>
            <a:r>
              <a:rPr b="1" i="0" lang="en-US" sz="1450" u="none" cap="none" strike="noStrike">
                <a:solidFill>
                  <a:srgbClr val="504C49"/>
                </a:solidFill>
                <a:latin typeface="Arial"/>
                <a:ea typeface="Arial"/>
                <a:cs typeface="Arial"/>
                <a:sym typeface="Arial"/>
              </a:rPr>
              <a:t>generalized</a:t>
            </a:r>
            <a:r>
              <a:rPr b="0" i="0" lang="en-US" sz="1450" u="none" cap="none" strike="noStrike">
                <a:solidFill>
                  <a:srgbClr val="504C49"/>
                </a:solidFill>
                <a:latin typeface="Arial"/>
                <a:ea typeface="Arial"/>
                <a:cs typeface="Arial"/>
                <a:sym typeface="Arial"/>
              </a:rPr>
              <a:t> form of both </a:t>
            </a:r>
            <a:r>
              <a:rPr b="1" i="0" lang="en-US" sz="1450" u="none" cap="none" strike="noStrike">
                <a:solidFill>
                  <a:srgbClr val="504C49"/>
                </a:solidFill>
                <a:latin typeface="Arial"/>
                <a:ea typeface="Arial"/>
                <a:cs typeface="Arial"/>
                <a:sym typeface="Arial"/>
              </a:rPr>
              <a:t>Euclidean</a:t>
            </a:r>
            <a:r>
              <a:rPr b="0" i="0" lang="en-US" sz="1450" u="none" cap="none" strike="noStrike">
                <a:solidFill>
                  <a:srgbClr val="504C49"/>
                </a:solidFill>
                <a:latin typeface="Arial"/>
                <a:ea typeface="Arial"/>
                <a:cs typeface="Arial"/>
                <a:sym typeface="Arial"/>
              </a:rPr>
              <a:t> and </a:t>
            </a:r>
            <a:r>
              <a:rPr b="1" i="0" lang="en-US" sz="1450" u="none" cap="none" strike="noStrike">
                <a:solidFill>
                  <a:srgbClr val="504C49"/>
                </a:solidFill>
                <a:latin typeface="Arial"/>
                <a:ea typeface="Arial"/>
                <a:cs typeface="Arial"/>
                <a:sym typeface="Arial"/>
              </a:rPr>
              <a:t>Manhattan</a:t>
            </a:r>
            <a:r>
              <a:rPr b="0" i="0" lang="en-US" sz="1450" u="none" cap="none" strike="noStrike">
                <a:solidFill>
                  <a:srgbClr val="504C49"/>
                </a:solidFill>
                <a:latin typeface="Arial"/>
                <a:ea typeface="Arial"/>
                <a:cs typeface="Arial"/>
                <a:sym typeface="Arial"/>
              </a:rPr>
              <a:t> distances, controlled by the parameter </a:t>
            </a:r>
            <a:r>
              <a:rPr b="1" i="0" lang="en-US" sz="1450" u="none" cap="none" strike="noStrike">
                <a:solidFill>
                  <a:srgbClr val="504C49"/>
                </a:solidFill>
                <a:latin typeface="Arial"/>
                <a:ea typeface="Arial"/>
                <a:cs typeface="Arial"/>
                <a:sym typeface="Arial"/>
              </a:rPr>
              <a:t>p</a:t>
            </a:r>
            <a:r>
              <a:rPr b="0" i="0" lang="en-US" sz="1450" u="none" cap="none" strike="noStrike">
                <a:solidFill>
                  <a:srgbClr val="504C49"/>
                </a:solidFill>
                <a:latin typeface="Arial"/>
                <a:ea typeface="Arial"/>
                <a:cs typeface="Arial"/>
                <a:sym typeface="Arial"/>
              </a:rPr>
              <a:t>.</a:t>
            </a:r>
            <a:endParaRPr b="0" i="0" sz="1450" u="none" cap="none" strike="noStrike">
              <a:solidFill>
                <a:srgbClr val="000000"/>
              </a:solidFill>
              <a:latin typeface="Arial"/>
              <a:ea typeface="Arial"/>
              <a:cs typeface="Arial"/>
              <a:sym typeface="Arial"/>
            </a:endParaRPr>
          </a:p>
        </p:txBody>
      </p:sp>
      <p:sp>
        <p:nvSpPr>
          <p:cNvPr id="192" name="Google Shape;192;g34c302f6510_0_0"/>
          <p:cNvSpPr/>
          <p:nvPr/>
        </p:nvSpPr>
        <p:spPr>
          <a:xfrm>
            <a:off x="659393" y="2138913"/>
            <a:ext cx="13311600" cy="3012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504C49"/>
              </a:buClr>
              <a:buSzPts val="1450"/>
              <a:buFont typeface="Arial"/>
              <a:buNone/>
            </a:pPr>
            <a:r>
              <a:rPr b="1" i="0" lang="en-US" sz="1450" u="none" cap="none" strike="noStrike">
                <a:solidFill>
                  <a:srgbClr val="504C49"/>
                </a:solidFill>
                <a:latin typeface="Arial"/>
                <a:ea typeface="Arial"/>
                <a:cs typeface="Arial"/>
                <a:sym typeface="Arial"/>
              </a:rPr>
              <a:t>Formula</a:t>
            </a:r>
            <a:r>
              <a:rPr b="0" i="0" lang="en-US" sz="1450" u="none" cap="none" strike="noStrike">
                <a:solidFill>
                  <a:srgbClr val="504C49"/>
                </a:solidFill>
                <a:latin typeface="Arial"/>
                <a:ea typeface="Arial"/>
                <a:cs typeface="Arial"/>
                <a:sym typeface="Arial"/>
              </a:rPr>
              <a:t>:</a:t>
            </a:r>
            <a:endParaRPr b="0" i="0" sz="1450" u="none" cap="none" strike="noStrike">
              <a:solidFill>
                <a:srgbClr val="000000"/>
              </a:solidFill>
              <a:latin typeface="Arial"/>
              <a:ea typeface="Arial"/>
              <a:cs typeface="Arial"/>
              <a:sym typeface="Arial"/>
            </a:endParaRPr>
          </a:p>
        </p:txBody>
      </p:sp>
      <p:pic>
        <p:nvPicPr>
          <p:cNvPr descr="preencoded.png" id="193" name="Google Shape;193;g34c302f6510_0_0"/>
          <p:cNvPicPr preferRelativeResize="0"/>
          <p:nvPr/>
        </p:nvPicPr>
        <p:blipFill rotWithShape="1">
          <a:blip r:embed="rId3">
            <a:alphaModFix/>
          </a:blip>
          <a:srcRect b="0" l="0" r="0" t="0"/>
          <a:stretch/>
        </p:blipFill>
        <p:spPr>
          <a:xfrm>
            <a:off x="5461197" y="2292004"/>
            <a:ext cx="3708002" cy="1016687"/>
          </a:xfrm>
          <a:prstGeom prst="rect">
            <a:avLst/>
          </a:prstGeom>
          <a:noFill/>
          <a:ln>
            <a:noFill/>
          </a:ln>
        </p:spPr>
      </p:pic>
      <p:sp>
        <p:nvSpPr>
          <p:cNvPr id="194" name="Google Shape;194;g34c302f6510_0_0"/>
          <p:cNvSpPr/>
          <p:nvPr/>
        </p:nvSpPr>
        <p:spPr>
          <a:xfrm>
            <a:off x="659393" y="3527778"/>
            <a:ext cx="13311600" cy="3012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504C49"/>
              </a:buClr>
              <a:buSzPts val="1450"/>
              <a:buFont typeface="Arial"/>
              <a:buNone/>
            </a:pPr>
            <a:r>
              <a:rPr b="1" i="0" lang="en-US" sz="1450" u="none" cap="none" strike="noStrike">
                <a:solidFill>
                  <a:srgbClr val="504C49"/>
                </a:solidFill>
                <a:latin typeface="Arial"/>
                <a:ea typeface="Arial"/>
                <a:cs typeface="Arial"/>
                <a:sym typeface="Arial"/>
              </a:rPr>
              <a:t>When q = 1</a:t>
            </a:r>
            <a:r>
              <a:rPr b="0" i="0" lang="en-US" sz="1450" u="none" cap="none" strike="noStrike">
                <a:solidFill>
                  <a:srgbClr val="504C49"/>
                </a:solidFill>
                <a:latin typeface="Arial"/>
                <a:ea typeface="Arial"/>
                <a:cs typeface="Arial"/>
                <a:sym typeface="Arial"/>
              </a:rPr>
              <a:t>: Equivalent to </a:t>
            </a:r>
            <a:r>
              <a:rPr b="1" i="0" lang="en-US" sz="1450" u="none" cap="none" strike="noStrike">
                <a:solidFill>
                  <a:srgbClr val="504C49"/>
                </a:solidFill>
                <a:latin typeface="Arial"/>
                <a:ea typeface="Arial"/>
                <a:cs typeface="Arial"/>
                <a:sym typeface="Arial"/>
              </a:rPr>
              <a:t>Manhattan distance</a:t>
            </a:r>
            <a:r>
              <a:rPr b="0" i="0" lang="en-US" sz="1450" u="none" cap="none" strike="noStrike">
                <a:solidFill>
                  <a:srgbClr val="504C49"/>
                </a:solidFill>
                <a:latin typeface="Arial"/>
                <a:ea typeface="Arial"/>
                <a:cs typeface="Arial"/>
                <a:sym typeface="Arial"/>
              </a:rPr>
              <a:t>.</a:t>
            </a:r>
            <a:endParaRPr b="0" i="0" sz="1450" u="none" cap="none" strike="noStrike">
              <a:solidFill>
                <a:srgbClr val="000000"/>
              </a:solidFill>
              <a:latin typeface="Arial"/>
              <a:ea typeface="Arial"/>
              <a:cs typeface="Arial"/>
              <a:sym typeface="Arial"/>
            </a:endParaRPr>
          </a:p>
        </p:txBody>
      </p:sp>
      <p:sp>
        <p:nvSpPr>
          <p:cNvPr id="195" name="Google Shape;195;g34c302f6510_0_0"/>
          <p:cNvSpPr/>
          <p:nvPr/>
        </p:nvSpPr>
        <p:spPr>
          <a:xfrm>
            <a:off x="659393" y="3894966"/>
            <a:ext cx="13311600" cy="3012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504C49"/>
              </a:buClr>
              <a:buSzPts val="1450"/>
              <a:buFont typeface="Arial"/>
              <a:buNone/>
            </a:pPr>
            <a:r>
              <a:rPr b="1" i="0" lang="en-US" sz="1450" u="none" cap="none" strike="noStrike">
                <a:solidFill>
                  <a:srgbClr val="504C49"/>
                </a:solidFill>
                <a:latin typeface="Arial"/>
                <a:ea typeface="Arial"/>
                <a:cs typeface="Arial"/>
                <a:sym typeface="Arial"/>
              </a:rPr>
              <a:t>When q = 2</a:t>
            </a:r>
            <a:r>
              <a:rPr b="0" i="0" lang="en-US" sz="1450" u="none" cap="none" strike="noStrike">
                <a:solidFill>
                  <a:srgbClr val="504C49"/>
                </a:solidFill>
                <a:latin typeface="Arial"/>
                <a:ea typeface="Arial"/>
                <a:cs typeface="Arial"/>
                <a:sym typeface="Arial"/>
              </a:rPr>
              <a:t>: Equivalent to </a:t>
            </a:r>
            <a:r>
              <a:rPr b="1" i="0" lang="en-US" sz="1450" u="none" cap="none" strike="noStrike">
                <a:solidFill>
                  <a:srgbClr val="504C49"/>
                </a:solidFill>
                <a:latin typeface="Arial"/>
                <a:ea typeface="Arial"/>
                <a:cs typeface="Arial"/>
                <a:sym typeface="Arial"/>
              </a:rPr>
              <a:t>Euclidean distance</a:t>
            </a:r>
            <a:r>
              <a:rPr b="0" i="0" lang="en-US" sz="1450" u="none" cap="none" strike="noStrike">
                <a:solidFill>
                  <a:srgbClr val="504C49"/>
                </a:solidFill>
                <a:latin typeface="Arial"/>
                <a:ea typeface="Arial"/>
                <a:cs typeface="Arial"/>
                <a:sym typeface="Arial"/>
              </a:rPr>
              <a:t>.</a:t>
            </a:r>
            <a:endParaRPr b="0" i="0" sz="1450" u="none" cap="none" strike="noStrike">
              <a:solidFill>
                <a:srgbClr val="000000"/>
              </a:solidFill>
              <a:latin typeface="Arial"/>
              <a:ea typeface="Arial"/>
              <a:cs typeface="Arial"/>
              <a:sym typeface="Arial"/>
            </a:endParaRPr>
          </a:p>
        </p:txBody>
      </p:sp>
      <p:sp>
        <p:nvSpPr>
          <p:cNvPr id="196" name="Google Shape;196;g34c302f6510_0_0"/>
          <p:cNvSpPr/>
          <p:nvPr/>
        </p:nvSpPr>
        <p:spPr>
          <a:xfrm>
            <a:off x="659393" y="4262155"/>
            <a:ext cx="13311600" cy="301200"/>
          </a:xfrm>
          <a:prstGeom prst="rect">
            <a:avLst/>
          </a:prstGeom>
          <a:noFill/>
          <a:ln>
            <a:noFill/>
          </a:ln>
        </p:spPr>
        <p:txBody>
          <a:bodyPr anchorCtr="0" anchor="t" bIns="0" lIns="0" spcFirstLastPara="1" rIns="0" wrap="square" tIns="0">
            <a:noAutofit/>
          </a:bodyPr>
          <a:lstStyle/>
          <a:p>
            <a:pPr indent="0" lvl="0" marL="0" marR="0" rtl="0" algn="l">
              <a:lnSpc>
                <a:spcPct val="162069"/>
              </a:lnSpc>
              <a:spcBef>
                <a:spcPts val="0"/>
              </a:spcBef>
              <a:spcAft>
                <a:spcPts val="0"/>
              </a:spcAft>
              <a:buClr>
                <a:srgbClr val="504C49"/>
              </a:buClr>
              <a:buSzPts val="1450"/>
              <a:buFont typeface="Arial"/>
              <a:buNone/>
            </a:pPr>
            <a:r>
              <a:rPr b="0" i="0" lang="en-US" sz="1450" u="none" cap="none" strike="noStrike">
                <a:solidFill>
                  <a:srgbClr val="504C49"/>
                </a:solidFill>
                <a:latin typeface="Arial"/>
                <a:ea typeface="Arial"/>
                <a:cs typeface="Arial"/>
                <a:sym typeface="Arial"/>
              </a:rPr>
              <a:t>Allows flexibility in distance measurement based on the value of </a:t>
            </a:r>
            <a:r>
              <a:rPr b="1" i="0" lang="en-US" sz="1450" u="none" cap="none" strike="noStrike">
                <a:solidFill>
                  <a:srgbClr val="504C49"/>
                </a:solidFill>
                <a:latin typeface="Arial"/>
                <a:ea typeface="Arial"/>
                <a:cs typeface="Arial"/>
                <a:sym typeface="Arial"/>
              </a:rPr>
              <a:t>p</a:t>
            </a:r>
            <a:r>
              <a:rPr b="0" i="0" lang="en-US" sz="1450" u="none" cap="none" strike="noStrike">
                <a:solidFill>
                  <a:srgbClr val="504C49"/>
                </a:solidFill>
                <a:latin typeface="Arial"/>
                <a:ea typeface="Arial"/>
                <a:cs typeface="Arial"/>
                <a:sym typeface="Arial"/>
              </a:rPr>
              <a:t>.</a:t>
            </a:r>
            <a:endParaRPr b="0" i="0" sz="1450" u="none" cap="none" strike="noStrike">
              <a:solidFill>
                <a:srgbClr val="000000"/>
              </a:solidFill>
              <a:latin typeface="Arial"/>
              <a:ea typeface="Arial"/>
              <a:cs typeface="Arial"/>
              <a:sym typeface="Arial"/>
            </a:endParaRPr>
          </a:p>
        </p:txBody>
      </p:sp>
      <p:pic>
        <p:nvPicPr>
          <p:cNvPr descr="preencoded.png" id="197" name="Google Shape;197;g34c302f6510_0_0"/>
          <p:cNvPicPr preferRelativeResize="0"/>
          <p:nvPr/>
        </p:nvPicPr>
        <p:blipFill rotWithShape="1">
          <a:blip r:embed="rId4">
            <a:alphaModFix/>
          </a:blip>
          <a:srcRect b="0" l="8073" r="5300" t="0"/>
          <a:stretch/>
        </p:blipFill>
        <p:spPr>
          <a:xfrm>
            <a:off x="978163" y="4629325"/>
            <a:ext cx="12674074" cy="3532575"/>
          </a:xfrm>
          <a:prstGeom prst="rect">
            <a:avLst/>
          </a:prstGeom>
          <a:noFill/>
          <a:ln>
            <a:noFill/>
          </a:ln>
        </p:spPr>
      </p:pic>
      <p:pic>
        <p:nvPicPr>
          <p:cNvPr descr="preencoded.png" id="198" name="Google Shape;198;g34c302f6510_0_0"/>
          <p:cNvPicPr preferRelativeResize="0"/>
          <p:nvPr/>
        </p:nvPicPr>
        <p:blipFill rotWithShape="1">
          <a:blip r:embed="rId5">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p:nvPr/>
        </p:nvSpPr>
        <p:spPr>
          <a:xfrm>
            <a:off x="793790" y="2310289"/>
            <a:ext cx="958345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Advantages of K-Means</a:t>
            </a:r>
            <a:endParaRPr b="0" i="0" sz="4450" u="none" cap="none" strike="noStrike">
              <a:solidFill>
                <a:srgbClr val="000000"/>
              </a:solidFill>
              <a:latin typeface="Arial"/>
              <a:ea typeface="Arial"/>
              <a:cs typeface="Arial"/>
              <a:sym typeface="Arial"/>
            </a:endParaRPr>
          </a:p>
        </p:txBody>
      </p:sp>
      <p:sp>
        <p:nvSpPr>
          <p:cNvPr id="205" name="Google Shape;205;p10"/>
          <p:cNvSpPr/>
          <p:nvPr/>
        </p:nvSpPr>
        <p:spPr>
          <a:xfrm>
            <a:off x="793790" y="3614380"/>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0"/>
          <p:cNvSpPr/>
          <p:nvPr/>
        </p:nvSpPr>
        <p:spPr>
          <a:xfrm>
            <a:off x="1530906" y="361438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Simplicity</a:t>
            </a:r>
            <a:endParaRPr b="0" i="0" sz="2200" u="none" cap="none" strike="noStrike">
              <a:solidFill>
                <a:srgbClr val="000000"/>
              </a:solidFill>
              <a:latin typeface="Arial"/>
              <a:ea typeface="Arial"/>
              <a:cs typeface="Arial"/>
              <a:sym typeface="Arial"/>
            </a:endParaRPr>
          </a:p>
        </p:txBody>
      </p:sp>
      <p:sp>
        <p:nvSpPr>
          <p:cNvPr id="207" name="Google Shape;207;p10"/>
          <p:cNvSpPr/>
          <p:nvPr/>
        </p:nvSpPr>
        <p:spPr>
          <a:xfrm>
            <a:off x="1530906" y="4104799"/>
            <a:ext cx="345924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Straightforward implementation with minimal parameters and intuitive mathematical foundation, making it accessible even for beginners</a:t>
            </a:r>
            <a:endParaRPr b="0" i="0" sz="1750" u="none" cap="none" strike="noStrike">
              <a:solidFill>
                <a:srgbClr val="000000"/>
              </a:solidFill>
              <a:latin typeface="Arial"/>
              <a:ea typeface="Arial"/>
              <a:cs typeface="Arial"/>
              <a:sym typeface="Arial"/>
            </a:endParaRPr>
          </a:p>
        </p:txBody>
      </p:sp>
      <p:sp>
        <p:nvSpPr>
          <p:cNvPr id="208" name="Google Shape;208;p10"/>
          <p:cNvSpPr/>
          <p:nvPr/>
        </p:nvSpPr>
        <p:spPr>
          <a:xfrm>
            <a:off x="5216962" y="3614380"/>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0"/>
          <p:cNvSpPr/>
          <p:nvPr/>
        </p:nvSpPr>
        <p:spPr>
          <a:xfrm>
            <a:off x="5954078" y="361438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Scalability</a:t>
            </a:r>
            <a:endParaRPr b="0" i="0" sz="2200" u="none" cap="none" strike="noStrike">
              <a:solidFill>
                <a:srgbClr val="000000"/>
              </a:solidFill>
              <a:latin typeface="Arial"/>
              <a:ea typeface="Arial"/>
              <a:cs typeface="Arial"/>
              <a:sym typeface="Arial"/>
            </a:endParaRPr>
          </a:p>
        </p:txBody>
      </p:sp>
      <p:sp>
        <p:nvSpPr>
          <p:cNvPr id="210" name="Google Shape;210;p10"/>
          <p:cNvSpPr/>
          <p:nvPr/>
        </p:nvSpPr>
        <p:spPr>
          <a:xfrm>
            <a:off x="5954078" y="4104799"/>
            <a:ext cx="3459242"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Handles large datasets efficiently with linear time complexity, allowing for practical application to real-world big data problems</a:t>
            </a:r>
            <a:endParaRPr b="0" i="0" sz="1750" u="none" cap="none" strike="noStrike">
              <a:solidFill>
                <a:srgbClr val="000000"/>
              </a:solidFill>
              <a:latin typeface="Arial"/>
              <a:ea typeface="Arial"/>
              <a:cs typeface="Arial"/>
              <a:sym typeface="Arial"/>
            </a:endParaRPr>
          </a:p>
        </p:txBody>
      </p:sp>
      <p:sp>
        <p:nvSpPr>
          <p:cNvPr id="211" name="Google Shape;211;p10"/>
          <p:cNvSpPr/>
          <p:nvPr/>
        </p:nvSpPr>
        <p:spPr>
          <a:xfrm>
            <a:off x="9640133" y="3614380"/>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0"/>
          <p:cNvSpPr/>
          <p:nvPr/>
        </p:nvSpPr>
        <p:spPr>
          <a:xfrm>
            <a:off x="10377249" y="361438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Interpretability</a:t>
            </a:r>
            <a:endParaRPr b="0" i="0" sz="2200" u="none" cap="none" strike="noStrike">
              <a:solidFill>
                <a:srgbClr val="000000"/>
              </a:solidFill>
              <a:latin typeface="Arial"/>
              <a:ea typeface="Arial"/>
              <a:cs typeface="Arial"/>
              <a:sym typeface="Arial"/>
            </a:endParaRPr>
          </a:p>
        </p:txBody>
      </p:sp>
      <p:sp>
        <p:nvSpPr>
          <p:cNvPr id="213" name="Google Shape;213;p10"/>
          <p:cNvSpPr/>
          <p:nvPr/>
        </p:nvSpPr>
        <p:spPr>
          <a:xfrm>
            <a:off x="10377249" y="4104799"/>
            <a:ext cx="345924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Produces clearly defined clusters with centroids that have direct physical meaning, enabling straightforward analysis and business insights</a:t>
            </a:r>
            <a:endParaRPr b="0" i="0" sz="1750" u="none" cap="none" strike="noStrike">
              <a:solidFill>
                <a:srgbClr val="000000"/>
              </a:solidFill>
              <a:latin typeface="Arial"/>
              <a:ea typeface="Arial"/>
              <a:cs typeface="Arial"/>
              <a:sym typeface="Arial"/>
            </a:endParaRPr>
          </a:p>
        </p:txBody>
      </p:sp>
      <p:pic>
        <p:nvPicPr>
          <p:cNvPr descr="preencoded.png" id="214" name="Google Shape;214;p10"/>
          <p:cNvPicPr preferRelativeResize="0"/>
          <p:nvPr/>
        </p:nvPicPr>
        <p:blipFill rotWithShape="1">
          <a:blip r:embed="rId3">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1"/>
          <p:cNvSpPr/>
          <p:nvPr/>
        </p:nvSpPr>
        <p:spPr>
          <a:xfrm>
            <a:off x="523875" y="411599"/>
            <a:ext cx="4014311" cy="467916"/>
          </a:xfrm>
          <a:prstGeom prst="rect">
            <a:avLst/>
          </a:prstGeom>
          <a:noFill/>
          <a:ln>
            <a:noFill/>
          </a:ln>
        </p:spPr>
        <p:txBody>
          <a:bodyPr anchorCtr="0" anchor="t" bIns="0" lIns="0" spcFirstLastPara="1" rIns="0" wrap="square" tIns="0">
            <a:noAutofit/>
          </a:bodyPr>
          <a:lstStyle/>
          <a:p>
            <a:pPr indent="0" lvl="0" marL="0" marR="0" rtl="0" algn="l">
              <a:lnSpc>
                <a:spcPct val="125862"/>
              </a:lnSpc>
              <a:spcBef>
                <a:spcPts val="0"/>
              </a:spcBef>
              <a:spcAft>
                <a:spcPts val="0"/>
              </a:spcAft>
              <a:buClr>
                <a:srgbClr val="201B18"/>
              </a:buClr>
              <a:buSzPts val="2900"/>
              <a:buFont typeface="Platypi Medium"/>
              <a:buNone/>
            </a:pPr>
            <a:r>
              <a:rPr b="0" i="0" lang="en-US" sz="2900" u="none" cap="none" strike="noStrike">
                <a:solidFill>
                  <a:srgbClr val="201B18"/>
                </a:solidFill>
                <a:latin typeface="Platypi Medium"/>
                <a:ea typeface="Platypi Medium"/>
                <a:cs typeface="Platypi Medium"/>
                <a:sym typeface="Platypi Medium"/>
              </a:rPr>
              <a:t>Use Cases of K-Means</a:t>
            </a:r>
            <a:endParaRPr b="0" i="0" sz="2900" u="none" cap="none" strike="noStrike">
              <a:solidFill>
                <a:srgbClr val="000000"/>
              </a:solidFill>
              <a:latin typeface="Arial"/>
              <a:ea typeface="Arial"/>
              <a:cs typeface="Arial"/>
              <a:sym typeface="Arial"/>
            </a:endParaRPr>
          </a:p>
        </p:txBody>
      </p:sp>
      <p:pic>
        <p:nvPicPr>
          <p:cNvPr descr="preencoded.png" id="221" name="Google Shape;221;p11"/>
          <p:cNvPicPr preferRelativeResize="0"/>
          <p:nvPr/>
        </p:nvPicPr>
        <p:blipFill rotWithShape="1">
          <a:blip r:embed="rId3">
            <a:alphaModFix/>
          </a:blip>
          <a:srcRect b="0" l="0" r="0" t="0"/>
          <a:stretch/>
        </p:blipFill>
        <p:spPr>
          <a:xfrm>
            <a:off x="1492413" y="1056748"/>
            <a:ext cx="3753456" cy="2233851"/>
          </a:xfrm>
          <a:prstGeom prst="rect">
            <a:avLst/>
          </a:prstGeom>
          <a:noFill/>
          <a:ln>
            <a:noFill/>
          </a:ln>
        </p:spPr>
      </p:pic>
      <p:sp>
        <p:nvSpPr>
          <p:cNvPr id="222" name="Google Shape;222;p11"/>
          <p:cNvSpPr/>
          <p:nvPr/>
        </p:nvSpPr>
        <p:spPr>
          <a:xfrm>
            <a:off x="1492435" y="3445025"/>
            <a:ext cx="3546300" cy="1932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504C49"/>
              </a:buClr>
              <a:buSzPts val="1450"/>
              <a:buFont typeface="Platypi Medium"/>
              <a:buNone/>
            </a:pPr>
            <a:r>
              <a:rPr b="0" i="0" lang="en-US" sz="1450" u="none" cap="none" strike="noStrike">
                <a:solidFill>
                  <a:srgbClr val="504C49"/>
                </a:solidFill>
                <a:latin typeface="Platypi Medium"/>
                <a:ea typeface="Platypi Medium"/>
                <a:cs typeface="Platypi Medium"/>
                <a:sym typeface="Platypi Medium"/>
              </a:rPr>
              <a:t>Customer Segmentation</a:t>
            </a:r>
            <a:endParaRPr b="0" i="0" sz="1450" u="none" cap="none" strike="noStrike">
              <a:solidFill>
                <a:srgbClr val="000000"/>
              </a:solidFill>
              <a:latin typeface="Arial"/>
              <a:ea typeface="Arial"/>
              <a:cs typeface="Arial"/>
              <a:sym typeface="Arial"/>
            </a:endParaRPr>
          </a:p>
        </p:txBody>
      </p:sp>
      <p:sp>
        <p:nvSpPr>
          <p:cNvPr id="223" name="Google Shape;223;p11"/>
          <p:cNvSpPr/>
          <p:nvPr/>
        </p:nvSpPr>
        <p:spPr>
          <a:xfrm>
            <a:off x="1492413" y="3712321"/>
            <a:ext cx="3753600" cy="395400"/>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504C49"/>
              </a:buClr>
              <a:buSzPts val="1150"/>
              <a:buFont typeface="Arial"/>
              <a:buNone/>
            </a:pPr>
            <a:r>
              <a:rPr b="0" i="0" lang="en-US" sz="1150" u="none" cap="none" strike="noStrike">
                <a:solidFill>
                  <a:srgbClr val="504C49"/>
                </a:solidFill>
                <a:latin typeface="Arial"/>
                <a:ea typeface="Arial"/>
                <a:cs typeface="Arial"/>
                <a:sym typeface="Arial"/>
              </a:rPr>
              <a:t>Group customers by behavior and demographics for targeted marketing.</a:t>
            </a:r>
            <a:endParaRPr b="0" i="0" sz="1150" u="none" cap="none" strike="noStrike">
              <a:solidFill>
                <a:srgbClr val="000000"/>
              </a:solidFill>
              <a:latin typeface="Arial"/>
              <a:ea typeface="Arial"/>
              <a:cs typeface="Arial"/>
              <a:sym typeface="Arial"/>
            </a:endParaRPr>
          </a:p>
        </p:txBody>
      </p:sp>
      <p:pic>
        <p:nvPicPr>
          <p:cNvPr descr="preencoded.png" id="224" name="Google Shape;224;p11"/>
          <p:cNvPicPr preferRelativeResize="0"/>
          <p:nvPr/>
        </p:nvPicPr>
        <p:blipFill rotWithShape="1">
          <a:blip r:embed="rId4">
            <a:alphaModFix/>
          </a:blip>
          <a:srcRect b="0" l="0" r="0" t="0"/>
          <a:stretch/>
        </p:blipFill>
        <p:spPr>
          <a:xfrm>
            <a:off x="5438396" y="1056748"/>
            <a:ext cx="3753456" cy="2233851"/>
          </a:xfrm>
          <a:prstGeom prst="rect">
            <a:avLst/>
          </a:prstGeom>
          <a:noFill/>
          <a:ln>
            <a:noFill/>
          </a:ln>
        </p:spPr>
      </p:pic>
      <p:sp>
        <p:nvSpPr>
          <p:cNvPr id="225" name="Google Shape;225;p11"/>
          <p:cNvSpPr/>
          <p:nvPr/>
        </p:nvSpPr>
        <p:spPr>
          <a:xfrm>
            <a:off x="5438405" y="3445025"/>
            <a:ext cx="3546300" cy="1932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504C49"/>
              </a:buClr>
              <a:buSzPts val="1450"/>
              <a:buFont typeface="Platypi Medium"/>
              <a:buNone/>
            </a:pPr>
            <a:r>
              <a:rPr b="0" i="0" lang="en-US" sz="1450" u="none" cap="none" strike="noStrike">
                <a:solidFill>
                  <a:srgbClr val="504C49"/>
                </a:solidFill>
                <a:latin typeface="Platypi Medium"/>
                <a:ea typeface="Platypi Medium"/>
                <a:cs typeface="Platypi Medium"/>
                <a:sym typeface="Platypi Medium"/>
              </a:rPr>
              <a:t>Image Compression</a:t>
            </a:r>
            <a:endParaRPr b="0" i="0" sz="1450" u="none" cap="none" strike="noStrike">
              <a:solidFill>
                <a:srgbClr val="000000"/>
              </a:solidFill>
              <a:latin typeface="Arial"/>
              <a:ea typeface="Arial"/>
              <a:cs typeface="Arial"/>
              <a:sym typeface="Arial"/>
            </a:endParaRPr>
          </a:p>
        </p:txBody>
      </p:sp>
      <p:sp>
        <p:nvSpPr>
          <p:cNvPr id="226" name="Google Shape;226;p11"/>
          <p:cNvSpPr/>
          <p:nvPr/>
        </p:nvSpPr>
        <p:spPr>
          <a:xfrm>
            <a:off x="5438396" y="3712321"/>
            <a:ext cx="3753600" cy="197700"/>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504C49"/>
              </a:buClr>
              <a:buSzPts val="1150"/>
              <a:buFont typeface="Arial"/>
              <a:buNone/>
            </a:pPr>
            <a:r>
              <a:rPr b="0" i="0" lang="en-US" sz="1150" u="none" cap="none" strike="noStrike">
                <a:solidFill>
                  <a:srgbClr val="504C49"/>
                </a:solidFill>
                <a:latin typeface="Arial"/>
                <a:ea typeface="Arial"/>
                <a:cs typeface="Arial"/>
                <a:sym typeface="Arial"/>
              </a:rPr>
              <a:t>Reduce file sizes by clustering and replacing similar colors.</a:t>
            </a:r>
            <a:endParaRPr b="0" i="0" sz="1150" u="none" cap="none" strike="noStrike">
              <a:solidFill>
                <a:srgbClr val="000000"/>
              </a:solidFill>
              <a:latin typeface="Arial"/>
              <a:ea typeface="Arial"/>
              <a:cs typeface="Arial"/>
              <a:sym typeface="Arial"/>
            </a:endParaRPr>
          </a:p>
        </p:txBody>
      </p:sp>
      <p:pic>
        <p:nvPicPr>
          <p:cNvPr descr="preencoded.png" id="227" name="Google Shape;227;p11"/>
          <p:cNvPicPr preferRelativeResize="0"/>
          <p:nvPr/>
        </p:nvPicPr>
        <p:blipFill rotWithShape="1">
          <a:blip r:embed="rId5">
            <a:alphaModFix/>
          </a:blip>
          <a:srcRect b="0" l="0" r="0" t="0"/>
          <a:stretch/>
        </p:blipFill>
        <p:spPr>
          <a:xfrm>
            <a:off x="9384379" y="1056748"/>
            <a:ext cx="3753558" cy="2233949"/>
          </a:xfrm>
          <a:prstGeom prst="rect">
            <a:avLst/>
          </a:prstGeom>
          <a:noFill/>
          <a:ln>
            <a:noFill/>
          </a:ln>
        </p:spPr>
      </p:pic>
      <p:sp>
        <p:nvSpPr>
          <p:cNvPr id="228" name="Google Shape;228;p11"/>
          <p:cNvSpPr/>
          <p:nvPr/>
        </p:nvSpPr>
        <p:spPr>
          <a:xfrm>
            <a:off x="9384370" y="3445125"/>
            <a:ext cx="3753600" cy="1932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504C49"/>
              </a:buClr>
              <a:buSzPts val="1450"/>
              <a:buFont typeface="Platypi Medium"/>
              <a:buNone/>
            </a:pPr>
            <a:r>
              <a:rPr b="0" i="0" lang="en-US" sz="1450" u="none" cap="none" strike="noStrike">
                <a:solidFill>
                  <a:srgbClr val="504C49"/>
                </a:solidFill>
                <a:latin typeface="Platypi Medium"/>
                <a:ea typeface="Platypi Medium"/>
                <a:cs typeface="Platypi Medium"/>
                <a:sym typeface="Platypi Medium"/>
              </a:rPr>
              <a:t>Document Clustering</a:t>
            </a:r>
            <a:endParaRPr b="0" i="0" sz="1450" u="none" cap="none" strike="noStrike">
              <a:solidFill>
                <a:srgbClr val="000000"/>
              </a:solidFill>
              <a:latin typeface="Arial"/>
              <a:ea typeface="Arial"/>
              <a:cs typeface="Arial"/>
              <a:sym typeface="Arial"/>
            </a:endParaRPr>
          </a:p>
        </p:txBody>
      </p:sp>
      <p:sp>
        <p:nvSpPr>
          <p:cNvPr id="229" name="Google Shape;229;p11"/>
          <p:cNvSpPr/>
          <p:nvPr/>
        </p:nvSpPr>
        <p:spPr>
          <a:xfrm>
            <a:off x="9384379" y="3712419"/>
            <a:ext cx="3753600" cy="197700"/>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504C49"/>
              </a:buClr>
              <a:buSzPts val="1150"/>
              <a:buFont typeface="Arial"/>
              <a:buNone/>
            </a:pPr>
            <a:r>
              <a:rPr b="0" i="0" lang="en-US" sz="1150" u="none" cap="none" strike="noStrike">
                <a:solidFill>
                  <a:srgbClr val="504C49"/>
                </a:solidFill>
                <a:latin typeface="Arial"/>
                <a:ea typeface="Arial"/>
                <a:cs typeface="Arial"/>
                <a:sym typeface="Arial"/>
              </a:rPr>
              <a:t>Organize text collections into thematic groups for easier analysis.</a:t>
            </a:r>
            <a:endParaRPr b="0" i="0" sz="1150" u="none" cap="none" strike="noStrike">
              <a:solidFill>
                <a:srgbClr val="000000"/>
              </a:solidFill>
              <a:latin typeface="Arial"/>
              <a:ea typeface="Arial"/>
              <a:cs typeface="Arial"/>
              <a:sym typeface="Arial"/>
            </a:endParaRPr>
          </a:p>
        </p:txBody>
      </p:sp>
      <p:pic>
        <p:nvPicPr>
          <p:cNvPr descr="preencoded.png" id="230" name="Google Shape;230;p11"/>
          <p:cNvPicPr preferRelativeResize="0"/>
          <p:nvPr/>
        </p:nvPicPr>
        <p:blipFill rotWithShape="1">
          <a:blip r:embed="rId6">
            <a:alphaModFix/>
          </a:blip>
          <a:srcRect b="0" l="0" r="0" t="0"/>
          <a:stretch/>
        </p:blipFill>
        <p:spPr>
          <a:xfrm>
            <a:off x="1492413" y="4478499"/>
            <a:ext cx="3753456" cy="2233851"/>
          </a:xfrm>
          <a:prstGeom prst="rect">
            <a:avLst/>
          </a:prstGeom>
          <a:noFill/>
          <a:ln>
            <a:noFill/>
          </a:ln>
        </p:spPr>
      </p:pic>
      <p:sp>
        <p:nvSpPr>
          <p:cNvPr id="231" name="Google Shape;231;p11"/>
          <p:cNvSpPr/>
          <p:nvPr/>
        </p:nvSpPr>
        <p:spPr>
          <a:xfrm>
            <a:off x="1492442" y="6866775"/>
            <a:ext cx="3753600" cy="1932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504C49"/>
              </a:buClr>
              <a:buSzPts val="1450"/>
              <a:buFont typeface="Platypi Medium"/>
              <a:buNone/>
            </a:pPr>
            <a:r>
              <a:rPr b="0" i="0" lang="en-US" sz="1450" u="none" cap="none" strike="noStrike">
                <a:solidFill>
                  <a:srgbClr val="504C49"/>
                </a:solidFill>
                <a:latin typeface="Platypi Medium"/>
                <a:ea typeface="Platypi Medium"/>
                <a:cs typeface="Platypi Medium"/>
                <a:sym typeface="Platypi Medium"/>
              </a:rPr>
              <a:t>Anomaly Detection</a:t>
            </a:r>
            <a:endParaRPr b="0" i="0" sz="1450" u="none" cap="none" strike="noStrike">
              <a:solidFill>
                <a:srgbClr val="000000"/>
              </a:solidFill>
              <a:latin typeface="Arial"/>
              <a:ea typeface="Arial"/>
              <a:cs typeface="Arial"/>
              <a:sym typeface="Arial"/>
            </a:endParaRPr>
          </a:p>
        </p:txBody>
      </p:sp>
      <p:sp>
        <p:nvSpPr>
          <p:cNvPr id="232" name="Google Shape;232;p11"/>
          <p:cNvSpPr/>
          <p:nvPr/>
        </p:nvSpPr>
        <p:spPr>
          <a:xfrm>
            <a:off x="1492413" y="7134073"/>
            <a:ext cx="3753600" cy="395400"/>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504C49"/>
              </a:buClr>
              <a:buSzPts val="1150"/>
              <a:buFont typeface="Arial"/>
              <a:buNone/>
            </a:pPr>
            <a:r>
              <a:rPr b="0" i="0" lang="en-US" sz="1150" u="none" cap="none" strike="noStrike">
                <a:solidFill>
                  <a:srgbClr val="504C49"/>
                </a:solidFill>
                <a:latin typeface="Arial"/>
                <a:ea typeface="Arial"/>
                <a:cs typeface="Arial"/>
                <a:sym typeface="Arial"/>
              </a:rPr>
              <a:t>Identify unusual data points for fraud detection and system monitoring.</a:t>
            </a:r>
            <a:endParaRPr b="0" i="0" sz="1150" u="none" cap="none" strike="noStrike">
              <a:solidFill>
                <a:srgbClr val="000000"/>
              </a:solidFill>
              <a:latin typeface="Arial"/>
              <a:ea typeface="Arial"/>
              <a:cs typeface="Arial"/>
              <a:sym typeface="Arial"/>
            </a:endParaRPr>
          </a:p>
        </p:txBody>
      </p:sp>
      <p:pic>
        <p:nvPicPr>
          <p:cNvPr descr="preencoded.png" id="233" name="Google Shape;233;p11"/>
          <p:cNvPicPr preferRelativeResize="0"/>
          <p:nvPr/>
        </p:nvPicPr>
        <p:blipFill rotWithShape="1">
          <a:blip r:embed="rId7">
            <a:alphaModFix/>
          </a:blip>
          <a:srcRect b="0" l="0" r="0" t="0"/>
          <a:stretch/>
        </p:blipFill>
        <p:spPr>
          <a:xfrm>
            <a:off x="5438396" y="4478499"/>
            <a:ext cx="3753456" cy="2233851"/>
          </a:xfrm>
          <a:prstGeom prst="rect">
            <a:avLst/>
          </a:prstGeom>
          <a:noFill/>
          <a:ln>
            <a:noFill/>
          </a:ln>
        </p:spPr>
      </p:pic>
      <p:sp>
        <p:nvSpPr>
          <p:cNvPr id="234" name="Google Shape;234;p11"/>
          <p:cNvSpPr/>
          <p:nvPr/>
        </p:nvSpPr>
        <p:spPr>
          <a:xfrm>
            <a:off x="5438404" y="6866775"/>
            <a:ext cx="3546300" cy="1932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504C49"/>
              </a:buClr>
              <a:buSzPts val="1450"/>
              <a:buFont typeface="Platypi Medium"/>
              <a:buNone/>
            </a:pPr>
            <a:r>
              <a:rPr b="0" i="0" lang="en-US" sz="1450" u="none" cap="none" strike="noStrike">
                <a:solidFill>
                  <a:srgbClr val="504C49"/>
                </a:solidFill>
                <a:latin typeface="Platypi Medium"/>
                <a:ea typeface="Platypi Medium"/>
                <a:cs typeface="Platypi Medium"/>
                <a:sym typeface="Platypi Medium"/>
              </a:rPr>
              <a:t>Market Basket Analysis</a:t>
            </a:r>
            <a:endParaRPr b="0" i="0" sz="1450" u="none" cap="none" strike="noStrike">
              <a:solidFill>
                <a:srgbClr val="000000"/>
              </a:solidFill>
              <a:latin typeface="Arial"/>
              <a:ea typeface="Arial"/>
              <a:cs typeface="Arial"/>
              <a:sym typeface="Arial"/>
            </a:endParaRPr>
          </a:p>
        </p:txBody>
      </p:sp>
      <p:sp>
        <p:nvSpPr>
          <p:cNvPr id="235" name="Google Shape;235;p11"/>
          <p:cNvSpPr/>
          <p:nvPr/>
        </p:nvSpPr>
        <p:spPr>
          <a:xfrm>
            <a:off x="5438396" y="7134073"/>
            <a:ext cx="3753600" cy="395400"/>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504C49"/>
              </a:buClr>
              <a:buSzPts val="1150"/>
              <a:buFont typeface="Arial"/>
              <a:buNone/>
            </a:pPr>
            <a:r>
              <a:rPr b="0" i="0" lang="en-US" sz="1150" u="none" cap="none" strike="noStrike">
                <a:solidFill>
                  <a:srgbClr val="504C49"/>
                </a:solidFill>
                <a:latin typeface="Arial"/>
                <a:ea typeface="Arial"/>
                <a:cs typeface="Arial"/>
                <a:sym typeface="Arial"/>
              </a:rPr>
              <a:t>Discover product associations to optimize store layouts and promotions.</a:t>
            </a:r>
            <a:endParaRPr b="0" i="0" sz="1150" u="none" cap="none" strike="noStrike">
              <a:solidFill>
                <a:srgbClr val="000000"/>
              </a:solidFill>
              <a:latin typeface="Arial"/>
              <a:ea typeface="Arial"/>
              <a:cs typeface="Arial"/>
              <a:sym typeface="Arial"/>
            </a:endParaRPr>
          </a:p>
        </p:txBody>
      </p:sp>
      <p:pic>
        <p:nvPicPr>
          <p:cNvPr descr="preencoded.png" id="236" name="Google Shape;236;p11"/>
          <p:cNvPicPr preferRelativeResize="0"/>
          <p:nvPr/>
        </p:nvPicPr>
        <p:blipFill rotWithShape="1">
          <a:blip r:embed="rId8">
            <a:alphaModFix/>
          </a:blip>
          <a:srcRect b="0" l="0" r="0" t="0"/>
          <a:stretch/>
        </p:blipFill>
        <p:spPr>
          <a:xfrm>
            <a:off x="9384379" y="4478499"/>
            <a:ext cx="3753558" cy="2233949"/>
          </a:xfrm>
          <a:prstGeom prst="rect">
            <a:avLst/>
          </a:prstGeom>
          <a:noFill/>
          <a:ln>
            <a:noFill/>
          </a:ln>
        </p:spPr>
      </p:pic>
      <p:sp>
        <p:nvSpPr>
          <p:cNvPr id="237" name="Google Shape;237;p11"/>
          <p:cNvSpPr/>
          <p:nvPr/>
        </p:nvSpPr>
        <p:spPr>
          <a:xfrm>
            <a:off x="9384379" y="6866884"/>
            <a:ext cx="1604400" cy="1932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504C49"/>
              </a:buClr>
              <a:buSzPts val="1450"/>
              <a:buFont typeface="Platypi Medium"/>
              <a:buNone/>
            </a:pPr>
            <a:r>
              <a:rPr b="0" i="0" lang="en-US" sz="1450" u="none" cap="none" strike="noStrike">
                <a:solidFill>
                  <a:srgbClr val="504C49"/>
                </a:solidFill>
                <a:latin typeface="Platypi Medium"/>
                <a:ea typeface="Platypi Medium"/>
                <a:cs typeface="Platypi Medium"/>
                <a:sym typeface="Platypi Medium"/>
              </a:rPr>
              <a:t>Patient Grouping</a:t>
            </a:r>
            <a:endParaRPr b="0" i="0" sz="1450" u="none" cap="none" strike="noStrike">
              <a:solidFill>
                <a:srgbClr val="000000"/>
              </a:solidFill>
              <a:latin typeface="Arial"/>
              <a:ea typeface="Arial"/>
              <a:cs typeface="Arial"/>
              <a:sym typeface="Arial"/>
            </a:endParaRPr>
          </a:p>
        </p:txBody>
      </p:sp>
      <p:sp>
        <p:nvSpPr>
          <p:cNvPr id="238" name="Google Shape;238;p11"/>
          <p:cNvSpPr/>
          <p:nvPr/>
        </p:nvSpPr>
        <p:spPr>
          <a:xfrm>
            <a:off x="9384379" y="7134171"/>
            <a:ext cx="3753600" cy="395400"/>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504C49"/>
              </a:buClr>
              <a:buSzPts val="1150"/>
              <a:buFont typeface="Arial"/>
              <a:buNone/>
            </a:pPr>
            <a:r>
              <a:rPr b="0" i="0" lang="en-US" sz="1150" u="none" cap="none" strike="noStrike">
                <a:solidFill>
                  <a:srgbClr val="504C49"/>
                </a:solidFill>
                <a:latin typeface="Arial"/>
                <a:ea typeface="Arial"/>
                <a:cs typeface="Arial"/>
                <a:sym typeface="Arial"/>
              </a:rPr>
              <a:t>Categorize patients with similar traits to improve personalized healthcare.</a:t>
            </a:r>
            <a:endParaRPr b="0" i="0" sz="1150" u="none" cap="none" strike="noStrike">
              <a:solidFill>
                <a:srgbClr val="000000"/>
              </a:solidFill>
              <a:latin typeface="Arial"/>
              <a:ea typeface="Arial"/>
              <a:cs typeface="Arial"/>
              <a:sym typeface="Arial"/>
            </a:endParaRPr>
          </a:p>
        </p:txBody>
      </p:sp>
      <p:pic>
        <p:nvPicPr>
          <p:cNvPr descr="preencoded.png" id="239" name="Google Shape;239;p11"/>
          <p:cNvPicPr preferRelativeResize="0"/>
          <p:nvPr/>
        </p:nvPicPr>
        <p:blipFill rotWithShape="1">
          <a:blip r:embed="rId9">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2"/>
          <p:cNvSpPr/>
          <p:nvPr/>
        </p:nvSpPr>
        <p:spPr>
          <a:xfrm>
            <a:off x="793790" y="1417201"/>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Choosing the Optimal Distance Metric for Clustering</a:t>
            </a:r>
            <a:endParaRPr b="0" i="0" sz="4450" u="none" cap="none" strike="noStrike">
              <a:solidFill>
                <a:srgbClr val="000000"/>
              </a:solidFill>
              <a:latin typeface="Arial"/>
              <a:ea typeface="Arial"/>
              <a:cs typeface="Arial"/>
              <a:sym typeface="Arial"/>
            </a:endParaRPr>
          </a:p>
        </p:txBody>
      </p:sp>
      <p:sp>
        <p:nvSpPr>
          <p:cNvPr id="246" name="Google Shape;246;p12"/>
          <p:cNvSpPr/>
          <p:nvPr/>
        </p:nvSpPr>
        <p:spPr>
          <a:xfrm>
            <a:off x="793790" y="3543538"/>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2"/>
          <p:cNvSpPr/>
          <p:nvPr/>
        </p:nvSpPr>
        <p:spPr>
          <a:xfrm>
            <a:off x="878860" y="3586043"/>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1</a:t>
            </a:r>
            <a:endParaRPr b="0" i="0" sz="2650" u="none" cap="none" strike="noStrike">
              <a:solidFill>
                <a:srgbClr val="000000"/>
              </a:solidFill>
              <a:latin typeface="Arial"/>
              <a:ea typeface="Arial"/>
              <a:cs typeface="Arial"/>
              <a:sym typeface="Arial"/>
            </a:endParaRPr>
          </a:p>
        </p:txBody>
      </p:sp>
      <p:sp>
        <p:nvSpPr>
          <p:cNvPr id="248" name="Google Shape;248;p12"/>
          <p:cNvSpPr/>
          <p:nvPr/>
        </p:nvSpPr>
        <p:spPr>
          <a:xfrm>
            <a:off x="1530906" y="354353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Data Type</a:t>
            </a:r>
            <a:endParaRPr b="0" i="0" sz="2200" u="none" cap="none" strike="noStrike">
              <a:solidFill>
                <a:srgbClr val="000000"/>
              </a:solidFill>
              <a:latin typeface="Arial"/>
              <a:ea typeface="Arial"/>
              <a:cs typeface="Arial"/>
              <a:sym typeface="Arial"/>
            </a:endParaRPr>
          </a:p>
        </p:txBody>
      </p:sp>
      <p:sp>
        <p:nvSpPr>
          <p:cNvPr id="249" name="Google Shape;249;p12"/>
          <p:cNvSpPr/>
          <p:nvPr/>
        </p:nvSpPr>
        <p:spPr>
          <a:xfrm>
            <a:off x="1530906" y="4033957"/>
            <a:ext cx="345924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Consider binary, categorical, or numerical data types.</a:t>
            </a:r>
            <a:endParaRPr b="0" i="0" sz="1750" u="none" cap="none" strike="noStrike">
              <a:solidFill>
                <a:srgbClr val="000000"/>
              </a:solidFill>
              <a:latin typeface="Arial"/>
              <a:ea typeface="Arial"/>
              <a:cs typeface="Arial"/>
              <a:sym typeface="Arial"/>
            </a:endParaRPr>
          </a:p>
        </p:txBody>
      </p:sp>
      <p:sp>
        <p:nvSpPr>
          <p:cNvPr id="250" name="Google Shape;250;p12"/>
          <p:cNvSpPr/>
          <p:nvPr/>
        </p:nvSpPr>
        <p:spPr>
          <a:xfrm>
            <a:off x="5216962" y="3543538"/>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2"/>
          <p:cNvSpPr/>
          <p:nvPr/>
        </p:nvSpPr>
        <p:spPr>
          <a:xfrm>
            <a:off x="5302032" y="3586043"/>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2</a:t>
            </a:r>
            <a:endParaRPr b="0" i="0" sz="2650" u="none" cap="none" strike="noStrike">
              <a:solidFill>
                <a:srgbClr val="000000"/>
              </a:solidFill>
              <a:latin typeface="Arial"/>
              <a:ea typeface="Arial"/>
              <a:cs typeface="Arial"/>
              <a:sym typeface="Arial"/>
            </a:endParaRPr>
          </a:p>
        </p:txBody>
      </p:sp>
      <p:sp>
        <p:nvSpPr>
          <p:cNvPr id="252" name="Google Shape;252;p12"/>
          <p:cNvSpPr/>
          <p:nvPr/>
        </p:nvSpPr>
        <p:spPr>
          <a:xfrm>
            <a:off x="5954078" y="354353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Scale Sensitivity</a:t>
            </a:r>
            <a:endParaRPr b="0" i="0" sz="2200" u="none" cap="none" strike="noStrike">
              <a:solidFill>
                <a:srgbClr val="000000"/>
              </a:solidFill>
              <a:latin typeface="Arial"/>
              <a:ea typeface="Arial"/>
              <a:cs typeface="Arial"/>
              <a:sym typeface="Arial"/>
            </a:endParaRPr>
          </a:p>
        </p:txBody>
      </p:sp>
      <p:sp>
        <p:nvSpPr>
          <p:cNvPr id="253" name="Google Shape;253;p12"/>
          <p:cNvSpPr/>
          <p:nvPr/>
        </p:nvSpPr>
        <p:spPr>
          <a:xfrm>
            <a:off x="5954078" y="4033957"/>
            <a:ext cx="345924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Address data scale issues through standardization.</a:t>
            </a:r>
            <a:endParaRPr b="0" i="0" sz="1750" u="none" cap="none" strike="noStrike">
              <a:solidFill>
                <a:srgbClr val="000000"/>
              </a:solidFill>
              <a:latin typeface="Arial"/>
              <a:ea typeface="Arial"/>
              <a:cs typeface="Arial"/>
              <a:sym typeface="Arial"/>
            </a:endParaRPr>
          </a:p>
        </p:txBody>
      </p:sp>
      <p:sp>
        <p:nvSpPr>
          <p:cNvPr id="254" name="Google Shape;254;p12"/>
          <p:cNvSpPr/>
          <p:nvPr/>
        </p:nvSpPr>
        <p:spPr>
          <a:xfrm>
            <a:off x="9640133" y="3543538"/>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2"/>
          <p:cNvSpPr/>
          <p:nvPr/>
        </p:nvSpPr>
        <p:spPr>
          <a:xfrm>
            <a:off x="9725204" y="3586043"/>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3</a:t>
            </a:r>
            <a:endParaRPr b="0" i="0" sz="2650" u="none" cap="none" strike="noStrike">
              <a:solidFill>
                <a:srgbClr val="000000"/>
              </a:solidFill>
              <a:latin typeface="Arial"/>
              <a:ea typeface="Arial"/>
              <a:cs typeface="Arial"/>
              <a:sym typeface="Arial"/>
            </a:endParaRPr>
          </a:p>
        </p:txBody>
      </p:sp>
      <p:sp>
        <p:nvSpPr>
          <p:cNvPr id="256" name="Google Shape;256;p12"/>
          <p:cNvSpPr/>
          <p:nvPr/>
        </p:nvSpPr>
        <p:spPr>
          <a:xfrm>
            <a:off x="10377249" y="354353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Interpretability</a:t>
            </a:r>
            <a:endParaRPr b="0" i="0" sz="2200" u="none" cap="none" strike="noStrike">
              <a:solidFill>
                <a:srgbClr val="000000"/>
              </a:solidFill>
              <a:latin typeface="Arial"/>
              <a:ea typeface="Arial"/>
              <a:cs typeface="Arial"/>
              <a:sym typeface="Arial"/>
            </a:endParaRPr>
          </a:p>
        </p:txBody>
      </p:sp>
      <p:sp>
        <p:nvSpPr>
          <p:cNvPr id="257" name="Google Shape;257;p12"/>
          <p:cNvSpPr/>
          <p:nvPr/>
        </p:nvSpPr>
        <p:spPr>
          <a:xfrm>
            <a:off x="10377249" y="4033957"/>
            <a:ext cx="345924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Ensure results are meaningful and comprehensible.</a:t>
            </a:r>
            <a:endParaRPr b="0" i="0" sz="1750" u="none" cap="none" strike="noStrike">
              <a:solidFill>
                <a:srgbClr val="000000"/>
              </a:solidFill>
              <a:latin typeface="Arial"/>
              <a:ea typeface="Arial"/>
              <a:cs typeface="Arial"/>
              <a:sym typeface="Arial"/>
            </a:endParaRPr>
          </a:p>
        </p:txBody>
      </p:sp>
      <p:sp>
        <p:nvSpPr>
          <p:cNvPr id="258" name="Google Shape;258;p12"/>
          <p:cNvSpPr/>
          <p:nvPr/>
        </p:nvSpPr>
        <p:spPr>
          <a:xfrm>
            <a:off x="793790" y="5241727"/>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2"/>
          <p:cNvSpPr/>
          <p:nvPr/>
        </p:nvSpPr>
        <p:spPr>
          <a:xfrm>
            <a:off x="878860" y="5284232"/>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4</a:t>
            </a:r>
            <a:endParaRPr b="0" i="0" sz="2650" u="none" cap="none" strike="noStrike">
              <a:solidFill>
                <a:srgbClr val="000000"/>
              </a:solidFill>
              <a:latin typeface="Arial"/>
              <a:ea typeface="Arial"/>
              <a:cs typeface="Arial"/>
              <a:sym typeface="Arial"/>
            </a:endParaRPr>
          </a:p>
        </p:txBody>
      </p:sp>
      <p:sp>
        <p:nvSpPr>
          <p:cNvPr id="260" name="Google Shape;260;p12"/>
          <p:cNvSpPr/>
          <p:nvPr/>
        </p:nvSpPr>
        <p:spPr>
          <a:xfrm>
            <a:off x="1530906" y="5241727"/>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Computational Efficiency</a:t>
            </a:r>
            <a:endParaRPr b="0" i="0" sz="2200" u="none" cap="none" strike="noStrike">
              <a:solidFill>
                <a:srgbClr val="000000"/>
              </a:solidFill>
              <a:latin typeface="Arial"/>
              <a:ea typeface="Arial"/>
              <a:cs typeface="Arial"/>
              <a:sym typeface="Arial"/>
            </a:endParaRPr>
          </a:p>
        </p:txBody>
      </p:sp>
      <p:sp>
        <p:nvSpPr>
          <p:cNvPr id="261" name="Google Shape;261;p12"/>
          <p:cNvSpPr/>
          <p:nvPr/>
        </p:nvSpPr>
        <p:spPr>
          <a:xfrm>
            <a:off x="1530906" y="6086475"/>
            <a:ext cx="345924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Consider complexity, especially for large datasets.</a:t>
            </a:r>
            <a:endParaRPr b="0" i="0" sz="1750" u="none" cap="none" strike="noStrike">
              <a:solidFill>
                <a:srgbClr val="000000"/>
              </a:solidFill>
              <a:latin typeface="Arial"/>
              <a:ea typeface="Arial"/>
              <a:cs typeface="Arial"/>
              <a:sym typeface="Arial"/>
            </a:endParaRPr>
          </a:p>
        </p:txBody>
      </p:sp>
      <p:sp>
        <p:nvSpPr>
          <p:cNvPr id="262" name="Google Shape;262;p12"/>
          <p:cNvSpPr/>
          <p:nvPr/>
        </p:nvSpPr>
        <p:spPr>
          <a:xfrm>
            <a:off x="5216962" y="5241727"/>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2"/>
          <p:cNvSpPr/>
          <p:nvPr/>
        </p:nvSpPr>
        <p:spPr>
          <a:xfrm>
            <a:off x="5302032" y="5284232"/>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5</a:t>
            </a:r>
            <a:endParaRPr b="0" i="0" sz="2650" u="none" cap="none" strike="noStrike">
              <a:solidFill>
                <a:srgbClr val="000000"/>
              </a:solidFill>
              <a:latin typeface="Arial"/>
              <a:ea typeface="Arial"/>
              <a:cs typeface="Arial"/>
              <a:sym typeface="Arial"/>
            </a:endParaRPr>
          </a:p>
        </p:txBody>
      </p:sp>
      <p:sp>
        <p:nvSpPr>
          <p:cNvPr id="264" name="Google Shape;264;p12"/>
          <p:cNvSpPr/>
          <p:nvPr/>
        </p:nvSpPr>
        <p:spPr>
          <a:xfrm>
            <a:off x="5954078" y="524172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Outlier Handling</a:t>
            </a:r>
            <a:endParaRPr b="0" i="0" sz="2200" u="none" cap="none" strike="noStrike">
              <a:solidFill>
                <a:srgbClr val="000000"/>
              </a:solidFill>
              <a:latin typeface="Arial"/>
              <a:ea typeface="Arial"/>
              <a:cs typeface="Arial"/>
              <a:sym typeface="Arial"/>
            </a:endParaRPr>
          </a:p>
        </p:txBody>
      </p:sp>
      <p:sp>
        <p:nvSpPr>
          <p:cNvPr id="265" name="Google Shape;265;p12"/>
          <p:cNvSpPr/>
          <p:nvPr/>
        </p:nvSpPr>
        <p:spPr>
          <a:xfrm>
            <a:off x="5954078" y="5732145"/>
            <a:ext cx="345924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Choose metrics less affected by outliers if present.</a:t>
            </a:r>
            <a:endParaRPr b="0" i="0" sz="1750" u="none" cap="none" strike="noStrike">
              <a:solidFill>
                <a:srgbClr val="000000"/>
              </a:solidFill>
              <a:latin typeface="Arial"/>
              <a:ea typeface="Arial"/>
              <a:cs typeface="Arial"/>
              <a:sym typeface="Arial"/>
            </a:endParaRPr>
          </a:p>
        </p:txBody>
      </p:sp>
      <p:sp>
        <p:nvSpPr>
          <p:cNvPr id="266" name="Google Shape;266;p12"/>
          <p:cNvSpPr/>
          <p:nvPr/>
        </p:nvSpPr>
        <p:spPr>
          <a:xfrm>
            <a:off x="9640133" y="5241727"/>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2"/>
          <p:cNvSpPr/>
          <p:nvPr/>
        </p:nvSpPr>
        <p:spPr>
          <a:xfrm>
            <a:off x="9725204" y="5284232"/>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6</a:t>
            </a:r>
            <a:endParaRPr b="0" i="0" sz="2650" u="none" cap="none" strike="noStrike">
              <a:solidFill>
                <a:srgbClr val="000000"/>
              </a:solidFill>
              <a:latin typeface="Arial"/>
              <a:ea typeface="Arial"/>
              <a:cs typeface="Arial"/>
              <a:sym typeface="Arial"/>
            </a:endParaRPr>
          </a:p>
        </p:txBody>
      </p:sp>
      <p:sp>
        <p:nvSpPr>
          <p:cNvPr id="268" name="Google Shape;268;p12"/>
          <p:cNvSpPr/>
          <p:nvPr/>
        </p:nvSpPr>
        <p:spPr>
          <a:xfrm>
            <a:off x="10377248" y="5241727"/>
            <a:ext cx="3459241" cy="51030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Clustering Algorithm</a:t>
            </a:r>
            <a:endParaRPr b="0" i="0" sz="2200" u="none" cap="none" strike="noStrike">
              <a:solidFill>
                <a:srgbClr val="000000"/>
              </a:solidFill>
              <a:latin typeface="Arial"/>
              <a:ea typeface="Arial"/>
              <a:cs typeface="Arial"/>
              <a:sym typeface="Arial"/>
            </a:endParaRPr>
          </a:p>
        </p:txBody>
      </p:sp>
      <p:sp>
        <p:nvSpPr>
          <p:cNvPr id="269" name="Google Shape;269;p12"/>
          <p:cNvSpPr/>
          <p:nvPr/>
        </p:nvSpPr>
        <p:spPr>
          <a:xfrm>
            <a:off x="10377249" y="5732145"/>
            <a:ext cx="3459242"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Match metric to the specific clustering method.</a:t>
            </a:r>
            <a:endParaRPr b="0" i="0" sz="1750" u="none" cap="none" strike="noStrike">
              <a:solidFill>
                <a:srgbClr val="000000"/>
              </a:solidFill>
              <a:latin typeface="Arial"/>
              <a:ea typeface="Arial"/>
              <a:cs typeface="Arial"/>
              <a:sym typeface="Arial"/>
            </a:endParaRPr>
          </a:p>
        </p:txBody>
      </p:sp>
      <p:pic>
        <p:nvPicPr>
          <p:cNvPr descr="preencoded.png" id="270" name="Google Shape;270;p12"/>
          <p:cNvPicPr preferRelativeResize="0"/>
          <p:nvPr/>
        </p:nvPicPr>
        <p:blipFill rotWithShape="1">
          <a:blip r:embed="rId3">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3"/>
          <p:cNvSpPr/>
          <p:nvPr/>
        </p:nvSpPr>
        <p:spPr>
          <a:xfrm>
            <a:off x="785098" y="618649"/>
            <a:ext cx="10358318" cy="70092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1B18"/>
              </a:buClr>
              <a:buSzPts val="4400"/>
              <a:buFont typeface="Platypi Medium"/>
              <a:buNone/>
            </a:pPr>
            <a:r>
              <a:rPr b="0" i="0" lang="en-US" sz="4400" u="none" cap="none" strike="noStrike">
                <a:solidFill>
                  <a:srgbClr val="201B18"/>
                </a:solidFill>
                <a:latin typeface="Platypi Medium"/>
                <a:ea typeface="Platypi Medium"/>
                <a:cs typeface="Platypi Medium"/>
                <a:sym typeface="Platypi Medium"/>
              </a:rPr>
              <a:t>Choosing the Right Distance Measure</a:t>
            </a:r>
            <a:endParaRPr b="0" i="0" sz="4400" u="none" cap="none" strike="noStrike">
              <a:solidFill>
                <a:srgbClr val="000000"/>
              </a:solidFill>
              <a:latin typeface="Arial"/>
              <a:ea typeface="Arial"/>
              <a:cs typeface="Arial"/>
              <a:sym typeface="Arial"/>
            </a:endParaRPr>
          </a:p>
        </p:txBody>
      </p:sp>
      <p:sp>
        <p:nvSpPr>
          <p:cNvPr id="277" name="Google Shape;277;p13"/>
          <p:cNvSpPr/>
          <p:nvPr/>
        </p:nvSpPr>
        <p:spPr>
          <a:xfrm>
            <a:off x="1037392" y="1768197"/>
            <a:ext cx="30480" cy="5842635"/>
          </a:xfrm>
          <a:prstGeom prst="roundRect">
            <a:avLst>
              <a:gd fmla="val 110401"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3"/>
          <p:cNvSpPr/>
          <p:nvPr/>
        </p:nvSpPr>
        <p:spPr>
          <a:xfrm>
            <a:off x="1259265" y="2257544"/>
            <a:ext cx="672941" cy="30480"/>
          </a:xfrm>
          <a:prstGeom prst="roundRect">
            <a:avLst>
              <a:gd fmla="val 110401"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3"/>
          <p:cNvSpPr/>
          <p:nvPr/>
        </p:nvSpPr>
        <p:spPr>
          <a:xfrm>
            <a:off x="785039" y="2020491"/>
            <a:ext cx="504706" cy="504706"/>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3"/>
          <p:cNvSpPr/>
          <p:nvPr/>
        </p:nvSpPr>
        <p:spPr>
          <a:xfrm>
            <a:off x="869097" y="2062520"/>
            <a:ext cx="336471" cy="4205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00"/>
              <a:buFont typeface="Platypi Medium"/>
              <a:buNone/>
            </a:pPr>
            <a:r>
              <a:rPr b="0" i="0" lang="en-US" sz="2600" u="none" cap="none" strike="noStrike">
                <a:solidFill>
                  <a:srgbClr val="504C49"/>
                </a:solidFill>
                <a:latin typeface="Platypi Medium"/>
                <a:ea typeface="Platypi Medium"/>
                <a:cs typeface="Platypi Medium"/>
                <a:sym typeface="Platypi Medium"/>
              </a:rPr>
              <a:t>1</a:t>
            </a:r>
            <a:endParaRPr b="0" i="0" sz="2600" u="none" cap="none" strike="noStrike">
              <a:solidFill>
                <a:srgbClr val="000000"/>
              </a:solidFill>
              <a:latin typeface="Arial"/>
              <a:ea typeface="Arial"/>
              <a:cs typeface="Arial"/>
              <a:sym typeface="Arial"/>
            </a:endParaRPr>
          </a:p>
        </p:txBody>
      </p:sp>
      <p:sp>
        <p:nvSpPr>
          <p:cNvPr id="281" name="Google Shape;281;p13"/>
          <p:cNvSpPr/>
          <p:nvPr/>
        </p:nvSpPr>
        <p:spPr>
          <a:xfrm>
            <a:off x="2159079" y="1992511"/>
            <a:ext cx="3865074" cy="48494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Euclidean Distance</a:t>
            </a:r>
            <a:endParaRPr b="0" i="0" sz="2200" u="none" cap="none" strike="noStrike">
              <a:solidFill>
                <a:srgbClr val="000000"/>
              </a:solidFill>
              <a:latin typeface="Arial"/>
              <a:ea typeface="Arial"/>
              <a:cs typeface="Arial"/>
              <a:sym typeface="Arial"/>
            </a:endParaRPr>
          </a:p>
        </p:txBody>
      </p:sp>
      <p:sp>
        <p:nvSpPr>
          <p:cNvPr id="282" name="Google Shape;282;p13"/>
          <p:cNvSpPr/>
          <p:nvPr/>
        </p:nvSpPr>
        <p:spPr>
          <a:xfrm>
            <a:off x="2159079" y="2477453"/>
            <a:ext cx="11686223" cy="35885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Best choice for continuous data with a Gaussian distribution where all dimensions carry equal importance</a:t>
            </a:r>
            <a:endParaRPr b="0" i="0" sz="1750" u="none" cap="none" strike="noStrike">
              <a:solidFill>
                <a:srgbClr val="000000"/>
              </a:solidFill>
              <a:latin typeface="Arial"/>
              <a:ea typeface="Arial"/>
              <a:cs typeface="Arial"/>
              <a:sym typeface="Arial"/>
            </a:endParaRPr>
          </a:p>
        </p:txBody>
      </p:sp>
      <p:sp>
        <p:nvSpPr>
          <p:cNvPr id="283" name="Google Shape;283;p13"/>
          <p:cNvSpPr/>
          <p:nvPr/>
        </p:nvSpPr>
        <p:spPr>
          <a:xfrm>
            <a:off x="1259265" y="3774281"/>
            <a:ext cx="672941" cy="30480"/>
          </a:xfrm>
          <a:prstGeom prst="roundRect">
            <a:avLst>
              <a:gd fmla="val 110401"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3"/>
          <p:cNvSpPr/>
          <p:nvPr/>
        </p:nvSpPr>
        <p:spPr>
          <a:xfrm>
            <a:off x="785039" y="3537228"/>
            <a:ext cx="504706" cy="504706"/>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3"/>
          <p:cNvSpPr/>
          <p:nvPr/>
        </p:nvSpPr>
        <p:spPr>
          <a:xfrm>
            <a:off x="869097" y="3579257"/>
            <a:ext cx="336471" cy="4205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00"/>
              <a:buFont typeface="Platypi Medium"/>
              <a:buNone/>
            </a:pPr>
            <a:r>
              <a:rPr b="0" i="0" lang="en-US" sz="2600" u="none" cap="none" strike="noStrike">
                <a:solidFill>
                  <a:srgbClr val="504C49"/>
                </a:solidFill>
                <a:latin typeface="Platypi Medium"/>
                <a:ea typeface="Platypi Medium"/>
                <a:cs typeface="Platypi Medium"/>
                <a:sym typeface="Platypi Medium"/>
              </a:rPr>
              <a:t>2</a:t>
            </a:r>
            <a:endParaRPr b="0" i="0" sz="2600" u="none" cap="none" strike="noStrike">
              <a:solidFill>
                <a:srgbClr val="000000"/>
              </a:solidFill>
              <a:latin typeface="Arial"/>
              <a:ea typeface="Arial"/>
              <a:cs typeface="Arial"/>
              <a:sym typeface="Arial"/>
            </a:endParaRPr>
          </a:p>
        </p:txBody>
      </p:sp>
      <p:sp>
        <p:nvSpPr>
          <p:cNvPr id="286" name="Google Shape;286;p13"/>
          <p:cNvSpPr/>
          <p:nvPr/>
        </p:nvSpPr>
        <p:spPr>
          <a:xfrm>
            <a:off x="2159079" y="3509248"/>
            <a:ext cx="2804160" cy="35040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Cosine Similarity</a:t>
            </a:r>
            <a:endParaRPr b="0" i="0" sz="2200" u="none" cap="none" strike="noStrike">
              <a:solidFill>
                <a:srgbClr val="000000"/>
              </a:solidFill>
              <a:latin typeface="Arial"/>
              <a:ea typeface="Arial"/>
              <a:cs typeface="Arial"/>
              <a:sym typeface="Arial"/>
            </a:endParaRPr>
          </a:p>
        </p:txBody>
      </p:sp>
      <p:sp>
        <p:nvSpPr>
          <p:cNvPr id="287" name="Google Shape;287;p13"/>
          <p:cNvSpPr/>
          <p:nvPr/>
        </p:nvSpPr>
        <p:spPr>
          <a:xfrm>
            <a:off x="2159079" y="3994190"/>
            <a:ext cx="11686223" cy="35885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Perfect for text data analysis or when the angle between vectors matters more than their magnitude</a:t>
            </a:r>
            <a:endParaRPr b="0" i="0" sz="1750" u="none" cap="none" strike="noStrike">
              <a:solidFill>
                <a:srgbClr val="000000"/>
              </a:solidFill>
              <a:latin typeface="Arial"/>
              <a:ea typeface="Arial"/>
              <a:cs typeface="Arial"/>
              <a:sym typeface="Arial"/>
            </a:endParaRPr>
          </a:p>
        </p:txBody>
      </p:sp>
      <p:sp>
        <p:nvSpPr>
          <p:cNvPr id="288" name="Google Shape;288;p13"/>
          <p:cNvSpPr/>
          <p:nvPr/>
        </p:nvSpPr>
        <p:spPr>
          <a:xfrm>
            <a:off x="1259265" y="5291018"/>
            <a:ext cx="672941" cy="30480"/>
          </a:xfrm>
          <a:prstGeom prst="roundRect">
            <a:avLst>
              <a:gd fmla="val 110401"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3"/>
          <p:cNvSpPr/>
          <p:nvPr/>
        </p:nvSpPr>
        <p:spPr>
          <a:xfrm>
            <a:off x="785039" y="5053965"/>
            <a:ext cx="504706" cy="504706"/>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3"/>
          <p:cNvSpPr/>
          <p:nvPr/>
        </p:nvSpPr>
        <p:spPr>
          <a:xfrm>
            <a:off x="869097" y="5095994"/>
            <a:ext cx="336471" cy="4205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00"/>
              <a:buFont typeface="Platypi Medium"/>
              <a:buNone/>
            </a:pPr>
            <a:r>
              <a:rPr b="0" i="0" lang="en-US" sz="2600" u="none" cap="none" strike="noStrike">
                <a:solidFill>
                  <a:srgbClr val="504C49"/>
                </a:solidFill>
                <a:latin typeface="Platypi Medium"/>
                <a:ea typeface="Platypi Medium"/>
                <a:cs typeface="Platypi Medium"/>
                <a:sym typeface="Platypi Medium"/>
              </a:rPr>
              <a:t>3</a:t>
            </a:r>
            <a:endParaRPr b="0" i="0" sz="2600" u="none" cap="none" strike="noStrike">
              <a:solidFill>
                <a:srgbClr val="000000"/>
              </a:solidFill>
              <a:latin typeface="Arial"/>
              <a:ea typeface="Arial"/>
              <a:cs typeface="Arial"/>
              <a:sym typeface="Arial"/>
            </a:endParaRPr>
          </a:p>
        </p:txBody>
      </p:sp>
      <p:sp>
        <p:nvSpPr>
          <p:cNvPr id="291" name="Google Shape;291;p13"/>
          <p:cNvSpPr/>
          <p:nvPr/>
        </p:nvSpPr>
        <p:spPr>
          <a:xfrm>
            <a:off x="2159079" y="5025985"/>
            <a:ext cx="4080612" cy="53268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Manhattan Distance</a:t>
            </a:r>
            <a:endParaRPr b="0" i="0" sz="2200" u="none" cap="none" strike="noStrike">
              <a:solidFill>
                <a:srgbClr val="000000"/>
              </a:solidFill>
              <a:latin typeface="Arial"/>
              <a:ea typeface="Arial"/>
              <a:cs typeface="Arial"/>
              <a:sym typeface="Arial"/>
            </a:endParaRPr>
          </a:p>
        </p:txBody>
      </p:sp>
      <p:sp>
        <p:nvSpPr>
          <p:cNvPr id="292" name="Google Shape;292;p13"/>
          <p:cNvSpPr/>
          <p:nvPr/>
        </p:nvSpPr>
        <p:spPr>
          <a:xfrm>
            <a:off x="2159079" y="5510927"/>
            <a:ext cx="11686223" cy="35885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Optimal for data with uniform distribution or when dimensions have different levels of importance</a:t>
            </a:r>
            <a:endParaRPr b="0" i="0" sz="1750" u="none" cap="none" strike="noStrike">
              <a:solidFill>
                <a:srgbClr val="000000"/>
              </a:solidFill>
              <a:latin typeface="Arial"/>
              <a:ea typeface="Arial"/>
              <a:cs typeface="Arial"/>
              <a:sym typeface="Arial"/>
            </a:endParaRPr>
          </a:p>
        </p:txBody>
      </p:sp>
      <p:sp>
        <p:nvSpPr>
          <p:cNvPr id="293" name="Google Shape;293;p13"/>
          <p:cNvSpPr/>
          <p:nvPr/>
        </p:nvSpPr>
        <p:spPr>
          <a:xfrm>
            <a:off x="1259265" y="6807756"/>
            <a:ext cx="672941" cy="30480"/>
          </a:xfrm>
          <a:prstGeom prst="roundRect">
            <a:avLst>
              <a:gd fmla="val 110401"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3"/>
          <p:cNvSpPr/>
          <p:nvPr/>
        </p:nvSpPr>
        <p:spPr>
          <a:xfrm>
            <a:off x="785039" y="6570702"/>
            <a:ext cx="504706" cy="504706"/>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3"/>
          <p:cNvSpPr/>
          <p:nvPr/>
        </p:nvSpPr>
        <p:spPr>
          <a:xfrm>
            <a:off x="869097" y="6612731"/>
            <a:ext cx="336471" cy="4205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00"/>
              <a:buFont typeface="Platypi Medium"/>
              <a:buNone/>
            </a:pPr>
            <a:r>
              <a:rPr b="0" i="0" lang="en-US" sz="2600" u="none" cap="none" strike="noStrike">
                <a:solidFill>
                  <a:srgbClr val="504C49"/>
                </a:solidFill>
                <a:latin typeface="Platypi Medium"/>
                <a:ea typeface="Platypi Medium"/>
                <a:cs typeface="Platypi Medium"/>
                <a:sym typeface="Platypi Medium"/>
              </a:rPr>
              <a:t>4</a:t>
            </a:r>
            <a:endParaRPr b="0" i="0" sz="2600" u="none" cap="none" strike="noStrike">
              <a:solidFill>
                <a:srgbClr val="000000"/>
              </a:solidFill>
              <a:latin typeface="Arial"/>
              <a:ea typeface="Arial"/>
              <a:cs typeface="Arial"/>
              <a:sym typeface="Arial"/>
            </a:endParaRPr>
          </a:p>
        </p:txBody>
      </p:sp>
      <p:sp>
        <p:nvSpPr>
          <p:cNvPr id="296" name="Google Shape;296;p13"/>
          <p:cNvSpPr/>
          <p:nvPr/>
        </p:nvSpPr>
        <p:spPr>
          <a:xfrm>
            <a:off x="2159079" y="6553609"/>
            <a:ext cx="4949292" cy="31992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200" u="none" cap="none" strike="noStrike">
                <a:solidFill>
                  <a:srgbClr val="504C49"/>
                </a:solidFill>
                <a:latin typeface="Platypi Medium"/>
                <a:ea typeface="Platypi Medium"/>
                <a:cs typeface="Platypi Medium"/>
                <a:sym typeface="Platypi Medium"/>
              </a:rPr>
              <a:t>Minkowski Distance</a:t>
            </a:r>
            <a:endParaRPr b="0" i="0" sz="2200" u="none" cap="none" strike="noStrike">
              <a:solidFill>
                <a:srgbClr val="000000"/>
              </a:solidFill>
              <a:latin typeface="Arial"/>
              <a:ea typeface="Arial"/>
              <a:cs typeface="Arial"/>
              <a:sym typeface="Arial"/>
            </a:endParaRPr>
          </a:p>
        </p:txBody>
      </p:sp>
      <p:sp>
        <p:nvSpPr>
          <p:cNvPr id="297" name="Google Shape;297;p13"/>
          <p:cNvSpPr/>
          <p:nvPr/>
        </p:nvSpPr>
        <p:spPr>
          <a:xfrm>
            <a:off x="2159079" y="7027664"/>
            <a:ext cx="11686223" cy="35885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Ideal when you need to generalize between Euclidean and Manhattan distances with flexible parameters</a:t>
            </a:r>
            <a:endParaRPr b="0" i="0" sz="1750" u="none" cap="none" strike="noStrike">
              <a:solidFill>
                <a:srgbClr val="000000"/>
              </a:solidFill>
              <a:latin typeface="Arial"/>
              <a:ea typeface="Arial"/>
              <a:cs typeface="Arial"/>
              <a:sym typeface="Arial"/>
            </a:endParaRPr>
          </a:p>
        </p:txBody>
      </p:sp>
      <p:pic>
        <p:nvPicPr>
          <p:cNvPr descr="preencoded.png" id="298" name="Google Shape;298;p13"/>
          <p:cNvPicPr preferRelativeResize="0"/>
          <p:nvPr/>
        </p:nvPicPr>
        <p:blipFill rotWithShape="1">
          <a:blip r:embed="rId3">
            <a:alphaModFix/>
          </a:blip>
          <a:srcRect b="0" l="0" r="0" t="0"/>
          <a:stretch/>
        </p:blipFill>
        <p:spPr>
          <a:xfrm>
            <a:off x="13624560" y="228600"/>
            <a:ext cx="777240" cy="60948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4"/>
          <p:cNvSpPr/>
          <p:nvPr/>
        </p:nvSpPr>
        <p:spPr>
          <a:xfrm>
            <a:off x="8108990" y="1463993"/>
            <a:ext cx="57276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Visualizing the Clusters</a:t>
            </a:r>
            <a:endParaRPr b="0" i="0" sz="4450" u="none" cap="none" strike="noStrike">
              <a:solidFill>
                <a:srgbClr val="000000"/>
              </a:solidFill>
              <a:latin typeface="Arial"/>
              <a:ea typeface="Arial"/>
              <a:cs typeface="Arial"/>
              <a:sym typeface="Arial"/>
            </a:endParaRPr>
          </a:p>
        </p:txBody>
      </p:sp>
      <p:sp>
        <p:nvSpPr>
          <p:cNvPr id="305" name="Google Shape;305;p14"/>
          <p:cNvSpPr/>
          <p:nvPr/>
        </p:nvSpPr>
        <p:spPr>
          <a:xfrm>
            <a:off x="8108990" y="3448526"/>
            <a:ext cx="2587109"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1B18"/>
              </a:buClr>
              <a:buSzPts val="2200"/>
              <a:buFont typeface="Platypi Medium"/>
              <a:buNone/>
            </a:pPr>
            <a:r>
              <a:rPr b="0" i="0" lang="en-US" sz="2200" u="none" cap="none" strike="noStrike">
                <a:solidFill>
                  <a:srgbClr val="201B18"/>
                </a:solidFill>
                <a:latin typeface="Platypi Medium"/>
                <a:ea typeface="Platypi Medium"/>
                <a:cs typeface="Platypi Medium"/>
                <a:sym typeface="Platypi Medium"/>
              </a:rPr>
              <a:t>2D/3D Scatter Plots</a:t>
            </a:r>
            <a:endParaRPr b="0" i="0" sz="2200" u="none" cap="none" strike="noStrike">
              <a:solidFill>
                <a:srgbClr val="000000"/>
              </a:solidFill>
              <a:latin typeface="Arial"/>
              <a:ea typeface="Arial"/>
              <a:cs typeface="Arial"/>
              <a:sym typeface="Arial"/>
            </a:endParaRPr>
          </a:p>
        </p:txBody>
      </p:sp>
      <p:sp>
        <p:nvSpPr>
          <p:cNvPr id="306" name="Google Shape;306;p14"/>
          <p:cNvSpPr/>
          <p:nvPr/>
        </p:nvSpPr>
        <p:spPr>
          <a:xfrm>
            <a:off x="8108990" y="4384000"/>
            <a:ext cx="2587109"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Plot data points in two or three dimensions, using different colors or markers to represent distinct clusters and their centroids.</a:t>
            </a:r>
            <a:endParaRPr b="0" i="0" sz="1750" u="none" cap="none" strike="noStrike">
              <a:solidFill>
                <a:srgbClr val="000000"/>
              </a:solidFill>
              <a:latin typeface="Arial"/>
              <a:ea typeface="Arial"/>
              <a:cs typeface="Arial"/>
              <a:sym typeface="Arial"/>
            </a:endParaRPr>
          </a:p>
        </p:txBody>
      </p:sp>
      <p:sp>
        <p:nvSpPr>
          <p:cNvPr id="307" name="Google Shape;307;p14"/>
          <p:cNvSpPr/>
          <p:nvPr/>
        </p:nvSpPr>
        <p:spPr>
          <a:xfrm>
            <a:off x="11257121" y="3448526"/>
            <a:ext cx="258710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1B18"/>
              </a:buClr>
              <a:buSzPts val="2200"/>
              <a:buFont typeface="Platypi Medium"/>
              <a:buNone/>
            </a:pPr>
            <a:r>
              <a:rPr b="0" i="0" lang="en-US" sz="2200" u="none" cap="none" strike="noStrike">
                <a:solidFill>
                  <a:srgbClr val="201B18"/>
                </a:solidFill>
                <a:latin typeface="Platypi Medium"/>
                <a:ea typeface="Platypi Medium"/>
                <a:cs typeface="Platypi Medium"/>
                <a:sym typeface="Platypi Medium"/>
              </a:rPr>
              <a:t>Libraries</a:t>
            </a:r>
            <a:endParaRPr b="0" i="0" sz="2200" u="none" cap="none" strike="noStrike">
              <a:solidFill>
                <a:srgbClr val="000000"/>
              </a:solidFill>
              <a:latin typeface="Arial"/>
              <a:ea typeface="Arial"/>
              <a:cs typeface="Arial"/>
              <a:sym typeface="Arial"/>
            </a:endParaRPr>
          </a:p>
        </p:txBody>
      </p:sp>
      <p:sp>
        <p:nvSpPr>
          <p:cNvPr id="308" name="Google Shape;308;p14"/>
          <p:cNvSpPr/>
          <p:nvPr/>
        </p:nvSpPr>
        <p:spPr>
          <a:xfrm>
            <a:off x="11257121" y="4029670"/>
            <a:ext cx="258710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1750" u="none" cap="none" strike="noStrike">
                <a:solidFill>
                  <a:srgbClr val="504C49"/>
                </a:solidFill>
                <a:latin typeface="Arial"/>
                <a:ea typeface="Arial"/>
                <a:cs typeface="Arial"/>
                <a:sym typeface="Arial"/>
              </a:rPr>
              <a:t>Matplotlib or Seaborn for plotting</a:t>
            </a:r>
            <a:endParaRPr b="0" i="0" sz="1750" u="none" cap="none" strike="noStrike">
              <a:solidFill>
                <a:srgbClr val="000000"/>
              </a:solidFill>
              <a:latin typeface="Arial"/>
              <a:ea typeface="Arial"/>
              <a:cs typeface="Arial"/>
              <a:sym typeface="Arial"/>
            </a:endParaRPr>
          </a:p>
        </p:txBody>
      </p:sp>
      <p:pic>
        <p:nvPicPr>
          <p:cNvPr descr="preencoded.png" id="309" name="Google Shape;309;p14"/>
          <p:cNvPicPr preferRelativeResize="0"/>
          <p:nvPr/>
        </p:nvPicPr>
        <p:blipFill rotWithShape="1">
          <a:blip r:embed="rId3">
            <a:alphaModFix/>
          </a:blip>
          <a:srcRect b="0" l="0" r="0" t="0"/>
          <a:stretch/>
        </p:blipFill>
        <p:spPr>
          <a:xfrm>
            <a:off x="13624560" y="228600"/>
            <a:ext cx="777240" cy="609481"/>
          </a:xfrm>
          <a:prstGeom prst="rect">
            <a:avLst/>
          </a:prstGeom>
          <a:noFill/>
          <a:ln>
            <a:noFill/>
          </a:ln>
        </p:spPr>
      </p:pic>
      <p:pic>
        <p:nvPicPr>
          <p:cNvPr id="310" name="Google Shape;310;p14" title="k means.gif"/>
          <p:cNvPicPr preferRelativeResize="0"/>
          <p:nvPr/>
        </p:nvPicPr>
        <p:blipFill rotWithShape="1">
          <a:blip r:embed="rId4">
            <a:alphaModFix/>
          </a:blip>
          <a:srcRect b="0" l="0" r="0" t="0"/>
          <a:stretch/>
        </p:blipFill>
        <p:spPr>
          <a:xfrm>
            <a:off x="0" y="876275"/>
            <a:ext cx="7804188" cy="585314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5"/>
          <p:cNvSpPr/>
          <p:nvPr/>
        </p:nvSpPr>
        <p:spPr>
          <a:xfrm>
            <a:off x="793790" y="1978700"/>
            <a:ext cx="8611467"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Summary and Next Steps</a:t>
            </a:r>
            <a:endParaRPr b="0" i="0" sz="4450" u="none" cap="none" strike="noStrike">
              <a:solidFill>
                <a:srgbClr val="000000"/>
              </a:solidFill>
              <a:latin typeface="Arial"/>
              <a:ea typeface="Arial"/>
              <a:cs typeface="Arial"/>
              <a:sym typeface="Arial"/>
            </a:endParaRPr>
          </a:p>
        </p:txBody>
      </p:sp>
      <p:sp>
        <p:nvSpPr>
          <p:cNvPr id="317" name="Google Shape;317;p15"/>
          <p:cNvSpPr/>
          <p:nvPr/>
        </p:nvSpPr>
        <p:spPr>
          <a:xfrm>
            <a:off x="793790" y="325445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1B18"/>
              </a:buClr>
              <a:buSzPts val="2200"/>
              <a:buFont typeface="Platypi Medium"/>
              <a:buNone/>
            </a:pPr>
            <a:r>
              <a:rPr b="0" i="0" lang="en-US" sz="2200" u="none" cap="none" strike="noStrike">
                <a:solidFill>
                  <a:srgbClr val="201B18"/>
                </a:solidFill>
                <a:latin typeface="Platypi Medium"/>
                <a:ea typeface="Platypi Medium"/>
                <a:cs typeface="Platypi Medium"/>
                <a:sym typeface="Platypi Medium"/>
              </a:rPr>
              <a:t>Key Points</a:t>
            </a:r>
            <a:endParaRPr b="0" i="0" sz="2200" u="none" cap="none" strike="noStrike">
              <a:solidFill>
                <a:srgbClr val="000000"/>
              </a:solidFill>
              <a:latin typeface="Arial"/>
              <a:ea typeface="Arial"/>
              <a:cs typeface="Arial"/>
              <a:sym typeface="Arial"/>
            </a:endParaRPr>
          </a:p>
        </p:txBody>
      </p:sp>
      <p:sp>
        <p:nvSpPr>
          <p:cNvPr id="318" name="Google Shape;318;p15"/>
          <p:cNvSpPr/>
          <p:nvPr/>
        </p:nvSpPr>
        <p:spPr>
          <a:xfrm>
            <a:off x="793790" y="3835598"/>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504C49"/>
              </a:buClr>
              <a:buSzPts val="1750"/>
              <a:buFont typeface="Arial"/>
              <a:buChar char="•"/>
            </a:pPr>
            <a:r>
              <a:rPr b="0" i="0" lang="en-US" sz="1750" u="none" cap="none" strike="noStrike">
                <a:solidFill>
                  <a:srgbClr val="504C49"/>
                </a:solidFill>
                <a:latin typeface="Arial"/>
                <a:ea typeface="Arial"/>
                <a:cs typeface="Arial"/>
                <a:sym typeface="Arial"/>
              </a:rPr>
              <a:t>K-Means clustering fundamentals and mathematical foundations</a:t>
            </a:r>
            <a:endParaRPr b="0" i="0" sz="1750" u="none" cap="none" strike="noStrike">
              <a:solidFill>
                <a:srgbClr val="000000"/>
              </a:solidFill>
              <a:latin typeface="Arial"/>
              <a:ea typeface="Arial"/>
              <a:cs typeface="Arial"/>
              <a:sym typeface="Arial"/>
            </a:endParaRPr>
          </a:p>
        </p:txBody>
      </p:sp>
      <p:sp>
        <p:nvSpPr>
          <p:cNvPr id="319" name="Google Shape;319;p15"/>
          <p:cNvSpPr/>
          <p:nvPr/>
        </p:nvSpPr>
        <p:spPr>
          <a:xfrm>
            <a:off x="793790" y="4640699"/>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504C49"/>
              </a:buClr>
              <a:buSzPts val="1750"/>
              <a:buFont typeface="Arial"/>
              <a:buChar char="•"/>
            </a:pPr>
            <a:r>
              <a:rPr b="0" i="0" lang="en-US" sz="1750" u="none" cap="none" strike="noStrike">
                <a:solidFill>
                  <a:srgbClr val="504C49"/>
                </a:solidFill>
                <a:latin typeface="Arial"/>
                <a:ea typeface="Arial"/>
                <a:cs typeface="Arial"/>
                <a:sym typeface="Arial"/>
              </a:rPr>
              <a:t>Step-by-step implementation process from initialization to convergence</a:t>
            </a:r>
            <a:endParaRPr b="0" i="0" sz="1750" u="none" cap="none" strike="noStrike">
              <a:solidFill>
                <a:srgbClr val="000000"/>
              </a:solidFill>
              <a:latin typeface="Arial"/>
              <a:ea typeface="Arial"/>
              <a:cs typeface="Arial"/>
              <a:sym typeface="Arial"/>
            </a:endParaRPr>
          </a:p>
        </p:txBody>
      </p:sp>
      <p:sp>
        <p:nvSpPr>
          <p:cNvPr id="320" name="Google Shape;320;p15"/>
          <p:cNvSpPr/>
          <p:nvPr/>
        </p:nvSpPr>
        <p:spPr>
          <a:xfrm>
            <a:off x="793790" y="5445800"/>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504C49"/>
              </a:buClr>
              <a:buSzPts val="1750"/>
              <a:buFont typeface="Arial"/>
              <a:buChar char="•"/>
            </a:pPr>
            <a:r>
              <a:rPr b="0" i="0" lang="en-US" sz="1750" u="none" cap="none" strike="noStrike">
                <a:solidFill>
                  <a:srgbClr val="504C49"/>
                </a:solidFill>
                <a:latin typeface="Arial"/>
                <a:ea typeface="Arial"/>
                <a:cs typeface="Arial"/>
                <a:sym typeface="Arial"/>
              </a:rPr>
              <a:t>Cluster evaluation methods including silhouette score and inertia</a:t>
            </a:r>
            <a:endParaRPr b="0" i="0" sz="1750" u="none" cap="none" strike="noStrike">
              <a:solidFill>
                <a:srgbClr val="000000"/>
              </a:solidFill>
              <a:latin typeface="Arial"/>
              <a:ea typeface="Arial"/>
              <a:cs typeface="Arial"/>
              <a:sym typeface="Arial"/>
            </a:endParaRPr>
          </a:p>
        </p:txBody>
      </p:sp>
      <p:sp>
        <p:nvSpPr>
          <p:cNvPr id="321" name="Google Shape;321;p15"/>
          <p:cNvSpPr/>
          <p:nvPr/>
        </p:nvSpPr>
        <p:spPr>
          <a:xfrm>
            <a:off x="7599521" y="325445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1B18"/>
              </a:buClr>
              <a:buSzPts val="2200"/>
              <a:buFont typeface="Platypi Medium"/>
              <a:buNone/>
            </a:pPr>
            <a:r>
              <a:rPr b="0" i="0" lang="en-US" sz="2200" u="none" cap="none" strike="noStrike">
                <a:solidFill>
                  <a:srgbClr val="201B18"/>
                </a:solidFill>
                <a:latin typeface="Platypi Medium"/>
                <a:ea typeface="Platypi Medium"/>
                <a:cs typeface="Platypi Medium"/>
                <a:sym typeface="Platypi Medium"/>
              </a:rPr>
              <a:t>Further Exploration</a:t>
            </a:r>
            <a:endParaRPr b="0" i="0" sz="2200" u="none" cap="none" strike="noStrike">
              <a:solidFill>
                <a:srgbClr val="000000"/>
              </a:solidFill>
              <a:latin typeface="Arial"/>
              <a:ea typeface="Arial"/>
              <a:cs typeface="Arial"/>
              <a:sym typeface="Arial"/>
            </a:endParaRPr>
          </a:p>
        </p:txBody>
      </p:sp>
      <p:sp>
        <p:nvSpPr>
          <p:cNvPr id="322" name="Google Shape;322;p15"/>
          <p:cNvSpPr/>
          <p:nvPr/>
        </p:nvSpPr>
        <p:spPr>
          <a:xfrm>
            <a:off x="7599521" y="3835598"/>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504C49"/>
              </a:buClr>
              <a:buSzPts val="1750"/>
              <a:buFont typeface="Arial"/>
              <a:buChar char="•"/>
            </a:pPr>
            <a:r>
              <a:rPr b="0" i="0" lang="en-US" sz="1750" u="none" cap="none" strike="noStrike">
                <a:solidFill>
                  <a:srgbClr val="504C49"/>
                </a:solidFill>
                <a:latin typeface="Arial"/>
                <a:ea typeface="Arial"/>
                <a:cs typeface="Arial"/>
                <a:sym typeface="Arial"/>
              </a:rPr>
              <a:t>Advanced clustering algorithms such as DBSCAN, hierarchical clustering, and spectral clustering</a:t>
            </a:r>
            <a:endParaRPr b="0" i="0" sz="1750" u="none" cap="none" strike="noStrike">
              <a:solidFill>
                <a:srgbClr val="000000"/>
              </a:solidFill>
              <a:latin typeface="Arial"/>
              <a:ea typeface="Arial"/>
              <a:cs typeface="Arial"/>
              <a:sym typeface="Arial"/>
            </a:endParaRPr>
          </a:p>
        </p:txBody>
      </p:sp>
      <p:sp>
        <p:nvSpPr>
          <p:cNvPr id="323" name="Google Shape;323;p15"/>
          <p:cNvSpPr/>
          <p:nvPr/>
        </p:nvSpPr>
        <p:spPr>
          <a:xfrm>
            <a:off x="7599521" y="4640699"/>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504C49"/>
              </a:buClr>
              <a:buSzPts val="1750"/>
              <a:buFont typeface="Arial"/>
              <a:buChar char="•"/>
            </a:pPr>
            <a:r>
              <a:rPr b="0" i="0" lang="en-US" sz="1750" u="none" cap="none" strike="noStrike">
                <a:solidFill>
                  <a:srgbClr val="504C49"/>
                </a:solidFill>
                <a:latin typeface="Arial"/>
                <a:ea typeface="Arial"/>
                <a:cs typeface="Arial"/>
                <a:sym typeface="Arial"/>
              </a:rPr>
              <a:t>Optimizing K-Means through parameter tuning and initialization strategies</a:t>
            </a:r>
            <a:endParaRPr b="0" i="0" sz="1750" u="none" cap="none" strike="noStrike">
              <a:solidFill>
                <a:srgbClr val="000000"/>
              </a:solidFill>
              <a:latin typeface="Arial"/>
              <a:ea typeface="Arial"/>
              <a:cs typeface="Arial"/>
              <a:sym typeface="Arial"/>
            </a:endParaRPr>
          </a:p>
        </p:txBody>
      </p:sp>
      <p:sp>
        <p:nvSpPr>
          <p:cNvPr id="324" name="Google Shape;324;p15"/>
          <p:cNvSpPr/>
          <p:nvPr/>
        </p:nvSpPr>
        <p:spPr>
          <a:xfrm>
            <a:off x="7599521" y="5445800"/>
            <a:ext cx="6244709"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504C49"/>
              </a:buClr>
              <a:buSzPts val="1750"/>
              <a:buFont typeface="Arial"/>
              <a:buChar char="•"/>
            </a:pPr>
            <a:r>
              <a:rPr b="0" i="0" lang="en-US" sz="1750" u="none" cap="none" strike="noStrike">
                <a:solidFill>
                  <a:srgbClr val="504C49"/>
                </a:solidFill>
                <a:latin typeface="Arial"/>
                <a:ea typeface="Arial"/>
                <a:cs typeface="Arial"/>
                <a:sym typeface="Arial"/>
              </a:rPr>
              <a:t>Applying distance metrics to real-world datasets across various domains</a:t>
            </a:r>
            <a:endParaRPr b="0" i="0" sz="1750" u="none" cap="none" strike="noStrike">
              <a:solidFill>
                <a:srgbClr val="000000"/>
              </a:solidFill>
              <a:latin typeface="Arial"/>
              <a:ea typeface="Arial"/>
              <a:cs typeface="Arial"/>
              <a:sym typeface="Arial"/>
            </a:endParaRPr>
          </a:p>
        </p:txBody>
      </p:sp>
      <p:pic>
        <p:nvPicPr>
          <p:cNvPr descr="preencoded.png" id="325" name="Google Shape;325;p15"/>
          <p:cNvPicPr preferRelativeResize="0"/>
          <p:nvPr/>
        </p:nvPicPr>
        <p:blipFill rotWithShape="1">
          <a:blip r:embed="rId3">
            <a:alphaModFix/>
          </a:blip>
          <a:srcRect b="0" l="0" r="0" t="0"/>
          <a:stretch/>
        </p:blipFill>
        <p:spPr>
          <a:xfrm>
            <a:off x="13624560" y="228600"/>
            <a:ext cx="777240" cy="6094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2025-04-04T08:09:31Z</dcterms:created>
  <dc:creator>PptxGenJS</dc:creator>
</cp:coreProperties>
</file>