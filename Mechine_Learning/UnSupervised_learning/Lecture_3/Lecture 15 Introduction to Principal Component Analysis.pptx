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8229600" cx="14630400"/>
  <p:notesSz cx="8229600" cy="14630400"/>
  <p:embeddedFontLst>
    <p:embeddedFont>
      <p:font typeface="Platypi Medium"/>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hdhDGIQRDH1jXsuHg/GsTCoox3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latypiMedium-bold.fntdata"/><Relationship Id="rId30" Type="http://schemas.openxmlformats.org/officeDocument/2006/relationships/font" Target="fonts/PlatypiMedium-regular.fntdata"/><Relationship Id="rId11" Type="http://schemas.openxmlformats.org/officeDocument/2006/relationships/slide" Target="slides/slide7.xml"/><Relationship Id="rId33" Type="http://schemas.openxmlformats.org/officeDocument/2006/relationships/font" Target="fonts/PlatypiMedium-boldItalic.fntdata"/><Relationship Id="rId10" Type="http://schemas.openxmlformats.org/officeDocument/2006/relationships/slide" Target="slides/slide6.xml"/><Relationship Id="rId32" Type="http://schemas.openxmlformats.org/officeDocument/2006/relationships/font" Target="fonts/PlatypiMedium-italic.fntdata"/><Relationship Id="rId13" Type="http://schemas.openxmlformats.org/officeDocument/2006/relationships/slide" Target="slides/slide9.xml"/><Relationship Id="rId12" Type="http://schemas.openxmlformats.org/officeDocument/2006/relationships/slide" Target="slides/slide8.xml"/><Relationship Id="rId34"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 name="Google Shape;7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5dc6368ad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5dc6368ad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g35dc6368ad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8" name="Google Shape;31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0" name="Google Shape;39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3" name="Google Shape;42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0" name="Google Shape;44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0" name="Google Shape;46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23"/>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sp>
        <p:nvSpPr>
          <p:cNvPr id="14" name="Google Shape;14;p24"/>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sp>
        <p:nvSpPr>
          <p:cNvPr id="17" name="Google Shape;17;p25"/>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sp>
        <p:nvSpPr>
          <p:cNvPr id="20" name="Google Shape;20;p26"/>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27"/>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sp>
        <p:nvSpPr>
          <p:cNvPr id="26" name="Google Shape;26;p28"/>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sp>
        <p:nvSpPr>
          <p:cNvPr id="29" name="Google Shape;29;p29"/>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1" name="Shape 31"/>
        <p:cNvGrpSpPr/>
        <p:nvPr/>
      </p:nvGrpSpPr>
      <p:grpSpPr>
        <a:xfrm>
          <a:off x="0" y="0"/>
          <a:ext cx="0" cy="0"/>
          <a:chOff x="0" y="0"/>
          <a:chExt cx="0" cy="0"/>
        </a:xfrm>
      </p:grpSpPr>
      <p:sp>
        <p:nvSpPr>
          <p:cNvPr id="32" name="Google Shape;32;p30"/>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3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4" name="Shape 34"/>
        <p:cNvGrpSpPr/>
        <p:nvPr/>
      </p:nvGrpSpPr>
      <p:grpSpPr>
        <a:xfrm>
          <a:off x="0" y="0"/>
          <a:ext cx="0" cy="0"/>
          <a:chOff x="0" y="0"/>
          <a:chExt cx="0" cy="0"/>
        </a:xfrm>
      </p:grpSpPr>
      <p:sp>
        <p:nvSpPr>
          <p:cNvPr id="35" name="Google Shape;35;p31"/>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3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37" name="Shape 37"/>
        <p:cNvGrpSpPr/>
        <p:nvPr/>
      </p:nvGrpSpPr>
      <p:grpSpPr>
        <a:xfrm>
          <a:off x="0" y="0"/>
          <a:ext cx="0" cy="0"/>
          <a:chOff x="0" y="0"/>
          <a:chExt cx="0" cy="0"/>
        </a:xfrm>
      </p:grpSpPr>
      <p:sp>
        <p:nvSpPr>
          <p:cNvPr id="38" name="Google Shape;38;p32"/>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3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40" name="Shape 40"/>
        <p:cNvGrpSpPr/>
        <p:nvPr/>
      </p:nvGrpSpPr>
      <p:grpSpPr>
        <a:xfrm>
          <a:off x="0" y="0"/>
          <a:ext cx="0" cy="0"/>
          <a:chOff x="0" y="0"/>
          <a:chExt cx="0" cy="0"/>
        </a:xfrm>
      </p:grpSpPr>
      <p:sp>
        <p:nvSpPr>
          <p:cNvPr id="41" name="Google Shape;41;p33"/>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3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43" name="Shape 43"/>
        <p:cNvGrpSpPr/>
        <p:nvPr/>
      </p:nvGrpSpPr>
      <p:grpSpPr>
        <a:xfrm>
          <a:off x="0" y="0"/>
          <a:ext cx="0" cy="0"/>
          <a:chOff x="0" y="0"/>
          <a:chExt cx="0" cy="0"/>
        </a:xfrm>
      </p:grpSpPr>
      <p:sp>
        <p:nvSpPr>
          <p:cNvPr id="44" name="Google Shape;44;p34"/>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46" name="Shape 46"/>
        <p:cNvGrpSpPr/>
        <p:nvPr/>
      </p:nvGrpSpPr>
      <p:grpSpPr>
        <a:xfrm>
          <a:off x="0" y="0"/>
          <a:ext cx="0" cy="0"/>
          <a:chOff x="0" y="0"/>
          <a:chExt cx="0" cy="0"/>
        </a:xfrm>
      </p:grpSpPr>
      <p:sp>
        <p:nvSpPr>
          <p:cNvPr id="47" name="Google Shape;47;p35"/>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3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49" name="Shape 49"/>
        <p:cNvGrpSpPr/>
        <p:nvPr/>
      </p:nvGrpSpPr>
      <p:grpSpPr>
        <a:xfrm>
          <a:off x="0" y="0"/>
          <a:ext cx="0" cy="0"/>
          <a:chOff x="0" y="0"/>
          <a:chExt cx="0" cy="0"/>
        </a:xfrm>
      </p:grpSpPr>
      <p:sp>
        <p:nvSpPr>
          <p:cNvPr id="50" name="Google Shape;50;p36"/>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bg>
      <p:bgPr>
        <a:solidFill>
          <a:srgbClr val="000000"/>
        </a:solidFill>
      </p:bgPr>
    </p:bg>
    <p:spTree>
      <p:nvGrpSpPr>
        <p:cNvPr id="52" name="Shape 52"/>
        <p:cNvGrpSpPr/>
        <p:nvPr/>
      </p:nvGrpSpPr>
      <p:grpSpPr>
        <a:xfrm>
          <a:off x="0" y="0"/>
          <a:ext cx="0" cy="0"/>
          <a:chOff x="0" y="0"/>
          <a:chExt cx="0" cy="0"/>
        </a:xfrm>
      </p:grpSpPr>
      <p:sp>
        <p:nvSpPr>
          <p:cNvPr id="53" name="Google Shape;53;p39"/>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bg>
      <p:bgPr>
        <a:solidFill>
          <a:srgbClr val="000000"/>
        </a:solidFill>
      </p:bgPr>
    </p:bg>
    <p:spTree>
      <p:nvGrpSpPr>
        <p:cNvPr id="55" name="Shape 55"/>
        <p:cNvGrpSpPr/>
        <p:nvPr/>
      </p:nvGrpSpPr>
      <p:grpSpPr>
        <a:xfrm>
          <a:off x="0" y="0"/>
          <a:ext cx="0" cy="0"/>
          <a:chOff x="0" y="0"/>
          <a:chExt cx="0" cy="0"/>
        </a:xfrm>
      </p:grpSpPr>
      <p:sp>
        <p:nvSpPr>
          <p:cNvPr id="56" name="Google Shape;56;p40"/>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4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bg>
      <p:bgPr>
        <a:solidFill>
          <a:srgbClr val="000000"/>
        </a:solidFill>
      </p:bgPr>
    </p:bg>
    <p:spTree>
      <p:nvGrpSpPr>
        <p:cNvPr id="58" name="Shape 58"/>
        <p:cNvGrpSpPr/>
        <p:nvPr/>
      </p:nvGrpSpPr>
      <p:grpSpPr>
        <a:xfrm>
          <a:off x="0" y="0"/>
          <a:ext cx="0" cy="0"/>
          <a:chOff x="0" y="0"/>
          <a:chExt cx="0" cy="0"/>
        </a:xfrm>
      </p:grpSpPr>
      <p:sp>
        <p:nvSpPr>
          <p:cNvPr id="59" name="Google Shape;59;p41"/>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4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61" name="Shape 61"/>
        <p:cNvGrpSpPr/>
        <p:nvPr/>
      </p:nvGrpSpPr>
      <p:grpSpPr>
        <a:xfrm>
          <a:off x="0" y="0"/>
          <a:ext cx="0" cy="0"/>
          <a:chOff x="0" y="0"/>
          <a:chExt cx="0" cy="0"/>
        </a:xfrm>
      </p:grpSpPr>
      <p:sp>
        <p:nvSpPr>
          <p:cNvPr id="62" name="Google Shape;62;p37"/>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3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bg>
      <p:bgPr>
        <a:solidFill>
          <a:srgbClr val="000000"/>
        </a:solidFill>
      </p:bgPr>
    </p:bg>
    <p:spTree>
      <p:nvGrpSpPr>
        <p:cNvPr id="64" name="Shape 64"/>
        <p:cNvGrpSpPr/>
        <p:nvPr/>
      </p:nvGrpSpPr>
      <p:grpSpPr>
        <a:xfrm>
          <a:off x="0" y="0"/>
          <a:ext cx="0" cy="0"/>
          <a:chOff x="0" y="0"/>
          <a:chExt cx="0" cy="0"/>
        </a:xfrm>
      </p:grpSpPr>
      <p:sp>
        <p:nvSpPr>
          <p:cNvPr id="65" name="Google Shape;65;p38"/>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3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bg>
      <p:bgPr>
        <a:solidFill>
          <a:srgbClr val="000000"/>
        </a:solidFill>
      </p:bgPr>
    </p:bg>
    <p:spTree>
      <p:nvGrpSpPr>
        <p:cNvPr id="67" name="Shape 67"/>
        <p:cNvGrpSpPr/>
        <p:nvPr/>
      </p:nvGrpSpPr>
      <p:grpSpPr>
        <a:xfrm>
          <a:off x="0" y="0"/>
          <a:ext cx="0" cy="0"/>
          <a:chOff x="0" y="0"/>
          <a:chExt cx="0" cy="0"/>
        </a:xfrm>
      </p:grpSpPr>
      <p:sp>
        <p:nvSpPr>
          <p:cNvPr id="68" name="Google Shape;68;p42"/>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4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1 master">
  <p:cSld name="Slide 21 master">
    <p:bg>
      <p:bgPr>
        <a:solidFill>
          <a:srgbClr val="000000"/>
        </a:solidFill>
      </p:bgPr>
    </p:bg>
    <p:spTree>
      <p:nvGrpSpPr>
        <p:cNvPr id="70" name="Shape 70"/>
        <p:cNvGrpSpPr/>
        <p:nvPr/>
      </p:nvGrpSpPr>
      <p:grpSpPr>
        <a:xfrm>
          <a:off x="0" y="0"/>
          <a:ext cx="0" cy="0"/>
          <a:chOff x="0" y="0"/>
          <a:chExt cx="0" cy="0"/>
        </a:xfrm>
      </p:grpSpPr>
      <p:sp>
        <p:nvSpPr>
          <p:cNvPr id="71" name="Google Shape;71;p43"/>
          <p:cNvSpPr/>
          <p:nvPr/>
        </p:nvSpPr>
        <p:spPr>
          <a:xfrm>
            <a:off x="0" y="0"/>
            <a:ext cx="14630400" cy="8229600"/>
          </a:xfrm>
          <a:prstGeom prst="rect">
            <a:avLst/>
          </a:prstGeom>
          <a:solidFill>
            <a:srgbClr val="F7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4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3" name="Shape 7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gif"/><Relationship Id="rId4" Type="http://schemas.openxmlformats.org/officeDocument/2006/relationships/image" Target="../media/image6.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3.png"/><Relationship Id="rId6" Type="http://schemas.openxmlformats.org/officeDocument/2006/relationships/image" Target="../media/image6.png"/><Relationship Id="rId7" Type="http://schemas.openxmlformats.org/officeDocument/2006/relationships/image" Target="../media/image1.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7.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25.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9.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2.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 Id="rId3" Type="http://schemas.openxmlformats.org/officeDocument/2006/relationships/image" Target="../media/image24.png"/><Relationship Id="rId4" Type="http://schemas.openxmlformats.org/officeDocument/2006/relationships/image" Target="../media/image18.png"/><Relationship Id="rId5" Type="http://schemas.openxmlformats.org/officeDocument/2006/relationships/image" Target="../media/image21.png"/><Relationship Id="rId6" Type="http://schemas.openxmlformats.org/officeDocument/2006/relationships/image" Target="../media/image16.png"/><Relationship Id="rId7"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5.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
          <p:cNvSpPr/>
          <p:nvPr/>
        </p:nvSpPr>
        <p:spPr>
          <a:xfrm>
            <a:off x="6280190" y="2739867"/>
            <a:ext cx="56706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Machine Learning</a:t>
            </a:r>
            <a:endParaRPr b="0" i="0" sz="4450" u="none" cap="none" strike="noStrike">
              <a:solidFill>
                <a:srgbClr val="000000"/>
              </a:solidFill>
              <a:latin typeface="Arial"/>
              <a:ea typeface="Arial"/>
              <a:cs typeface="Arial"/>
              <a:sym typeface="Arial"/>
            </a:endParaRPr>
          </a:p>
        </p:txBody>
      </p:sp>
      <p:sp>
        <p:nvSpPr>
          <p:cNvPr id="80" name="Google Shape;80;p1"/>
          <p:cNvSpPr/>
          <p:nvPr/>
        </p:nvSpPr>
        <p:spPr>
          <a:xfrm>
            <a:off x="6280190" y="3788809"/>
            <a:ext cx="7556400" cy="17010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201B18"/>
              </a:buClr>
              <a:buSzPts val="3550"/>
              <a:buFont typeface="Platypi Medium"/>
              <a:buNone/>
            </a:pPr>
            <a:r>
              <a:rPr b="0" i="0" lang="en-US" sz="3550" u="none" cap="none" strike="noStrike">
                <a:solidFill>
                  <a:srgbClr val="201B18"/>
                </a:solidFill>
                <a:latin typeface="Platypi Medium"/>
                <a:ea typeface="Platypi Medium"/>
                <a:cs typeface="Platypi Medium"/>
                <a:sym typeface="Platypi Medium"/>
              </a:rPr>
              <a:t>Lecture 15: Introduction to Principal Component Analysis </a:t>
            </a:r>
            <a:endParaRPr b="0" i="0" sz="3550" u="none" cap="none" strike="noStrike">
              <a:solidFill>
                <a:srgbClr val="000000"/>
              </a:solidFill>
              <a:latin typeface="Arial"/>
              <a:ea typeface="Arial"/>
              <a:cs typeface="Arial"/>
              <a:sym typeface="Arial"/>
            </a:endParaRPr>
          </a:p>
        </p:txBody>
      </p:sp>
      <p:sp>
        <p:nvSpPr>
          <p:cNvPr id="81" name="Google Shape;81;p1"/>
          <p:cNvSpPr/>
          <p:nvPr/>
        </p:nvSpPr>
        <p:spPr>
          <a:xfrm>
            <a:off x="6280190" y="5447109"/>
            <a:ext cx="4837152"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201B18"/>
              </a:buClr>
              <a:buSzPts val="2650"/>
              <a:buFont typeface="Platypi Medium"/>
              <a:buNone/>
            </a:pPr>
            <a:r>
              <a:rPr b="0" i="0" lang="en-US" sz="2650" u="none" cap="none" strike="noStrike">
                <a:solidFill>
                  <a:srgbClr val="201B18"/>
                </a:solidFill>
                <a:latin typeface="Platypi Medium"/>
                <a:ea typeface="Platypi Medium"/>
                <a:cs typeface="Platypi Medium"/>
                <a:sym typeface="Platypi Medium"/>
              </a:rPr>
              <a:t>Instructor: Dr. Shazia Saqib</a:t>
            </a:r>
            <a:endParaRPr b="0" i="0" sz="2650" u="none" cap="none" strike="noStrike">
              <a:solidFill>
                <a:srgbClr val="000000"/>
              </a:solidFill>
              <a:latin typeface="Arial"/>
              <a:ea typeface="Arial"/>
              <a:cs typeface="Arial"/>
              <a:sym typeface="Arial"/>
            </a:endParaRPr>
          </a:p>
        </p:txBody>
      </p:sp>
      <p:pic>
        <p:nvPicPr>
          <p:cNvPr id="82" name="Google Shape;82;p1"/>
          <p:cNvPicPr preferRelativeResize="0"/>
          <p:nvPr/>
        </p:nvPicPr>
        <p:blipFill rotWithShape="1">
          <a:blip r:embed="rId3">
            <a:alphaModFix/>
          </a:blip>
          <a:srcRect b="0" l="0" r="0" t="16576"/>
          <a:stretch/>
        </p:blipFill>
        <p:spPr>
          <a:xfrm>
            <a:off x="127975" y="2739876"/>
            <a:ext cx="5670575" cy="3431700"/>
          </a:xfrm>
          <a:prstGeom prst="rect">
            <a:avLst/>
          </a:prstGeom>
          <a:noFill/>
          <a:ln>
            <a:noFill/>
          </a:ln>
        </p:spPr>
      </p:pic>
      <p:pic>
        <p:nvPicPr>
          <p:cNvPr descr="preencoded.png" id="83" name="Google Shape;83;p1"/>
          <p:cNvPicPr preferRelativeResize="0"/>
          <p:nvPr/>
        </p:nvPicPr>
        <p:blipFill rotWithShape="1">
          <a:blip r:embed="rId4">
            <a:alphaModFix/>
          </a:blip>
          <a:srcRect b="0" l="0" r="0" t="0"/>
          <a:stretch/>
        </p:blipFill>
        <p:spPr>
          <a:xfrm>
            <a:off x="13003075" y="228600"/>
            <a:ext cx="1398725" cy="1095540"/>
          </a:xfrm>
          <a:prstGeom prst="rect">
            <a:avLst/>
          </a:prstGeom>
          <a:noFill/>
          <a:ln>
            <a:noFill/>
          </a:ln>
        </p:spPr>
      </p:pic>
      <p:pic>
        <p:nvPicPr>
          <p:cNvPr descr="preencoded.png" id="84" name="Google Shape;84;p1"/>
          <p:cNvPicPr preferRelativeResize="0"/>
          <p:nvPr/>
        </p:nvPicPr>
        <p:blipFill rotWithShape="1">
          <a:blip r:embed="rId5">
            <a:alphaModFix/>
          </a:blip>
          <a:srcRect b="0" l="0" r="0" t="0"/>
          <a:stretch/>
        </p:blipFill>
        <p:spPr>
          <a:xfrm>
            <a:off x="13003065" y="6684210"/>
            <a:ext cx="1398746" cy="139874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45"/>
          <p:cNvSpPr txBox="1"/>
          <p:nvPr/>
        </p:nvSpPr>
        <p:spPr>
          <a:xfrm>
            <a:off x="718100" y="1933664"/>
            <a:ext cx="13194200" cy="514833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2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The curse of dimensionality in machine learning refers to various problems that arise when working with data in high-dimensional spaces (i.e., with many features or variables). </a:t>
            </a:r>
            <a:endParaRPr b="0" i="0" sz="2400" u="none" cap="none" strike="noStrike">
              <a:solidFill>
                <a:srgbClr val="000000"/>
              </a:solidFill>
              <a:latin typeface="Arial"/>
              <a:ea typeface="Arial"/>
              <a:cs typeface="Arial"/>
              <a:sym typeface="Arial"/>
            </a:endParaRPr>
          </a:p>
          <a:p>
            <a:pPr indent="-342900" lvl="0" marL="342900" marR="0" rtl="0" algn="just">
              <a:lnSpc>
                <a:spcPct val="2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The curse of dimensionality is the set of problems that arise as data dimensionality increases, including data sparsity, ineffective distance metrics, high computation, and overfitting, all of which can hurt machine learning performance.</a:t>
            </a:r>
            <a:endParaRPr b="0" i="0" sz="2400" u="none" cap="none" strike="noStrike">
              <a:solidFill>
                <a:srgbClr val="000000"/>
              </a:solidFill>
              <a:latin typeface="Arial"/>
              <a:ea typeface="Arial"/>
              <a:cs typeface="Arial"/>
              <a:sym typeface="Arial"/>
            </a:endParaRPr>
          </a:p>
          <a:p>
            <a:pPr indent="-342900" lvl="0" marL="342900" marR="0" rtl="0" algn="just">
              <a:lnSpc>
                <a:spcPct val="2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As the number of dimensions increases, the data becomes sparser, and many algorithms become less effective or computationally expensive.</a:t>
            </a:r>
            <a:endParaRPr/>
          </a:p>
        </p:txBody>
      </p:sp>
      <p:sp>
        <p:nvSpPr>
          <p:cNvPr id="90" name="Google Shape;90;p45"/>
          <p:cNvSpPr txBox="1"/>
          <p:nvPr/>
        </p:nvSpPr>
        <p:spPr>
          <a:xfrm>
            <a:off x="1054062" y="883164"/>
            <a:ext cx="7513320" cy="7771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450" u="none" cap="none" strike="noStrike">
                <a:solidFill>
                  <a:srgbClr val="000000"/>
                </a:solidFill>
                <a:latin typeface="Platypi Medium"/>
                <a:ea typeface="Platypi Medium"/>
                <a:cs typeface="Platypi Medium"/>
                <a:sym typeface="Platypi Medium"/>
              </a:rPr>
              <a:t>Curse of Dimensionality</a:t>
            </a:r>
            <a:endParaRPr b="0" i="0" sz="4450" u="none" cap="none" strike="noStrike">
              <a:solidFill>
                <a:srgbClr val="000000"/>
              </a:solidFill>
              <a:latin typeface="Platypi Medium"/>
              <a:ea typeface="Platypi Medium"/>
              <a:cs typeface="Platypi Medium"/>
              <a:sym typeface="Platypi Medium"/>
            </a:endParaRPr>
          </a:p>
        </p:txBody>
      </p:sp>
      <p:pic>
        <p:nvPicPr>
          <p:cNvPr descr="preencoded.png" id="91" name="Google Shape;91;p45"/>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p:nvPr/>
        </p:nvSpPr>
        <p:spPr>
          <a:xfrm>
            <a:off x="793790" y="1815325"/>
            <a:ext cx="1283077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3600" u="none" cap="none" strike="noStrike">
                <a:solidFill>
                  <a:srgbClr val="201B18"/>
                </a:solidFill>
                <a:latin typeface="Platypi Medium"/>
                <a:ea typeface="Platypi Medium"/>
                <a:cs typeface="Platypi Medium"/>
                <a:sym typeface="Platypi Medium"/>
              </a:rPr>
              <a:t>Principal Component Analysis (PCA)</a:t>
            </a:r>
            <a:endParaRPr b="0" i="0" sz="3600" u="none" cap="none" strike="noStrike">
              <a:solidFill>
                <a:srgbClr val="000000"/>
              </a:solidFill>
              <a:latin typeface="Arial"/>
              <a:ea typeface="Arial"/>
              <a:cs typeface="Arial"/>
              <a:sym typeface="Arial"/>
            </a:endParaRPr>
          </a:p>
        </p:txBody>
      </p:sp>
      <p:sp>
        <p:nvSpPr>
          <p:cNvPr id="98" name="Google Shape;98;p2"/>
          <p:cNvSpPr/>
          <p:nvPr/>
        </p:nvSpPr>
        <p:spPr>
          <a:xfrm>
            <a:off x="793790" y="3045462"/>
            <a:ext cx="2835300" cy="456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01B18"/>
              </a:buClr>
              <a:buSzPts val="2200"/>
              <a:buFont typeface="Platypi Medium"/>
              <a:buNone/>
            </a:pPr>
            <a:r>
              <a:rPr b="0" i="0" lang="en-US" sz="2500" u="none" cap="none" strike="noStrike">
                <a:solidFill>
                  <a:srgbClr val="201B18"/>
                </a:solidFill>
                <a:latin typeface="Platypi Medium"/>
                <a:ea typeface="Platypi Medium"/>
                <a:cs typeface="Platypi Medium"/>
                <a:sym typeface="Platypi Medium"/>
              </a:rPr>
              <a:t>What is PCA?</a:t>
            </a:r>
            <a:endParaRPr b="0" i="0" sz="2500" u="none" cap="none" strike="noStrike">
              <a:solidFill>
                <a:srgbClr val="000000"/>
              </a:solidFill>
              <a:latin typeface="Arial"/>
              <a:ea typeface="Arial"/>
              <a:cs typeface="Arial"/>
              <a:sym typeface="Arial"/>
            </a:endParaRPr>
          </a:p>
        </p:txBody>
      </p:sp>
      <p:sp>
        <p:nvSpPr>
          <p:cNvPr id="99" name="Google Shape;99;p2"/>
          <p:cNvSpPr/>
          <p:nvPr/>
        </p:nvSpPr>
        <p:spPr>
          <a:xfrm>
            <a:off x="793790" y="3785333"/>
            <a:ext cx="6244800" cy="1706879"/>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400" u="none" cap="none" strike="noStrike">
                <a:solidFill>
                  <a:srgbClr val="504C49"/>
                </a:solidFill>
                <a:latin typeface="Arial"/>
                <a:ea typeface="Arial"/>
                <a:cs typeface="Arial"/>
                <a:sym typeface="Arial"/>
              </a:rPr>
              <a:t>A technique used to reduce dimensions while preserving essential data characteristics.</a:t>
            </a:r>
            <a:endParaRPr b="0" i="0" sz="2400" u="none" cap="none" strike="noStrike">
              <a:solidFill>
                <a:srgbClr val="000000"/>
              </a:solidFill>
              <a:latin typeface="Arial"/>
              <a:ea typeface="Arial"/>
              <a:cs typeface="Arial"/>
              <a:sym typeface="Arial"/>
            </a:endParaRPr>
          </a:p>
        </p:txBody>
      </p:sp>
      <p:sp>
        <p:nvSpPr>
          <p:cNvPr id="100" name="Google Shape;100;p2"/>
          <p:cNvSpPr/>
          <p:nvPr/>
        </p:nvSpPr>
        <p:spPr>
          <a:xfrm>
            <a:off x="793790" y="5257800"/>
            <a:ext cx="6244800" cy="1706879"/>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400" u="none" cap="none" strike="noStrike">
                <a:solidFill>
                  <a:srgbClr val="504C49"/>
                </a:solidFill>
                <a:latin typeface="Arial"/>
                <a:ea typeface="Arial"/>
                <a:cs typeface="Arial"/>
                <a:sym typeface="Arial"/>
              </a:rPr>
              <a:t>Helps in visualization, computational efficiency, and noise reduction.</a:t>
            </a:r>
            <a:endParaRPr b="0" i="0" sz="2400" u="none" cap="none" strike="noStrike">
              <a:solidFill>
                <a:srgbClr val="000000"/>
              </a:solidFill>
              <a:latin typeface="Arial"/>
              <a:ea typeface="Arial"/>
              <a:cs typeface="Arial"/>
              <a:sym typeface="Arial"/>
            </a:endParaRPr>
          </a:p>
        </p:txBody>
      </p:sp>
      <p:sp>
        <p:nvSpPr>
          <p:cNvPr id="101" name="Google Shape;101;p2"/>
          <p:cNvSpPr/>
          <p:nvPr/>
        </p:nvSpPr>
        <p:spPr>
          <a:xfrm>
            <a:off x="7599516" y="3045463"/>
            <a:ext cx="4789800" cy="456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01B18"/>
              </a:buClr>
              <a:buSzPts val="2200"/>
              <a:buFont typeface="Platypi Medium"/>
              <a:buNone/>
            </a:pPr>
            <a:r>
              <a:rPr b="0" i="0" lang="en-US" sz="2500" u="none" cap="none" strike="noStrike">
                <a:solidFill>
                  <a:srgbClr val="201B18"/>
                </a:solidFill>
                <a:latin typeface="Platypi Medium"/>
                <a:ea typeface="Platypi Medium"/>
                <a:cs typeface="Platypi Medium"/>
                <a:sym typeface="Platypi Medium"/>
              </a:rPr>
              <a:t>Why do we need PCA?</a:t>
            </a:r>
            <a:endParaRPr b="0" i="0" sz="2500" u="none" cap="none" strike="noStrike">
              <a:solidFill>
                <a:srgbClr val="000000"/>
              </a:solidFill>
              <a:latin typeface="Arial"/>
              <a:ea typeface="Arial"/>
              <a:cs typeface="Arial"/>
              <a:sym typeface="Arial"/>
            </a:endParaRPr>
          </a:p>
        </p:txBody>
      </p:sp>
      <p:sp>
        <p:nvSpPr>
          <p:cNvPr id="102" name="Google Shape;102;p2"/>
          <p:cNvSpPr/>
          <p:nvPr/>
        </p:nvSpPr>
        <p:spPr>
          <a:xfrm>
            <a:off x="7599513" y="3785333"/>
            <a:ext cx="6244800" cy="1706879"/>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400" u="none" cap="none" strike="noStrike">
                <a:solidFill>
                  <a:srgbClr val="504C49"/>
                </a:solidFill>
                <a:latin typeface="Arial"/>
                <a:ea typeface="Arial"/>
                <a:cs typeface="Arial"/>
                <a:sym typeface="Arial"/>
              </a:rPr>
              <a:t>High-dimensional data is complex and computationally expensive.</a:t>
            </a:r>
            <a:endParaRPr b="0" i="0" sz="2400" u="none" cap="none" strike="noStrike">
              <a:solidFill>
                <a:srgbClr val="000000"/>
              </a:solidFill>
              <a:latin typeface="Arial"/>
              <a:ea typeface="Arial"/>
              <a:cs typeface="Arial"/>
              <a:sym typeface="Arial"/>
            </a:endParaRPr>
          </a:p>
        </p:txBody>
      </p:sp>
      <p:sp>
        <p:nvSpPr>
          <p:cNvPr id="103" name="Google Shape;103;p2"/>
          <p:cNvSpPr/>
          <p:nvPr/>
        </p:nvSpPr>
        <p:spPr>
          <a:xfrm>
            <a:off x="7599513" y="5257800"/>
            <a:ext cx="6244800" cy="1706879"/>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400" u="none" cap="none" strike="noStrike">
                <a:solidFill>
                  <a:srgbClr val="504C49"/>
                </a:solidFill>
                <a:latin typeface="Arial"/>
                <a:ea typeface="Arial"/>
                <a:cs typeface="Arial"/>
                <a:sym typeface="Arial"/>
              </a:rPr>
              <a:t>PCA finds the most important features and removes redundant information.</a:t>
            </a:r>
            <a:endParaRPr b="0" i="0" sz="2400" u="none" cap="none" strike="noStrike">
              <a:solidFill>
                <a:srgbClr val="000000"/>
              </a:solidFill>
              <a:latin typeface="Arial"/>
              <a:ea typeface="Arial"/>
              <a:cs typeface="Arial"/>
              <a:sym typeface="Arial"/>
            </a:endParaRPr>
          </a:p>
        </p:txBody>
      </p:sp>
      <p:pic>
        <p:nvPicPr>
          <p:cNvPr descr="preencoded.png" id="104" name="Google Shape;104;p2"/>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p:nvPr/>
        </p:nvSpPr>
        <p:spPr>
          <a:xfrm>
            <a:off x="6276286" y="1123263"/>
            <a:ext cx="8032710"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000" u="none" cap="none" strike="noStrike">
                <a:solidFill>
                  <a:srgbClr val="201B18"/>
                </a:solidFill>
                <a:latin typeface="Platypi Medium"/>
                <a:ea typeface="Platypi Medium"/>
                <a:cs typeface="Platypi Medium"/>
                <a:sym typeface="Platypi Medium"/>
              </a:rPr>
              <a:t>Understanding Data Variations</a:t>
            </a:r>
            <a:endParaRPr b="0" i="0" sz="4000" u="none" cap="none" strike="noStrike">
              <a:solidFill>
                <a:srgbClr val="000000"/>
              </a:solidFill>
              <a:latin typeface="Arial"/>
              <a:ea typeface="Arial"/>
              <a:cs typeface="Arial"/>
              <a:sym typeface="Arial"/>
            </a:endParaRPr>
          </a:p>
        </p:txBody>
      </p:sp>
      <p:sp>
        <p:nvSpPr>
          <p:cNvPr id="111" name="Google Shape;111;p3"/>
          <p:cNvSpPr/>
          <p:nvPr/>
        </p:nvSpPr>
        <p:spPr>
          <a:xfrm>
            <a:off x="6191216" y="2290643"/>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3"/>
          <p:cNvSpPr/>
          <p:nvPr/>
        </p:nvSpPr>
        <p:spPr>
          <a:xfrm>
            <a:off x="6276286" y="2333149"/>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1</a:t>
            </a:r>
            <a:endParaRPr b="0" i="0" sz="2650" u="none" cap="none" strike="noStrike">
              <a:solidFill>
                <a:srgbClr val="000000"/>
              </a:solidFill>
              <a:latin typeface="Arial"/>
              <a:ea typeface="Arial"/>
              <a:cs typeface="Arial"/>
              <a:sym typeface="Arial"/>
            </a:endParaRPr>
          </a:p>
        </p:txBody>
      </p:sp>
      <p:sp>
        <p:nvSpPr>
          <p:cNvPr id="113" name="Google Shape;113;p3"/>
          <p:cNvSpPr/>
          <p:nvPr/>
        </p:nvSpPr>
        <p:spPr>
          <a:xfrm>
            <a:off x="6928332" y="2290643"/>
            <a:ext cx="6819305" cy="106299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Data variation is the spread or dispersion in data.</a:t>
            </a:r>
            <a:endParaRPr b="0" i="0" sz="2500" u="none" cap="none" strike="noStrike">
              <a:solidFill>
                <a:srgbClr val="000000"/>
              </a:solidFill>
              <a:latin typeface="Arial"/>
              <a:ea typeface="Arial"/>
              <a:cs typeface="Arial"/>
              <a:sym typeface="Arial"/>
            </a:endParaRPr>
          </a:p>
        </p:txBody>
      </p:sp>
      <p:sp>
        <p:nvSpPr>
          <p:cNvPr id="114" name="Google Shape;114;p3"/>
          <p:cNvSpPr/>
          <p:nvPr/>
        </p:nvSpPr>
        <p:spPr>
          <a:xfrm>
            <a:off x="6191216" y="3783264"/>
            <a:ext cx="1133126"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3"/>
          <p:cNvSpPr/>
          <p:nvPr/>
        </p:nvSpPr>
        <p:spPr>
          <a:xfrm>
            <a:off x="6276286" y="3825770"/>
            <a:ext cx="755330"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2</a:t>
            </a:r>
            <a:endParaRPr b="0" i="0" sz="2650" u="none" cap="none" strike="noStrike">
              <a:solidFill>
                <a:srgbClr val="000000"/>
              </a:solidFill>
              <a:latin typeface="Arial"/>
              <a:ea typeface="Arial"/>
              <a:cs typeface="Arial"/>
              <a:sym typeface="Arial"/>
            </a:endParaRPr>
          </a:p>
        </p:txBody>
      </p:sp>
      <p:sp>
        <p:nvSpPr>
          <p:cNvPr id="116" name="Google Shape;116;p3"/>
          <p:cNvSpPr/>
          <p:nvPr/>
        </p:nvSpPr>
        <p:spPr>
          <a:xfrm>
            <a:off x="6928332" y="3783264"/>
            <a:ext cx="6501065"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Why is variation important?</a:t>
            </a:r>
            <a:endParaRPr b="0" i="0" sz="2500" u="none" cap="none" strike="noStrike">
              <a:solidFill>
                <a:srgbClr val="000000"/>
              </a:solidFill>
              <a:latin typeface="Arial"/>
              <a:ea typeface="Arial"/>
              <a:cs typeface="Arial"/>
              <a:sym typeface="Arial"/>
            </a:endParaRPr>
          </a:p>
        </p:txBody>
      </p:sp>
      <p:sp>
        <p:nvSpPr>
          <p:cNvPr id="117" name="Google Shape;117;p3"/>
          <p:cNvSpPr/>
          <p:nvPr/>
        </p:nvSpPr>
        <p:spPr>
          <a:xfrm>
            <a:off x="6928323" y="4628021"/>
            <a:ext cx="7755988"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400" u="none" cap="none" strike="noStrike">
                <a:solidFill>
                  <a:srgbClr val="504C49"/>
                </a:solidFill>
                <a:latin typeface="Arial"/>
                <a:ea typeface="Arial"/>
                <a:cs typeface="Arial"/>
                <a:sym typeface="Arial"/>
              </a:rPr>
              <a:t>High variation → Important information.</a:t>
            </a:r>
            <a:endParaRPr b="0" i="0" sz="2400" u="none" cap="none" strike="noStrike">
              <a:solidFill>
                <a:srgbClr val="000000"/>
              </a:solidFill>
              <a:latin typeface="Arial"/>
              <a:ea typeface="Arial"/>
              <a:cs typeface="Arial"/>
              <a:sym typeface="Arial"/>
            </a:endParaRPr>
          </a:p>
        </p:txBody>
      </p:sp>
      <p:sp>
        <p:nvSpPr>
          <p:cNvPr id="118" name="Google Shape;118;p3"/>
          <p:cNvSpPr/>
          <p:nvPr/>
        </p:nvSpPr>
        <p:spPr>
          <a:xfrm>
            <a:off x="6928331" y="5662794"/>
            <a:ext cx="6500961"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400" u="none" cap="none" strike="noStrike">
                <a:solidFill>
                  <a:srgbClr val="504C49"/>
                </a:solidFill>
                <a:latin typeface="Arial"/>
                <a:ea typeface="Arial"/>
                <a:cs typeface="Arial"/>
                <a:sym typeface="Arial"/>
              </a:rPr>
              <a:t>Low variation → Can be ignored.</a:t>
            </a:r>
            <a:endParaRPr b="0" i="0" sz="2400" u="none" cap="none" strike="noStrike">
              <a:solidFill>
                <a:srgbClr val="000000"/>
              </a:solidFill>
              <a:latin typeface="Arial"/>
              <a:ea typeface="Arial"/>
              <a:cs typeface="Arial"/>
              <a:sym typeface="Arial"/>
            </a:endParaRPr>
          </a:p>
        </p:txBody>
      </p:sp>
      <p:sp>
        <p:nvSpPr>
          <p:cNvPr id="119" name="Google Shape;119;p3"/>
          <p:cNvSpPr/>
          <p:nvPr/>
        </p:nvSpPr>
        <p:spPr>
          <a:xfrm>
            <a:off x="6191216" y="6606897"/>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
          <p:cNvSpPr/>
          <p:nvPr/>
        </p:nvSpPr>
        <p:spPr>
          <a:xfrm>
            <a:off x="6276286" y="6649403"/>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3</a:t>
            </a:r>
            <a:endParaRPr b="0" i="0" sz="2650" u="none" cap="none" strike="noStrike">
              <a:solidFill>
                <a:srgbClr val="000000"/>
              </a:solidFill>
              <a:latin typeface="Arial"/>
              <a:ea typeface="Arial"/>
              <a:cs typeface="Arial"/>
              <a:sym typeface="Arial"/>
            </a:endParaRPr>
          </a:p>
        </p:txBody>
      </p:sp>
      <p:sp>
        <p:nvSpPr>
          <p:cNvPr id="121" name="Google Shape;121;p3"/>
          <p:cNvSpPr/>
          <p:nvPr/>
        </p:nvSpPr>
        <p:spPr>
          <a:xfrm>
            <a:off x="6928332" y="6606897"/>
            <a:ext cx="6819305"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PCA focuses on maximizing variance to capture key patterns.</a:t>
            </a:r>
            <a:endParaRPr b="0" i="0" sz="2500" u="none" cap="none" strike="noStrike">
              <a:solidFill>
                <a:srgbClr val="000000"/>
              </a:solidFill>
              <a:latin typeface="Arial"/>
              <a:ea typeface="Arial"/>
              <a:cs typeface="Arial"/>
              <a:sym typeface="Arial"/>
            </a:endParaRPr>
          </a:p>
        </p:txBody>
      </p:sp>
      <p:pic>
        <p:nvPicPr>
          <p:cNvPr descr="preencoded.png" id="122" name="Google Shape;122;p3"/>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pic>
        <p:nvPicPr>
          <p:cNvPr descr="Variability Metrics Secrets : Understanding Range, Variance, Standard  Deviation and Co-efficient of Variation (2023) | by Mohsin Shaikh | Medium" id="123" name="Google Shape;123;p3"/>
          <p:cNvPicPr preferRelativeResize="0"/>
          <p:nvPr/>
        </p:nvPicPr>
        <p:blipFill rotWithShape="1">
          <a:blip r:embed="rId4">
            <a:alphaModFix/>
          </a:blip>
          <a:srcRect b="0" l="0" r="0" t="0"/>
          <a:stretch/>
        </p:blipFill>
        <p:spPr>
          <a:xfrm>
            <a:off x="26293" y="2418280"/>
            <a:ext cx="6051516" cy="375057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
          <p:cNvSpPr/>
          <p:nvPr/>
        </p:nvSpPr>
        <p:spPr>
          <a:xfrm>
            <a:off x="793790" y="2616398"/>
            <a:ext cx="1252851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What Happens in Higher Dimensions?</a:t>
            </a:r>
            <a:endParaRPr b="0" i="0" sz="4450" u="none" cap="none" strike="noStrike">
              <a:solidFill>
                <a:srgbClr val="000000"/>
              </a:solidFill>
              <a:latin typeface="Arial"/>
              <a:ea typeface="Arial"/>
              <a:cs typeface="Arial"/>
              <a:sym typeface="Arial"/>
            </a:endParaRPr>
          </a:p>
        </p:txBody>
      </p:sp>
      <p:sp>
        <p:nvSpPr>
          <p:cNvPr id="130" name="Google Shape;130;p4"/>
          <p:cNvSpPr/>
          <p:nvPr/>
        </p:nvSpPr>
        <p:spPr>
          <a:xfrm>
            <a:off x="793790" y="4033957"/>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131" name="Google Shape;131;p4"/>
          <p:cNvSpPr/>
          <p:nvPr/>
        </p:nvSpPr>
        <p:spPr>
          <a:xfrm>
            <a:off x="878860" y="4076462"/>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950" u="none" cap="none" strike="noStrike">
                <a:solidFill>
                  <a:srgbClr val="504C49"/>
                </a:solidFill>
                <a:latin typeface="Platypi Medium"/>
                <a:ea typeface="Platypi Medium"/>
                <a:cs typeface="Platypi Medium"/>
                <a:sym typeface="Platypi Medium"/>
              </a:rPr>
              <a:t>1</a:t>
            </a:r>
            <a:endParaRPr b="0" i="0" sz="2950" u="none" cap="none" strike="noStrike">
              <a:solidFill>
                <a:srgbClr val="000000"/>
              </a:solidFill>
              <a:latin typeface="Arial"/>
              <a:ea typeface="Arial"/>
              <a:cs typeface="Arial"/>
              <a:sym typeface="Arial"/>
            </a:endParaRPr>
          </a:p>
        </p:txBody>
      </p:sp>
      <p:sp>
        <p:nvSpPr>
          <p:cNvPr id="132" name="Google Shape;132;p4"/>
          <p:cNvSpPr/>
          <p:nvPr/>
        </p:nvSpPr>
        <p:spPr>
          <a:xfrm>
            <a:off x="1530906" y="403395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1D Data</a:t>
            </a:r>
            <a:endParaRPr b="0" i="0" sz="2500" u="none" cap="none" strike="noStrike">
              <a:solidFill>
                <a:srgbClr val="000000"/>
              </a:solidFill>
              <a:latin typeface="Arial"/>
              <a:ea typeface="Arial"/>
              <a:cs typeface="Arial"/>
              <a:sym typeface="Arial"/>
            </a:endParaRPr>
          </a:p>
        </p:txBody>
      </p:sp>
      <p:sp>
        <p:nvSpPr>
          <p:cNvPr id="133" name="Google Shape;133;p4"/>
          <p:cNvSpPr/>
          <p:nvPr/>
        </p:nvSpPr>
        <p:spPr>
          <a:xfrm>
            <a:off x="1530906" y="4524375"/>
            <a:ext cx="3459242"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Single numerical axis (e.g., price).</a:t>
            </a:r>
            <a:endParaRPr b="0" i="0" sz="2050" u="none" cap="none" strike="noStrike">
              <a:solidFill>
                <a:srgbClr val="000000"/>
              </a:solidFill>
              <a:latin typeface="Arial"/>
              <a:ea typeface="Arial"/>
              <a:cs typeface="Arial"/>
              <a:sym typeface="Arial"/>
            </a:endParaRPr>
          </a:p>
        </p:txBody>
      </p:sp>
      <p:sp>
        <p:nvSpPr>
          <p:cNvPr id="134" name="Google Shape;134;p4"/>
          <p:cNvSpPr/>
          <p:nvPr/>
        </p:nvSpPr>
        <p:spPr>
          <a:xfrm>
            <a:off x="5216962" y="4033957"/>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135" name="Google Shape;135;p4"/>
          <p:cNvSpPr/>
          <p:nvPr/>
        </p:nvSpPr>
        <p:spPr>
          <a:xfrm>
            <a:off x="5302032" y="4076462"/>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950" u="none" cap="none" strike="noStrike">
                <a:solidFill>
                  <a:srgbClr val="504C49"/>
                </a:solidFill>
                <a:latin typeface="Platypi Medium"/>
                <a:ea typeface="Platypi Medium"/>
                <a:cs typeface="Platypi Medium"/>
                <a:sym typeface="Platypi Medium"/>
              </a:rPr>
              <a:t>2</a:t>
            </a:r>
            <a:endParaRPr b="0" i="0" sz="2950" u="none" cap="none" strike="noStrike">
              <a:solidFill>
                <a:srgbClr val="000000"/>
              </a:solidFill>
              <a:latin typeface="Arial"/>
              <a:ea typeface="Arial"/>
              <a:cs typeface="Arial"/>
              <a:sym typeface="Arial"/>
            </a:endParaRPr>
          </a:p>
        </p:txBody>
      </p:sp>
      <p:sp>
        <p:nvSpPr>
          <p:cNvPr id="136" name="Google Shape;136;p4"/>
          <p:cNvSpPr/>
          <p:nvPr/>
        </p:nvSpPr>
        <p:spPr>
          <a:xfrm>
            <a:off x="5954078" y="403395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2D Data</a:t>
            </a:r>
            <a:endParaRPr b="0" i="0" sz="2500" u="none" cap="none" strike="noStrike">
              <a:solidFill>
                <a:srgbClr val="000000"/>
              </a:solidFill>
              <a:latin typeface="Arial"/>
              <a:ea typeface="Arial"/>
              <a:cs typeface="Arial"/>
              <a:sym typeface="Arial"/>
            </a:endParaRPr>
          </a:p>
        </p:txBody>
      </p:sp>
      <p:sp>
        <p:nvSpPr>
          <p:cNvPr id="137" name="Google Shape;137;p4"/>
          <p:cNvSpPr/>
          <p:nvPr/>
        </p:nvSpPr>
        <p:spPr>
          <a:xfrm>
            <a:off x="5954078" y="4524375"/>
            <a:ext cx="3459242"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Data points are scattered across an x-y coordinate system. (e.g., Price vs. Area).</a:t>
            </a:r>
            <a:endParaRPr b="0" i="0" sz="2050" u="none" cap="none" strike="noStrike">
              <a:solidFill>
                <a:srgbClr val="000000"/>
              </a:solidFill>
              <a:latin typeface="Arial"/>
              <a:ea typeface="Arial"/>
              <a:cs typeface="Arial"/>
              <a:sym typeface="Arial"/>
            </a:endParaRPr>
          </a:p>
        </p:txBody>
      </p:sp>
      <p:sp>
        <p:nvSpPr>
          <p:cNvPr id="138" name="Google Shape;138;p4"/>
          <p:cNvSpPr/>
          <p:nvPr/>
        </p:nvSpPr>
        <p:spPr>
          <a:xfrm>
            <a:off x="9640133" y="4033957"/>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139" name="Google Shape;139;p4"/>
          <p:cNvSpPr/>
          <p:nvPr/>
        </p:nvSpPr>
        <p:spPr>
          <a:xfrm>
            <a:off x="9725204" y="4076462"/>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950" u="none" cap="none" strike="noStrike">
                <a:solidFill>
                  <a:srgbClr val="504C49"/>
                </a:solidFill>
                <a:latin typeface="Platypi Medium"/>
                <a:ea typeface="Platypi Medium"/>
                <a:cs typeface="Platypi Medium"/>
                <a:sym typeface="Platypi Medium"/>
              </a:rPr>
              <a:t>3</a:t>
            </a:r>
            <a:endParaRPr b="0" i="0" sz="2950" u="none" cap="none" strike="noStrike">
              <a:solidFill>
                <a:srgbClr val="000000"/>
              </a:solidFill>
              <a:latin typeface="Arial"/>
              <a:ea typeface="Arial"/>
              <a:cs typeface="Arial"/>
              <a:sym typeface="Arial"/>
            </a:endParaRPr>
          </a:p>
        </p:txBody>
      </p:sp>
      <p:sp>
        <p:nvSpPr>
          <p:cNvPr id="140" name="Google Shape;140;p4"/>
          <p:cNvSpPr/>
          <p:nvPr/>
        </p:nvSpPr>
        <p:spPr>
          <a:xfrm>
            <a:off x="10377249" y="403395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3D Data</a:t>
            </a:r>
            <a:endParaRPr b="0" i="0" sz="2500" u="none" cap="none" strike="noStrike">
              <a:solidFill>
                <a:srgbClr val="000000"/>
              </a:solidFill>
              <a:latin typeface="Arial"/>
              <a:ea typeface="Arial"/>
              <a:cs typeface="Arial"/>
              <a:sym typeface="Arial"/>
            </a:endParaRPr>
          </a:p>
        </p:txBody>
      </p:sp>
      <p:sp>
        <p:nvSpPr>
          <p:cNvPr id="141" name="Google Shape;141;p4"/>
          <p:cNvSpPr/>
          <p:nvPr/>
        </p:nvSpPr>
        <p:spPr>
          <a:xfrm>
            <a:off x="10377249" y="4524375"/>
            <a:ext cx="3459242"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Data exists in three dimensions, but patterns may still lie on a 2D plane.</a:t>
            </a:r>
            <a:endParaRPr b="0" i="0" sz="2050" u="none" cap="none" strike="noStrike">
              <a:solidFill>
                <a:srgbClr val="000000"/>
              </a:solidFill>
              <a:latin typeface="Arial"/>
              <a:ea typeface="Arial"/>
              <a:cs typeface="Arial"/>
              <a:sym typeface="Arial"/>
            </a:endParaRPr>
          </a:p>
        </p:txBody>
      </p:sp>
      <p:pic>
        <p:nvPicPr>
          <p:cNvPr descr="preencoded.png" id="142" name="Google Shape;142;p4"/>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
          <p:cNvSpPr/>
          <p:nvPr/>
        </p:nvSpPr>
        <p:spPr>
          <a:xfrm>
            <a:off x="793790" y="2530078"/>
            <a:ext cx="1082671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Reducing Dimensionality</a:t>
            </a:r>
            <a:endParaRPr b="0" i="0" sz="4450" u="none" cap="none" strike="noStrike">
              <a:solidFill>
                <a:srgbClr val="000000"/>
              </a:solidFill>
              <a:latin typeface="Arial"/>
              <a:ea typeface="Arial"/>
              <a:cs typeface="Arial"/>
              <a:sym typeface="Arial"/>
            </a:endParaRPr>
          </a:p>
        </p:txBody>
      </p:sp>
      <p:sp>
        <p:nvSpPr>
          <p:cNvPr id="149" name="Google Shape;149;p5"/>
          <p:cNvSpPr/>
          <p:nvPr/>
        </p:nvSpPr>
        <p:spPr>
          <a:xfrm>
            <a:off x="793790" y="3579019"/>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High-dimensional data can be redundant. PCA helps by focusing on the most important aspects of your data.</a:t>
            </a:r>
            <a:endParaRPr b="0" i="0" sz="2050" u="none" cap="none" strike="noStrike">
              <a:solidFill>
                <a:srgbClr val="000000"/>
              </a:solidFill>
              <a:latin typeface="Arial"/>
              <a:ea typeface="Arial"/>
              <a:cs typeface="Arial"/>
              <a:sym typeface="Arial"/>
            </a:endParaRPr>
          </a:p>
        </p:txBody>
      </p:sp>
      <p:pic>
        <p:nvPicPr>
          <p:cNvPr descr="preencoded.png" id="150" name="Google Shape;150;p5"/>
          <p:cNvPicPr preferRelativeResize="0"/>
          <p:nvPr/>
        </p:nvPicPr>
        <p:blipFill rotWithShape="1">
          <a:blip r:embed="rId3">
            <a:alphaModFix/>
          </a:blip>
          <a:srcRect b="0" l="0" r="0" t="0"/>
          <a:stretch/>
        </p:blipFill>
        <p:spPr>
          <a:xfrm>
            <a:off x="793790" y="4197072"/>
            <a:ext cx="566976" cy="566976"/>
          </a:xfrm>
          <a:prstGeom prst="rect">
            <a:avLst/>
          </a:prstGeom>
          <a:noFill/>
          <a:ln>
            <a:noFill/>
          </a:ln>
        </p:spPr>
      </p:pic>
      <p:sp>
        <p:nvSpPr>
          <p:cNvPr id="151" name="Google Shape;151;p5"/>
          <p:cNvSpPr/>
          <p:nvPr/>
        </p:nvSpPr>
        <p:spPr>
          <a:xfrm>
            <a:off x="793790" y="4990862"/>
            <a:ext cx="3931206"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400" u="none" cap="none" strike="noStrike">
                <a:solidFill>
                  <a:srgbClr val="504C49"/>
                </a:solidFill>
                <a:latin typeface="Platypi Medium"/>
                <a:ea typeface="Platypi Medium"/>
                <a:cs typeface="Platypi Medium"/>
                <a:sym typeface="Platypi Medium"/>
              </a:rPr>
              <a:t>Identifying major variations</a:t>
            </a:r>
            <a:endParaRPr b="0" i="0" sz="2400" u="none" cap="none" strike="noStrike">
              <a:solidFill>
                <a:srgbClr val="000000"/>
              </a:solidFill>
              <a:latin typeface="Arial"/>
              <a:ea typeface="Arial"/>
              <a:cs typeface="Arial"/>
              <a:sym typeface="Arial"/>
            </a:endParaRPr>
          </a:p>
        </p:txBody>
      </p:sp>
      <p:pic>
        <p:nvPicPr>
          <p:cNvPr descr="preencoded.png" id="152" name="Google Shape;152;p5"/>
          <p:cNvPicPr preferRelativeResize="0"/>
          <p:nvPr/>
        </p:nvPicPr>
        <p:blipFill rotWithShape="1">
          <a:blip r:embed="rId4">
            <a:alphaModFix/>
          </a:blip>
          <a:srcRect b="0" l="0" r="0" t="0"/>
          <a:stretch/>
        </p:blipFill>
        <p:spPr>
          <a:xfrm>
            <a:off x="5254704" y="4197072"/>
            <a:ext cx="566976" cy="566976"/>
          </a:xfrm>
          <a:prstGeom prst="rect">
            <a:avLst/>
          </a:prstGeom>
          <a:noFill/>
          <a:ln>
            <a:noFill/>
          </a:ln>
        </p:spPr>
      </p:pic>
      <p:sp>
        <p:nvSpPr>
          <p:cNvPr id="153" name="Google Shape;153;p5"/>
          <p:cNvSpPr/>
          <p:nvPr/>
        </p:nvSpPr>
        <p:spPr>
          <a:xfrm>
            <a:off x="5254704" y="4990862"/>
            <a:ext cx="4120872"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400" u="none" cap="none" strike="noStrike">
                <a:solidFill>
                  <a:srgbClr val="504C49"/>
                </a:solidFill>
                <a:latin typeface="Platypi Medium"/>
                <a:ea typeface="Platypi Medium"/>
                <a:cs typeface="Platypi Medium"/>
                <a:sym typeface="Platypi Medium"/>
              </a:rPr>
              <a:t>Removing unimportant dimensions</a:t>
            </a:r>
            <a:endParaRPr b="0" i="0" sz="2400" u="none" cap="none" strike="noStrike">
              <a:solidFill>
                <a:srgbClr val="000000"/>
              </a:solidFill>
              <a:latin typeface="Arial"/>
              <a:ea typeface="Arial"/>
              <a:cs typeface="Arial"/>
              <a:sym typeface="Arial"/>
            </a:endParaRPr>
          </a:p>
        </p:txBody>
      </p:sp>
      <p:pic>
        <p:nvPicPr>
          <p:cNvPr descr="preencoded.png" id="154" name="Google Shape;154;p5"/>
          <p:cNvPicPr preferRelativeResize="0"/>
          <p:nvPr/>
        </p:nvPicPr>
        <p:blipFill rotWithShape="1">
          <a:blip r:embed="rId5">
            <a:alphaModFix/>
          </a:blip>
          <a:srcRect b="0" l="0" r="0" t="0"/>
          <a:stretch/>
        </p:blipFill>
        <p:spPr>
          <a:xfrm>
            <a:off x="9715738" y="4197072"/>
            <a:ext cx="566976" cy="566976"/>
          </a:xfrm>
          <a:prstGeom prst="rect">
            <a:avLst/>
          </a:prstGeom>
          <a:noFill/>
          <a:ln>
            <a:noFill/>
          </a:ln>
        </p:spPr>
      </p:pic>
      <p:sp>
        <p:nvSpPr>
          <p:cNvPr id="155" name="Google Shape;155;p5"/>
          <p:cNvSpPr/>
          <p:nvPr/>
        </p:nvSpPr>
        <p:spPr>
          <a:xfrm>
            <a:off x="9715738" y="4990862"/>
            <a:ext cx="4120753"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400" u="none" cap="none" strike="noStrike">
                <a:solidFill>
                  <a:srgbClr val="504C49"/>
                </a:solidFill>
                <a:latin typeface="Platypi Medium"/>
                <a:ea typeface="Platypi Medium"/>
                <a:cs typeface="Platypi Medium"/>
                <a:sym typeface="Platypi Medium"/>
              </a:rPr>
              <a:t>Improving computational efficiency</a:t>
            </a:r>
            <a:endParaRPr b="0" i="0" sz="2400" u="none" cap="none" strike="noStrike">
              <a:solidFill>
                <a:srgbClr val="000000"/>
              </a:solidFill>
              <a:latin typeface="Arial"/>
              <a:ea typeface="Arial"/>
              <a:cs typeface="Arial"/>
              <a:sym typeface="Arial"/>
            </a:endParaRPr>
          </a:p>
        </p:txBody>
      </p:sp>
      <p:pic>
        <p:nvPicPr>
          <p:cNvPr descr="preencoded.png" id="156" name="Google Shape;156;p5"/>
          <p:cNvPicPr preferRelativeResize="0"/>
          <p:nvPr/>
        </p:nvPicPr>
        <p:blipFill rotWithShape="1">
          <a:blip r:embed="rId6">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6"/>
          <p:cNvSpPr/>
          <p:nvPr/>
        </p:nvSpPr>
        <p:spPr>
          <a:xfrm>
            <a:off x="6280190" y="1340406"/>
            <a:ext cx="7556421" cy="1346835"/>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201B18"/>
              </a:buClr>
              <a:buSzPts val="4200"/>
              <a:buFont typeface="Platypi Medium"/>
              <a:buNone/>
            </a:pPr>
            <a:r>
              <a:rPr b="0" i="0" lang="en-US" sz="3600" u="none" cap="none" strike="noStrike">
                <a:solidFill>
                  <a:srgbClr val="201B18"/>
                </a:solidFill>
                <a:latin typeface="Platypi Medium"/>
                <a:ea typeface="Platypi Medium"/>
                <a:cs typeface="Platypi Medium"/>
                <a:sym typeface="Platypi Medium"/>
              </a:rPr>
              <a:t>Finding Principal Components</a:t>
            </a:r>
            <a:endParaRPr b="0" i="0" sz="3600" u="none" cap="none" strike="noStrike">
              <a:solidFill>
                <a:srgbClr val="000000"/>
              </a:solidFill>
              <a:latin typeface="Arial"/>
              <a:ea typeface="Arial"/>
              <a:cs typeface="Arial"/>
              <a:sym typeface="Arial"/>
            </a:endParaRPr>
          </a:p>
        </p:txBody>
      </p:sp>
      <p:pic>
        <p:nvPicPr>
          <p:cNvPr descr="preencoded.png" id="163" name="Google Shape;163;p6"/>
          <p:cNvPicPr preferRelativeResize="0"/>
          <p:nvPr/>
        </p:nvPicPr>
        <p:blipFill rotWithShape="1">
          <a:blip r:embed="rId3">
            <a:alphaModFix/>
          </a:blip>
          <a:srcRect b="0" l="0" r="0" t="0"/>
          <a:stretch/>
        </p:blipFill>
        <p:spPr>
          <a:xfrm>
            <a:off x="6280190" y="2273775"/>
            <a:ext cx="1077395" cy="1476800"/>
          </a:xfrm>
          <a:prstGeom prst="rect">
            <a:avLst/>
          </a:prstGeom>
          <a:noFill/>
          <a:ln>
            <a:noFill/>
          </a:ln>
        </p:spPr>
      </p:pic>
      <p:sp>
        <p:nvSpPr>
          <p:cNvPr id="164" name="Google Shape;164;p6"/>
          <p:cNvSpPr/>
          <p:nvPr/>
        </p:nvSpPr>
        <p:spPr>
          <a:xfrm>
            <a:off x="7680724" y="2519783"/>
            <a:ext cx="6156000" cy="384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504C49"/>
              </a:buClr>
              <a:buSzPts val="2100"/>
              <a:buFont typeface="Platypi Medium"/>
              <a:buNone/>
            </a:pPr>
            <a:r>
              <a:rPr b="0" i="0" lang="en-US" sz="2500" u="none" cap="none" strike="noStrike">
                <a:solidFill>
                  <a:srgbClr val="504C49"/>
                </a:solidFill>
                <a:latin typeface="Platypi Medium"/>
                <a:ea typeface="Platypi Medium"/>
                <a:cs typeface="Platypi Medium"/>
                <a:sym typeface="Platypi Medium"/>
              </a:rPr>
              <a:t>The first principal component (PC1)</a:t>
            </a:r>
            <a:endParaRPr b="0" i="0" sz="2500" u="none" cap="none" strike="noStrike">
              <a:solidFill>
                <a:srgbClr val="000000"/>
              </a:solidFill>
              <a:latin typeface="Arial"/>
              <a:ea typeface="Arial"/>
              <a:cs typeface="Arial"/>
              <a:sym typeface="Arial"/>
            </a:endParaRPr>
          </a:p>
        </p:txBody>
      </p:sp>
      <p:sp>
        <p:nvSpPr>
          <p:cNvPr id="165" name="Google Shape;165;p6"/>
          <p:cNvSpPr/>
          <p:nvPr/>
        </p:nvSpPr>
        <p:spPr>
          <a:xfrm>
            <a:off x="7680720" y="3051819"/>
            <a:ext cx="6156000" cy="3939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504C49"/>
              </a:buClr>
              <a:buSzPts val="1650"/>
              <a:buFont typeface="Arial"/>
              <a:buNone/>
            </a:pPr>
            <a:r>
              <a:rPr b="0" i="0" lang="en-US" sz="2050" u="none" cap="none" strike="noStrike">
                <a:solidFill>
                  <a:srgbClr val="504C49"/>
                </a:solidFill>
                <a:latin typeface="Arial"/>
                <a:ea typeface="Arial"/>
                <a:cs typeface="Arial"/>
                <a:sym typeface="Arial"/>
              </a:rPr>
              <a:t>Captures the maximum variation.</a:t>
            </a:r>
            <a:endParaRPr b="0" i="0" sz="2050" u="none" cap="none" strike="noStrike">
              <a:solidFill>
                <a:srgbClr val="000000"/>
              </a:solidFill>
              <a:latin typeface="Arial"/>
              <a:ea typeface="Arial"/>
              <a:cs typeface="Arial"/>
              <a:sym typeface="Arial"/>
            </a:endParaRPr>
          </a:p>
        </p:txBody>
      </p:sp>
      <p:pic>
        <p:nvPicPr>
          <p:cNvPr descr="preencoded.png" id="166" name="Google Shape;166;p6"/>
          <p:cNvPicPr preferRelativeResize="0"/>
          <p:nvPr/>
        </p:nvPicPr>
        <p:blipFill rotWithShape="1">
          <a:blip r:embed="rId4">
            <a:alphaModFix/>
          </a:blip>
          <a:srcRect b="0" l="0" r="0" t="0"/>
          <a:stretch/>
        </p:blipFill>
        <p:spPr>
          <a:xfrm>
            <a:off x="6280190" y="3750575"/>
            <a:ext cx="1077395" cy="1476800"/>
          </a:xfrm>
          <a:prstGeom prst="rect">
            <a:avLst/>
          </a:prstGeom>
          <a:noFill/>
          <a:ln>
            <a:noFill/>
          </a:ln>
        </p:spPr>
      </p:pic>
      <p:sp>
        <p:nvSpPr>
          <p:cNvPr id="167" name="Google Shape;167;p6"/>
          <p:cNvSpPr/>
          <p:nvPr/>
        </p:nvSpPr>
        <p:spPr>
          <a:xfrm>
            <a:off x="7650999" y="3725908"/>
            <a:ext cx="6564300" cy="384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504C49"/>
              </a:buClr>
              <a:buSzPts val="2100"/>
              <a:buFont typeface="Platypi Medium"/>
              <a:buNone/>
            </a:pPr>
            <a:r>
              <a:rPr b="0" i="0" lang="en-US" sz="2500" u="none" cap="none" strike="noStrike">
                <a:solidFill>
                  <a:srgbClr val="504C49"/>
                </a:solidFill>
                <a:latin typeface="Platypi Medium"/>
                <a:ea typeface="Platypi Medium"/>
                <a:cs typeface="Platypi Medium"/>
                <a:sym typeface="Platypi Medium"/>
              </a:rPr>
              <a:t>The second principal component (PC2)</a:t>
            </a:r>
            <a:endParaRPr b="0" i="0" sz="2500" u="none" cap="none" strike="noStrike">
              <a:solidFill>
                <a:srgbClr val="000000"/>
              </a:solidFill>
              <a:latin typeface="Arial"/>
              <a:ea typeface="Arial"/>
              <a:cs typeface="Arial"/>
              <a:sym typeface="Arial"/>
            </a:endParaRPr>
          </a:p>
        </p:txBody>
      </p:sp>
      <p:sp>
        <p:nvSpPr>
          <p:cNvPr id="168" name="Google Shape;168;p6"/>
          <p:cNvSpPr/>
          <p:nvPr/>
        </p:nvSpPr>
        <p:spPr>
          <a:xfrm>
            <a:off x="7650995" y="4257942"/>
            <a:ext cx="6156000" cy="3939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504C49"/>
              </a:buClr>
              <a:buSzPts val="1650"/>
              <a:buFont typeface="Arial"/>
              <a:buNone/>
            </a:pPr>
            <a:r>
              <a:rPr b="0" i="0" lang="en-US" sz="2050" u="none" cap="none" strike="noStrike">
                <a:solidFill>
                  <a:srgbClr val="504C49"/>
                </a:solidFill>
                <a:latin typeface="Arial"/>
                <a:ea typeface="Arial"/>
                <a:cs typeface="Arial"/>
                <a:sym typeface="Arial"/>
              </a:rPr>
              <a:t>Is perpendicular to PC1 and captures the second-most variation.</a:t>
            </a:r>
            <a:endParaRPr b="0" i="0" sz="2050" u="none" cap="none" strike="noStrike">
              <a:solidFill>
                <a:srgbClr val="000000"/>
              </a:solidFill>
              <a:latin typeface="Arial"/>
              <a:ea typeface="Arial"/>
              <a:cs typeface="Arial"/>
              <a:sym typeface="Arial"/>
            </a:endParaRPr>
          </a:p>
        </p:txBody>
      </p:sp>
      <p:pic>
        <p:nvPicPr>
          <p:cNvPr descr="preencoded.png" id="169" name="Google Shape;169;p6"/>
          <p:cNvPicPr preferRelativeResize="0"/>
          <p:nvPr/>
        </p:nvPicPr>
        <p:blipFill rotWithShape="1">
          <a:blip r:embed="rId5">
            <a:alphaModFix/>
          </a:blip>
          <a:srcRect b="0" l="0" r="0" t="0"/>
          <a:stretch/>
        </p:blipFill>
        <p:spPr>
          <a:xfrm>
            <a:off x="6280190" y="5227375"/>
            <a:ext cx="1077395" cy="1476800"/>
          </a:xfrm>
          <a:prstGeom prst="rect">
            <a:avLst/>
          </a:prstGeom>
          <a:noFill/>
          <a:ln>
            <a:noFill/>
          </a:ln>
        </p:spPr>
      </p:pic>
      <p:sp>
        <p:nvSpPr>
          <p:cNvPr id="170" name="Google Shape;170;p6"/>
          <p:cNvSpPr/>
          <p:nvPr/>
        </p:nvSpPr>
        <p:spPr>
          <a:xfrm>
            <a:off x="7680726" y="5473383"/>
            <a:ext cx="5834400" cy="384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504C49"/>
              </a:buClr>
              <a:buSzPts val="2100"/>
              <a:buFont typeface="Platypi Medium"/>
              <a:buNone/>
            </a:pPr>
            <a:r>
              <a:rPr b="0" i="0" lang="en-US" sz="2500" u="none" cap="none" strike="noStrike">
                <a:solidFill>
                  <a:srgbClr val="504C49"/>
                </a:solidFill>
                <a:latin typeface="Platypi Medium"/>
                <a:ea typeface="Platypi Medium"/>
                <a:cs typeface="Platypi Medium"/>
                <a:sym typeface="Platypi Medium"/>
              </a:rPr>
              <a:t>The process continues</a:t>
            </a:r>
            <a:endParaRPr b="0" i="0" sz="2500" u="none" cap="none" strike="noStrike">
              <a:solidFill>
                <a:srgbClr val="000000"/>
              </a:solidFill>
              <a:latin typeface="Arial"/>
              <a:ea typeface="Arial"/>
              <a:cs typeface="Arial"/>
              <a:sym typeface="Arial"/>
            </a:endParaRPr>
          </a:p>
        </p:txBody>
      </p:sp>
      <p:sp>
        <p:nvSpPr>
          <p:cNvPr id="171" name="Google Shape;171;p6"/>
          <p:cNvSpPr/>
          <p:nvPr/>
        </p:nvSpPr>
        <p:spPr>
          <a:xfrm>
            <a:off x="7680720" y="6005417"/>
            <a:ext cx="6156000" cy="3939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504C49"/>
              </a:buClr>
              <a:buSzPts val="1650"/>
              <a:buFont typeface="Arial"/>
              <a:buNone/>
            </a:pPr>
            <a:r>
              <a:rPr b="0" i="0" lang="en-US" sz="2050" u="none" cap="none" strike="noStrike">
                <a:solidFill>
                  <a:srgbClr val="504C49"/>
                </a:solidFill>
                <a:latin typeface="Arial"/>
                <a:ea typeface="Arial"/>
                <a:cs typeface="Arial"/>
                <a:sym typeface="Arial"/>
              </a:rPr>
              <a:t>For more dimensions.</a:t>
            </a:r>
            <a:endParaRPr b="0" i="0" sz="2050" u="none" cap="none" strike="noStrike">
              <a:solidFill>
                <a:srgbClr val="000000"/>
              </a:solidFill>
              <a:latin typeface="Arial"/>
              <a:ea typeface="Arial"/>
              <a:cs typeface="Arial"/>
              <a:sym typeface="Arial"/>
            </a:endParaRPr>
          </a:p>
        </p:txBody>
      </p:sp>
      <p:pic>
        <p:nvPicPr>
          <p:cNvPr descr="preencoded.png" id="172" name="Google Shape;172;p6"/>
          <p:cNvPicPr preferRelativeResize="0"/>
          <p:nvPr/>
        </p:nvPicPr>
        <p:blipFill rotWithShape="1">
          <a:blip r:embed="rId6">
            <a:alphaModFix/>
          </a:blip>
          <a:srcRect b="0" l="0" r="0" t="0"/>
          <a:stretch/>
        </p:blipFill>
        <p:spPr>
          <a:xfrm>
            <a:off x="13624560" y="228600"/>
            <a:ext cx="777240" cy="608767"/>
          </a:xfrm>
          <a:prstGeom prst="rect">
            <a:avLst/>
          </a:prstGeom>
          <a:noFill/>
          <a:ln>
            <a:noFill/>
          </a:ln>
        </p:spPr>
      </p:pic>
      <p:pic>
        <p:nvPicPr>
          <p:cNvPr id="173" name="Google Shape;173;p6"/>
          <p:cNvPicPr preferRelativeResize="0"/>
          <p:nvPr/>
        </p:nvPicPr>
        <p:blipFill rotWithShape="1">
          <a:blip r:embed="rId7">
            <a:alphaModFix/>
          </a:blip>
          <a:srcRect b="0" l="0" r="0" t="0"/>
          <a:stretch/>
        </p:blipFill>
        <p:spPr>
          <a:xfrm>
            <a:off x="152400" y="2471750"/>
            <a:ext cx="5834400" cy="4430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descr="preencoded.png" id="179" name="Google Shape;179;p7"/>
          <p:cNvPicPr preferRelativeResize="0"/>
          <p:nvPr/>
        </p:nvPicPr>
        <p:blipFill rotWithShape="1">
          <a:blip r:embed="rId3">
            <a:alphaModFix/>
          </a:blip>
          <a:srcRect b="0" l="0" r="0" t="0"/>
          <a:stretch/>
        </p:blipFill>
        <p:spPr>
          <a:xfrm>
            <a:off x="269319" y="1076682"/>
            <a:ext cx="6776442" cy="6076236"/>
          </a:xfrm>
          <a:prstGeom prst="rect">
            <a:avLst/>
          </a:prstGeom>
          <a:noFill/>
          <a:ln>
            <a:noFill/>
          </a:ln>
        </p:spPr>
      </p:pic>
      <p:sp>
        <p:nvSpPr>
          <p:cNvPr id="180" name="Google Shape;180;p7"/>
          <p:cNvSpPr/>
          <p:nvPr/>
        </p:nvSpPr>
        <p:spPr>
          <a:xfrm>
            <a:off x="8108990" y="861655"/>
            <a:ext cx="5727621" cy="1346835"/>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201B18"/>
              </a:buClr>
              <a:buSzPts val="4200"/>
              <a:buFont typeface="Platypi Medium"/>
              <a:buNone/>
            </a:pPr>
            <a:r>
              <a:rPr b="0" i="0" lang="en-US" sz="2400" u="none" cap="none" strike="noStrike">
                <a:solidFill>
                  <a:srgbClr val="201B18"/>
                </a:solidFill>
                <a:latin typeface="Platypi Medium"/>
                <a:ea typeface="Platypi Medium"/>
                <a:cs typeface="Platypi Medium"/>
                <a:sym typeface="Platypi Medium"/>
              </a:rPr>
              <a:t>Example of Principal Components</a:t>
            </a:r>
            <a:endParaRPr b="0" i="0" sz="2400" u="none" cap="none" strike="noStrike">
              <a:solidFill>
                <a:srgbClr val="000000"/>
              </a:solidFill>
              <a:latin typeface="Arial"/>
              <a:ea typeface="Arial"/>
              <a:cs typeface="Arial"/>
              <a:sym typeface="Arial"/>
            </a:endParaRPr>
          </a:p>
        </p:txBody>
      </p:sp>
      <p:sp>
        <p:nvSpPr>
          <p:cNvPr id="181" name="Google Shape;181;p7"/>
          <p:cNvSpPr/>
          <p:nvPr/>
        </p:nvSpPr>
        <p:spPr>
          <a:xfrm>
            <a:off x="8108990" y="1591825"/>
            <a:ext cx="5727600" cy="1793400"/>
          </a:xfrm>
          <a:prstGeom prst="roundRect">
            <a:avLst>
              <a:gd fmla="val 2048"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182" name="Google Shape;182;p7"/>
          <p:cNvSpPr/>
          <p:nvPr/>
        </p:nvSpPr>
        <p:spPr>
          <a:xfrm>
            <a:off x="8324364" y="1807210"/>
            <a:ext cx="5296853" cy="673179"/>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504C49"/>
              </a:buClr>
              <a:buSzPts val="2100"/>
              <a:buFont typeface="Platypi Medium"/>
              <a:buNone/>
            </a:pPr>
            <a:r>
              <a:rPr b="0" i="0" lang="en-US" sz="2000" u="none" cap="none" strike="noStrike">
                <a:solidFill>
                  <a:srgbClr val="504C49"/>
                </a:solidFill>
                <a:latin typeface="Platypi Medium"/>
                <a:ea typeface="Platypi Medium"/>
                <a:cs typeface="Platypi Medium"/>
                <a:sym typeface="Platypi Medium"/>
              </a:rPr>
              <a:t>House Prices vs. Square Footage Dataset</a:t>
            </a:r>
            <a:endParaRPr b="0" i="0" sz="2000" u="none" cap="none" strike="noStrike">
              <a:solidFill>
                <a:srgbClr val="000000"/>
              </a:solidFill>
              <a:latin typeface="Arial"/>
              <a:ea typeface="Arial"/>
              <a:cs typeface="Arial"/>
              <a:sym typeface="Arial"/>
            </a:endParaRPr>
          </a:p>
        </p:txBody>
      </p:sp>
      <p:sp>
        <p:nvSpPr>
          <p:cNvPr id="183" name="Google Shape;183;p7"/>
          <p:cNvSpPr/>
          <p:nvPr/>
        </p:nvSpPr>
        <p:spPr>
          <a:xfrm>
            <a:off x="8324364" y="2279650"/>
            <a:ext cx="5296853" cy="344805"/>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504C49"/>
              </a:buClr>
              <a:buSzPts val="1650"/>
              <a:buFont typeface="Arial"/>
              <a:buNone/>
            </a:pPr>
            <a:r>
              <a:rPr b="0" i="0" lang="en-US" sz="1950" u="none" cap="none" strike="noStrike">
                <a:solidFill>
                  <a:srgbClr val="504C49"/>
                </a:solidFill>
                <a:latin typeface="Arial"/>
                <a:ea typeface="Arial"/>
                <a:cs typeface="Arial"/>
                <a:sym typeface="Arial"/>
              </a:rPr>
              <a:t>Imagine a dataset of house prices vs. square footage.</a:t>
            </a:r>
            <a:endParaRPr b="0" i="0" sz="1950" u="none" cap="none" strike="noStrike">
              <a:solidFill>
                <a:srgbClr val="000000"/>
              </a:solidFill>
              <a:latin typeface="Arial"/>
              <a:ea typeface="Arial"/>
              <a:cs typeface="Arial"/>
              <a:sym typeface="Arial"/>
            </a:endParaRPr>
          </a:p>
        </p:txBody>
      </p:sp>
      <p:sp>
        <p:nvSpPr>
          <p:cNvPr id="184" name="Google Shape;184;p7"/>
          <p:cNvSpPr/>
          <p:nvPr/>
        </p:nvSpPr>
        <p:spPr>
          <a:xfrm>
            <a:off x="8108980" y="3580495"/>
            <a:ext cx="5727600" cy="1241400"/>
          </a:xfrm>
          <a:prstGeom prst="roundRect">
            <a:avLst>
              <a:gd fmla="val 2604"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185" name="Google Shape;185;p7"/>
          <p:cNvSpPr/>
          <p:nvPr/>
        </p:nvSpPr>
        <p:spPr>
          <a:xfrm>
            <a:off x="8324366" y="3795875"/>
            <a:ext cx="4724100" cy="33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504C49"/>
              </a:buClr>
              <a:buSzPts val="2100"/>
              <a:buFont typeface="Platypi Medium"/>
              <a:buNone/>
            </a:pPr>
            <a:r>
              <a:rPr b="0" i="0" lang="en-US" sz="2400" u="none" cap="none" strike="noStrike">
                <a:solidFill>
                  <a:srgbClr val="504C49"/>
                </a:solidFill>
                <a:latin typeface="Platypi Medium"/>
                <a:ea typeface="Platypi Medium"/>
                <a:cs typeface="Platypi Medium"/>
                <a:sym typeface="Platypi Medium"/>
              </a:rPr>
              <a:t>Data Spread Pattern</a:t>
            </a:r>
            <a:endParaRPr b="0" i="0" sz="2400" u="none" cap="none" strike="noStrike">
              <a:solidFill>
                <a:srgbClr val="000000"/>
              </a:solidFill>
              <a:latin typeface="Arial"/>
              <a:ea typeface="Arial"/>
              <a:cs typeface="Arial"/>
              <a:sym typeface="Arial"/>
            </a:endParaRPr>
          </a:p>
        </p:txBody>
      </p:sp>
      <p:sp>
        <p:nvSpPr>
          <p:cNvPr id="186" name="Google Shape;186;p7"/>
          <p:cNvSpPr/>
          <p:nvPr/>
        </p:nvSpPr>
        <p:spPr>
          <a:xfrm>
            <a:off x="8324364" y="4261652"/>
            <a:ext cx="5296800" cy="3447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504C49"/>
              </a:buClr>
              <a:buSzPts val="1650"/>
              <a:buFont typeface="Arial"/>
              <a:buNone/>
            </a:pPr>
            <a:r>
              <a:rPr b="0" i="0" lang="en-US" sz="1950" u="none" cap="none" strike="noStrike">
                <a:solidFill>
                  <a:srgbClr val="504C49"/>
                </a:solidFill>
                <a:latin typeface="Arial"/>
                <a:ea typeface="Arial"/>
                <a:cs typeface="Arial"/>
                <a:sym typeface="Arial"/>
              </a:rPr>
              <a:t>The spread of data is mostly along one axis.</a:t>
            </a:r>
            <a:endParaRPr b="0" i="0" sz="1950" u="none" cap="none" strike="noStrike">
              <a:solidFill>
                <a:srgbClr val="000000"/>
              </a:solidFill>
              <a:latin typeface="Arial"/>
              <a:ea typeface="Arial"/>
              <a:cs typeface="Arial"/>
              <a:sym typeface="Arial"/>
            </a:endParaRPr>
          </a:p>
        </p:txBody>
      </p:sp>
      <p:sp>
        <p:nvSpPr>
          <p:cNvPr id="187" name="Google Shape;187;p7"/>
          <p:cNvSpPr/>
          <p:nvPr/>
        </p:nvSpPr>
        <p:spPr>
          <a:xfrm>
            <a:off x="8108980" y="5037225"/>
            <a:ext cx="5727600" cy="1586100"/>
          </a:xfrm>
          <a:prstGeom prst="roundRect">
            <a:avLst>
              <a:gd fmla="val 2038"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188" name="Google Shape;188;p7"/>
          <p:cNvSpPr/>
          <p:nvPr/>
        </p:nvSpPr>
        <p:spPr>
          <a:xfrm>
            <a:off x="8324364" y="5252609"/>
            <a:ext cx="2693700" cy="3366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504C49"/>
              </a:buClr>
              <a:buSzPts val="2100"/>
              <a:buFont typeface="Platypi Medium"/>
              <a:buNone/>
            </a:pPr>
            <a:r>
              <a:rPr b="0" i="0" lang="en-US" sz="2400" u="none" cap="none" strike="noStrike">
                <a:solidFill>
                  <a:srgbClr val="504C49"/>
                </a:solidFill>
                <a:latin typeface="Platypi Medium"/>
                <a:ea typeface="Platypi Medium"/>
                <a:cs typeface="Platypi Medium"/>
                <a:sym typeface="Platypi Medium"/>
              </a:rPr>
              <a:t>PCA Application</a:t>
            </a:r>
            <a:endParaRPr b="0" i="0" sz="2400" u="none" cap="none" strike="noStrike">
              <a:solidFill>
                <a:srgbClr val="000000"/>
              </a:solidFill>
              <a:latin typeface="Arial"/>
              <a:ea typeface="Arial"/>
              <a:cs typeface="Arial"/>
              <a:sym typeface="Arial"/>
            </a:endParaRPr>
          </a:p>
        </p:txBody>
      </p:sp>
      <p:sp>
        <p:nvSpPr>
          <p:cNvPr id="189" name="Google Shape;189;p7"/>
          <p:cNvSpPr/>
          <p:nvPr/>
        </p:nvSpPr>
        <p:spPr>
          <a:xfrm>
            <a:off x="8324364" y="5718382"/>
            <a:ext cx="5512216" cy="6897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504C49"/>
              </a:buClr>
              <a:buSzPts val="1650"/>
              <a:buFont typeface="Arial"/>
              <a:buNone/>
            </a:pPr>
            <a:r>
              <a:rPr b="0" i="0" lang="en-US" sz="1950" u="none" cap="none" strike="noStrike">
                <a:solidFill>
                  <a:srgbClr val="504C49"/>
                </a:solidFill>
                <a:latin typeface="Arial"/>
                <a:ea typeface="Arial"/>
                <a:cs typeface="Arial"/>
                <a:sym typeface="Arial"/>
              </a:rPr>
              <a:t>PCA finds this direction and reduces dimensions accordingly.</a:t>
            </a:r>
            <a:endParaRPr b="0" i="0" sz="1950" u="none" cap="none" strike="noStrike">
              <a:solidFill>
                <a:srgbClr val="000000"/>
              </a:solidFill>
              <a:latin typeface="Arial"/>
              <a:ea typeface="Arial"/>
              <a:cs typeface="Arial"/>
              <a:sym typeface="Arial"/>
            </a:endParaRPr>
          </a:p>
        </p:txBody>
      </p:sp>
      <p:pic>
        <p:nvPicPr>
          <p:cNvPr descr="preencoded.png" id="190" name="Google Shape;190;p7"/>
          <p:cNvPicPr preferRelativeResize="0"/>
          <p:nvPr/>
        </p:nvPicPr>
        <p:blipFill rotWithShape="1">
          <a:blip r:embed="rId4">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8"/>
          <p:cNvSpPr/>
          <p:nvPr/>
        </p:nvSpPr>
        <p:spPr>
          <a:xfrm>
            <a:off x="793790" y="733068"/>
            <a:ext cx="9391610" cy="5670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201B18"/>
              </a:buClr>
              <a:buSzPts val="3550"/>
              <a:buFont typeface="Platypi Medium"/>
              <a:buNone/>
            </a:pPr>
            <a:r>
              <a:rPr b="0" i="0" lang="en-US" sz="3550" u="none" cap="none" strike="noStrike">
                <a:solidFill>
                  <a:srgbClr val="201B18"/>
                </a:solidFill>
                <a:latin typeface="Platypi Medium"/>
                <a:ea typeface="Platypi Medium"/>
                <a:cs typeface="Platypi Medium"/>
                <a:sym typeface="Platypi Medium"/>
              </a:rPr>
              <a:t>Visual Representation of PCA</a:t>
            </a:r>
            <a:endParaRPr b="0" i="0" sz="3550" u="none" cap="none" strike="noStrike">
              <a:solidFill>
                <a:srgbClr val="000000"/>
              </a:solidFill>
              <a:latin typeface="Arial"/>
              <a:ea typeface="Arial"/>
              <a:cs typeface="Arial"/>
              <a:sym typeface="Arial"/>
            </a:endParaRPr>
          </a:p>
        </p:txBody>
      </p:sp>
      <p:sp>
        <p:nvSpPr>
          <p:cNvPr id="197" name="Google Shape;197;p8"/>
          <p:cNvSpPr/>
          <p:nvPr/>
        </p:nvSpPr>
        <p:spPr>
          <a:xfrm>
            <a:off x="793790" y="1662946"/>
            <a:ext cx="13042800" cy="2904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04C49"/>
              </a:buClr>
              <a:buSzPts val="1400"/>
              <a:buFont typeface="Arial"/>
              <a:buNone/>
            </a:pPr>
            <a:r>
              <a:rPr b="0" i="0" lang="en-US" sz="2000" u="none" cap="none" strike="noStrike">
                <a:solidFill>
                  <a:srgbClr val="504C49"/>
                </a:solidFill>
                <a:latin typeface="Arial"/>
                <a:ea typeface="Arial"/>
                <a:cs typeface="Arial"/>
                <a:sym typeface="Arial"/>
              </a:rPr>
              <a:t>PCA redefines the coordinate system for better representation.</a:t>
            </a:r>
            <a:endParaRPr b="0" i="0" sz="2000" u="none" cap="none" strike="noStrike">
              <a:solidFill>
                <a:srgbClr val="000000"/>
              </a:solidFill>
              <a:latin typeface="Arial"/>
              <a:ea typeface="Arial"/>
              <a:cs typeface="Arial"/>
              <a:sym typeface="Arial"/>
            </a:endParaRPr>
          </a:p>
        </p:txBody>
      </p:sp>
      <p:sp>
        <p:nvSpPr>
          <p:cNvPr id="198" name="Google Shape;198;p8"/>
          <p:cNvSpPr/>
          <p:nvPr/>
        </p:nvSpPr>
        <p:spPr>
          <a:xfrm>
            <a:off x="2485197" y="2338750"/>
            <a:ext cx="1659300" cy="2835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201B18"/>
              </a:buClr>
              <a:buSzPts val="1750"/>
              <a:buFont typeface="Platypi Medium"/>
              <a:buNone/>
            </a:pPr>
            <a:r>
              <a:rPr b="0" i="0" lang="en-US" sz="1750" u="none" cap="none" strike="noStrike">
                <a:solidFill>
                  <a:srgbClr val="201B18"/>
                </a:solidFill>
                <a:latin typeface="Platypi Medium"/>
                <a:ea typeface="Platypi Medium"/>
                <a:cs typeface="Platypi Medium"/>
                <a:sym typeface="Platypi Medium"/>
              </a:rPr>
              <a:t>Before PCA</a:t>
            </a:r>
            <a:endParaRPr b="0" i="0" sz="1750" u="none" cap="none" strike="noStrike">
              <a:solidFill>
                <a:srgbClr val="000000"/>
              </a:solidFill>
              <a:latin typeface="Arial"/>
              <a:ea typeface="Arial"/>
              <a:cs typeface="Arial"/>
              <a:sym typeface="Arial"/>
            </a:endParaRPr>
          </a:p>
        </p:txBody>
      </p:sp>
      <p:sp>
        <p:nvSpPr>
          <p:cNvPr id="199" name="Google Shape;199;p8"/>
          <p:cNvSpPr/>
          <p:nvPr/>
        </p:nvSpPr>
        <p:spPr>
          <a:xfrm>
            <a:off x="2485197" y="2803681"/>
            <a:ext cx="4608600" cy="2904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04C49"/>
              </a:buClr>
              <a:buSzPts val="1400"/>
              <a:buFont typeface="Arial"/>
              <a:buNone/>
            </a:pPr>
            <a:r>
              <a:rPr b="0" i="0" lang="en-US" sz="1400" u="none" cap="none" strike="noStrike">
                <a:solidFill>
                  <a:srgbClr val="504C49"/>
                </a:solidFill>
                <a:latin typeface="Arial"/>
                <a:ea typeface="Arial"/>
                <a:cs typeface="Arial"/>
                <a:sym typeface="Arial"/>
              </a:rPr>
              <a:t>Data is scattered in 2D or 3D.</a:t>
            </a:r>
            <a:endParaRPr b="0" i="0" sz="1400" u="none" cap="none" strike="noStrike">
              <a:solidFill>
                <a:srgbClr val="000000"/>
              </a:solidFill>
              <a:latin typeface="Arial"/>
              <a:ea typeface="Arial"/>
              <a:cs typeface="Arial"/>
              <a:sym typeface="Arial"/>
            </a:endParaRPr>
          </a:p>
        </p:txBody>
      </p:sp>
      <p:sp>
        <p:nvSpPr>
          <p:cNvPr id="200" name="Google Shape;200;p8"/>
          <p:cNvSpPr/>
          <p:nvPr/>
        </p:nvSpPr>
        <p:spPr>
          <a:xfrm>
            <a:off x="7920275" y="2338750"/>
            <a:ext cx="2132700" cy="2835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201B18"/>
              </a:buClr>
              <a:buSzPts val="1750"/>
              <a:buFont typeface="Platypi Medium"/>
              <a:buNone/>
            </a:pPr>
            <a:r>
              <a:rPr b="0" i="0" lang="en-US" sz="1750" u="none" cap="none" strike="noStrike">
                <a:solidFill>
                  <a:srgbClr val="201B18"/>
                </a:solidFill>
                <a:latin typeface="Platypi Medium"/>
                <a:ea typeface="Platypi Medium"/>
                <a:cs typeface="Platypi Medium"/>
                <a:sym typeface="Platypi Medium"/>
              </a:rPr>
              <a:t>After PCA</a:t>
            </a:r>
            <a:endParaRPr b="0" i="0" sz="1750" u="none" cap="none" strike="noStrike">
              <a:solidFill>
                <a:srgbClr val="000000"/>
              </a:solidFill>
              <a:latin typeface="Arial"/>
              <a:ea typeface="Arial"/>
              <a:cs typeface="Arial"/>
              <a:sym typeface="Arial"/>
            </a:endParaRPr>
          </a:p>
        </p:txBody>
      </p:sp>
      <p:sp>
        <p:nvSpPr>
          <p:cNvPr id="201" name="Google Shape;201;p8"/>
          <p:cNvSpPr/>
          <p:nvPr/>
        </p:nvSpPr>
        <p:spPr>
          <a:xfrm>
            <a:off x="7920275" y="2803681"/>
            <a:ext cx="5924100" cy="2904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04C49"/>
              </a:buClr>
              <a:buSzPts val="1400"/>
              <a:buFont typeface="Arial"/>
              <a:buNone/>
            </a:pPr>
            <a:r>
              <a:rPr b="0" i="0" lang="en-US" sz="1400" u="none" cap="none" strike="noStrike">
                <a:solidFill>
                  <a:srgbClr val="504C49"/>
                </a:solidFill>
                <a:latin typeface="Arial"/>
                <a:ea typeface="Arial"/>
                <a:cs typeface="Arial"/>
                <a:sym typeface="Arial"/>
              </a:rPr>
              <a:t>Data is transformed to the principal component axis.</a:t>
            </a:r>
            <a:endParaRPr b="0" i="0" sz="1400" u="none" cap="none" strike="noStrike">
              <a:solidFill>
                <a:srgbClr val="000000"/>
              </a:solidFill>
              <a:latin typeface="Arial"/>
              <a:ea typeface="Arial"/>
              <a:cs typeface="Arial"/>
              <a:sym typeface="Arial"/>
            </a:endParaRPr>
          </a:p>
        </p:txBody>
      </p:sp>
      <p:pic>
        <p:nvPicPr>
          <p:cNvPr descr="preencoded.png" id="202" name="Google Shape;202;p8"/>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pic>
        <p:nvPicPr>
          <p:cNvPr id="203" name="Google Shape;203;p8"/>
          <p:cNvPicPr preferRelativeResize="0"/>
          <p:nvPr/>
        </p:nvPicPr>
        <p:blipFill rotWithShape="1">
          <a:blip r:embed="rId4">
            <a:alphaModFix/>
          </a:blip>
          <a:srcRect b="0" l="0" r="0" t="0"/>
          <a:stretch/>
        </p:blipFill>
        <p:spPr>
          <a:xfrm>
            <a:off x="2485187" y="3275401"/>
            <a:ext cx="9660024" cy="4680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9"/>
          <p:cNvSpPr/>
          <p:nvPr/>
        </p:nvSpPr>
        <p:spPr>
          <a:xfrm>
            <a:off x="793790" y="1790383"/>
            <a:ext cx="1271901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How are Principal Components Computed?</a:t>
            </a:r>
            <a:endParaRPr b="0" i="0" sz="4450" u="none" cap="none" strike="noStrike">
              <a:solidFill>
                <a:srgbClr val="000000"/>
              </a:solidFill>
              <a:latin typeface="Arial"/>
              <a:ea typeface="Arial"/>
              <a:cs typeface="Arial"/>
              <a:sym typeface="Arial"/>
            </a:endParaRPr>
          </a:p>
        </p:txBody>
      </p:sp>
      <p:sp>
        <p:nvSpPr>
          <p:cNvPr id="210" name="Google Shape;210;p9"/>
          <p:cNvSpPr/>
          <p:nvPr/>
        </p:nvSpPr>
        <p:spPr>
          <a:xfrm>
            <a:off x="793790" y="2952790"/>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Uses Linear Algebra Concepts to extract meaningful components from complex data.</a:t>
            </a:r>
            <a:endParaRPr b="0" i="0" sz="2050" u="none" cap="none" strike="noStrike">
              <a:solidFill>
                <a:srgbClr val="000000"/>
              </a:solidFill>
              <a:latin typeface="Arial"/>
              <a:ea typeface="Arial"/>
              <a:cs typeface="Arial"/>
              <a:sym typeface="Arial"/>
            </a:endParaRPr>
          </a:p>
        </p:txBody>
      </p:sp>
      <p:sp>
        <p:nvSpPr>
          <p:cNvPr id="211" name="Google Shape;211;p9"/>
          <p:cNvSpPr/>
          <p:nvPr/>
        </p:nvSpPr>
        <p:spPr>
          <a:xfrm>
            <a:off x="793800" y="3826002"/>
            <a:ext cx="510300" cy="721200"/>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212" name="Google Shape;212;p9"/>
          <p:cNvSpPr/>
          <p:nvPr/>
        </p:nvSpPr>
        <p:spPr>
          <a:xfrm>
            <a:off x="878870" y="3886081"/>
            <a:ext cx="340200" cy="601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950" u="none" cap="none" strike="noStrike">
                <a:solidFill>
                  <a:srgbClr val="504C49"/>
                </a:solidFill>
                <a:latin typeface="Platypi Medium"/>
                <a:ea typeface="Platypi Medium"/>
                <a:cs typeface="Platypi Medium"/>
                <a:sym typeface="Platypi Medium"/>
              </a:rPr>
              <a:t>1</a:t>
            </a:r>
            <a:endParaRPr b="0" i="0" sz="2950" u="none" cap="none" strike="noStrike">
              <a:solidFill>
                <a:srgbClr val="000000"/>
              </a:solidFill>
              <a:latin typeface="Arial"/>
              <a:ea typeface="Arial"/>
              <a:cs typeface="Arial"/>
              <a:sym typeface="Arial"/>
            </a:endParaRPr>
          </a:p>
        </p:txBody>
      </p:sp>
      <p:sp>
        <p:nvSpPr>
          <p:cNvPr id="213" name="Google Shape;213;p9"/>
          <p:cNvSpPr/>
          <p:nvPr/>
        </p:nvSpPr>
        <p:spPr>
          <a:xfrm>
            <a:off x="1530915" y="3826002"/>
            <a:ext cx="3459300" cy="1001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Eigenvectors &amp; Eigenvalues</a:t>
            </a:r>
            <a:endParaRPr b="0" i="0" sz="2500" u="none" cap="none" strike="noStrike">
              <a:solidFill>
                <a:srgbClr val="000000"/>
              </a:solidFill>
              <a:latin typeface="Arial"/>
              <a:ea typeface="Arial"/>
              <a:cs typeface="Arial"/>
              <a:sym typeface="Arial"/>
            </a:endParaRPr>
          </a:p>
        </p:txBody>
      </p:sp>
      <p:sp>
        <p:nvSpPr>
          <p:cNvPr id="214" name="Google Shape;214;p9"/>
          <p:cNvSpPr/>
          <p:nvPr/>
        </p:nvSpPr>
        <p:spPr>
          <a:xfrm>
            <a:off x="1530915" y="5020014"/>
            <a:ext cx="3459300" cy="51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Mathematical foundations of PCA</a:t>
            </a:r>
            <a:endParaRPr b="0" i="0" sz="2050" u="none" cap="none" strike="noStrike">
              <a:solidFill>
                <a:srgbClr val="000000"/>
              </a:solidFill>
              <a:latin typeface="Arial"/>
              <a:ea typeface="Arial"/>
              <a:cs typeface="Arial"/>
              <a:sym typeface="Arial"/>
            </a:endParaRPr>
          </a:p>
        </p:txBody>
      </p:sp>
      <p:sp>
        <p:nvSpPr>
          <p:cNvPr id="215" name="Google Shape;215;p9"/>
          <p:cNvSpPr/>
          <p:nvPr/>
        </p:nvSpPr>
        <p:spPr>
          <a:xfrm>
            <a:off x="5216969" y="3826002"/>
            <a:ext cx="510300" cy="721200"/>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216" name="Google Shape;216;p9"/>
          <p:cNvSpPr/>
          <p:nvPr/>
        </p:nvSpPr>
        <p:spPr>
          <a:xfrm>
            <a:off x="5302039" y="3886081"/>
            <a:ext cx="340200" cy="601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950" u="none" cap="none" strike="noStrike">
                <a:solidFill>
                  <a:srgbClr val="504C49"/>
                </a:solidFill>
                <a:latin typeface="Platypi Medium"/>
                <a:ea typeface="Platypi Medium"/>
                <a:cs typeface="Platypi Medium"/>
                <a:sym typeface="Platypi Medium"/>
              </a:rPr>
              <a:t>2</a:t>
            </a:r>
            <a:endParaRPr b="0" i="0" sz="2950" u="none" cap="none" strike="noStrike">
              <a:solidFill>
                <a:srgbClr val="000000"/>
              </a:solidFill>
              <a:latin typeface="Arial"/>
              <a:ea typeface="Arial"/>
              <a:cs typeface="Arial"/>
              <a:sym typeface="Arial"/>
            </a:endParaRPr>
          </a:p>
        </p:txBody>
      </p:sp>
      <p:sp>
        <p:nvSpPr>
          <p:cNvPr id="217" name="Google Shape;217;p9"/>
          <p:cNvSpPr/>
          <p:nvPr/>
        </p:nvSpPr>
        <p:spPr>
          <a:xfrm>
            <a:off x="5954084" y="3826002"/>
            <a:ext cx="3459300" cy="1001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Singular Value Decomposition (SVD)</a:t>
            </a:r>
            <a:endParaRPr b="0" i="0" sz="2500" u="none" cap="none" strike="noStrike">
              <a:solidFill>
                <a:srgbClr val="000000"/>
              </a:solidFill>
              <a:latin typeface="Arial"/>
              <a:ea typeface="Arial"/>
              <a:cs typeface="Arial"/>
              <a:sym typeface="Arial"/>
            </a:endParaRPr>
          </a:p>
        </p:txBody>
      </p:sp>
      <p:sp>
        <p:nvSpPr>
          <p:cNvPr id="218" name="Google Shape;218;p9"/>
          <p:cNvSpPr/>
          <p:nvPr/>
        </p:nvSpPr>
        <p:spPr>
          <a:xfrm>
            <a:off x="5954084" y="5020014"/>
            <a:ext cx="3459300" cy="51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Computational technique</a:t>
            </a:r>
            <a:endParaRPr b="0" i="0" sz="2050" u="none" cap="none" strike="noStrike">
              <a:solidFill>
                <a:srgbClr val="000000"/>
              </a:solidFill>
              <a:latin typeface="Arial"/>
              <a:ea typeface="Arial"/>
              <a:cs typeface="Arial"/>
              <a:sym typeface="Arial"/>
            </a:endParaRPr>
          </a:p>
        </p:txBody>
      </p:sp>
      <p:sp>
        <p:nvSpPr>
          <p:cNvPr id="219" name="Google Shape;219;p9"/>
          <p:cNvSpPr/>
          <p:nvPr/>
        </p:nvSpPr>
        <p:spPr>
          <a:xfrm>
            <a:off x="9640137" y="3826002"/>
            <a:ext cx="510300" cy="721200"/>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220" name="Google Shape;220;p9"/>
          <p:cNvSpPr/>
          <p:nvPr/>
        </p:nvSpPr>
        <p:spPr>
          <a:xfrm>
            <a:off x="9725208" y="3886081"/>
            <a:ext cx="340200" cy="601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950" u="none" cap="none" strike="noStrike">
                <a:solidFill>
                  <a:srgbClr val="504C49"/>
                </a:solidFill>
                <a:latin typeface="Platypi Medium"/>
                <a:ea typeface="Platypi Medium"/>
                <a:cs typeface="Platypi Medium"/>
                <a:sym typeface="Platypi Medium"/>
              </a:rPr>
              <a:t>3</a:t>
            </a:r>
            <a:endParaRPr b="0" i="0" sz="2950" u="none" cap="none" strike="noStrike">
              <a:solidFill>
                <a:srgbClr val="000000"/>
              </a:solidFill>
              <a:latin typeface="Arial"/>
              <a:ea typeface="Arial"/>
              <a:cs typeface="Arial"/>
              <a:sym typeface="Arial"/>
            </a:endParaRPr>
          </a:p>
        </p:txBody>
      </p:sp>
      <p:sp>
        <p:nvSpPr>
          <p:cNvPr id="221" name="Google Shape;221;p9"/>
          <p:cNvSpPr/>
          <p:nvPr/>
        </p:nvSpPr>
        <p:spPr>
          <a:xfrm>
            <a:off x="10377252" y="3826002"/>
            <a:ext cx="2835300" cy="500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Direction Finding</a:t>
            </a:r>
            <a:endParaRPr b="0" i="0" sz="2500" u="none" cap="none" strike="noStrike">
              <a:solidFill>
                <a:srgbClr val="000000"/>
              </a:solidFill>
              <a:latin typeface="Arial"/>
              <a:ea typeface="Arial"/>
              <a:cs typeface="Arial"/>
              <a:sym typeface="Arial"/>
            </a:endParaRPr>
          </a:p>
        </p:txBody>
      </p:sp>
      <p:sp>
        <p:nvSpPr>
          <p:cNvPr id="222" name="Google Shape;222;p9"/>
          <p:cNvSpPr/>
          <p:nvPr/>
        </p:nvSpPr>
        <p:spPr>
          <a:xfrm>
            <a:off x="10377252" y="4519186"/>
            <a:ext cx="3459300" cy="10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Find the directions that capture the most variation</a:t>
            </a:r>
            <a:endParaRPr b="0" i="0" sz="2050" u="none" cap="none" strike="noStrike">
              <a:solidFill>
                <a:srgbClr val="000000"/>
              </a:solidFill>
              <a:latin typeface="Arial"/>
              <a:ea typeface="Arial"/>
              <a:cs typeface="Arial"/>
              <a:sym typeface="Arial"/>
            </a:endParaRPr>
          </a:p>
        </p:txBody>
      </p:sp>
      <p:pic>
        <p:nvPicPr>
          <p:cNvPr descr="preencoded.png" id="223" name="Google Shape;223;p9"/>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6"/>
          <p:cNvSpPr txBox="1"/>
          <p:nvPr/>
        </p:nvSpPr>
        <p:spPr>
          <a:xfrm>
            <a:off x="1104900" y="1879938"/>
            <a:ext cx="12141200" cy="5367816"/>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200"/>
              <a:buFont typeface="Arial"/>
              <a:buNone/>
            </a:pPr>
            <a:r>
              <a:rPr b="0" i="0" lang="en-US" sz="2200" u="none" cap="none" strike="noStrike">
                <a:solidFill>
                  <a:srgbClr val="3F3F3F"/>
                </a:solidFill>
                <a:latin typeface="Arial"/>
                <a:ea typeface="Arial"/>
                <a:cs typeface="Arial"/>
                <a:sym typeface="Arial"/>
              </a:rPr>
              <a:t>Given a </a:t>
            </a:r>
            <a:r>
              <a:rPr b="1" i="0" lang="en-US" sz="2200" u="none" cap="none" strike="noStrike">
                <a:solidFill>
                  <a:srgbClr val="3F3F3F"/>
                </a:solidFill>
                <a:latin typeface="Arial"/>
                <a:ea typeface="Arial"/>
                <a:cs typeface="Arial"/>
                <a:sym typeface="Arial"/>
              </a:rPr>
              <a:t>square matrix</a:t>
            </a:r>
            <a:r>
              <a:rPr b="0" i="0" lang="en-US" sz="2200" u="none" cap="none" strike="noStrike">
                <a:solidFill>
                  <a:srgbClr val="3F3F3F"/>
                </a:solidFill>
                <a:latin typeface="Arial"/>
                <a:ea typeface="Arial"/>
                <a:cs typeface="Arial"/>
                <a:sym typeface="Arial"/>
              </a:rPr>
              <a:t> </a:t>
            </a:r>
            <a:r>
              <a:rPr b="1" i="0" lang="en-US" sz="2200" u="none" cap="none" strike="noStrike">
                <a:solidFill>
                  <a:srgbClr val="3F3F3F"/>
                </a:solidFill>
                <a:latin typeface="Arial"/>
                <a:ea typeface="Arial"/>
                <a:cs typeface="Arial"/>
                <a:sym typeface="Arial"/>
              </a:rPr>
              <a:t>A</a:t>
            </a:r>
            <a:r>
              <a:rPr b="0" i="0" lang="en-US" sz="2200" u="none" cap="none" strike="noStrike">
                <a:solidFill>
                  <a:srgbClr val="3F3F3F"/>
                </a:solidFill>
                <a:latin typeface="Arial"/>
                <a:ea typeface="Arial"/>
                <a:cs typeface="Arial"/>
                <a:sym typeface="Arial"/>
              </a:rPr>
              <a:t>, an </a:t>
            </a:r>
            <a:r>
              <a:rPr b="1" i="0" lang="en-US" sz="2200" u="none" cap="none" strike="noStrike">
                <a:solidFill>
                  <a:srgbClr val="3F3F3F"/>
                </a:solidFill>
                <a:latin typeface="Arial"/>
                <a:ea typeface="Arial"/>
                <a:cs typeface="Arial"/>
                <a:sym typeface="Arial"/>
              </a:rPr>
              <a:t>eigenvector</a:t>
            </a:r>
            <a:r>
              <a:rPr b="0" i="0" lang="en-US" sz="2200" u="none" cap="none" strike="noStrike">
                <a:solidFill>
                  <a:srgbClr val="3F3F3F"/>
                </a:solidFill>
                <a:latin typeface="Arial"/>
                <a:ea typeface="Arial"/>
                <a:cs typeface="Arial"/>
                <a:sym typeface="Arial"/>
              </a:rPr>
              <a:t> is a </a:t>
            </a:r>
            <a:r>
              <a:rPr b="1" i="0" lang="en-US" sz="2200" u="none" cap="none" strike="noStrike">
                <a:solidFill>
                  <a:srgbClr val="3F3F3F"/>
                </a:solidFill>
                <a:latin typeface="Arial"/>
                <a:ea typeface="Arial"/>
                <a:cs typeface="Arial"/>
                <a:sym typeface="Arial"/>
              </a:rPr>
              <a:t>non-zero vector   </a:t>
            </a:r>
            <a:r>
              <a:rPr b="0" i="0" lang="en-US" sz="2200" u="none" cap="none" strike="noStrike">
                <a:solidFill>
                  <a:srgbClr val="3F3F3F"/>
                </a:solidFill>
                <a:latin typeface="Arial"/>
                <a:ea typeface="Arial"/>
                <a:cs typeface="Arial"/>
                <a:sym typeface="Arial"/>
              </a:rPr>
              <a:t>   that </a:t>
            </a:r>
            <a:r>
              <a:rPr b="1" i="0" lang="en-US" sz="2200" u="none" cap="none" strike="noStrike">
                <a:solidFill>
                  <a:srgbClr val="3F3F3F"/>
                </a:solidFill>
                <a:latin typeface="Arial"/>
                <a:ea typeface="Arial"/>
                <a:cs typeface="Arial"/>
                <a:sym typeface="Arial"/>
              </a:rPr>
              <a:t>does not change direction</a:t>
            </a:r>
            <a:r>
              <a:rPr b="0" i="0" lang="en-US" sz="2200" u="none" cap="none" strike="noStrike">
                <a:solidFill>
                  <a:srgbClr val="3F3F3F"/>
                </a:solidFill>
                <a:latin typeface="Arial"/>
                <a:ea typeface="Arial"/>
                <a:cs typeface="Arial"/>
                <a:sym typeface="Arial"/>
              </a:rPr>
              <a:t> when a linear transformation is applied to it by </a:t>
            </a:r>
            <a:r>
              <a:rPr b="1" i="0" lang="en-US" sz="2200" u="none" cap="none" strike="noStrike">
                <a:solidFill>
                  <a:srgbClr val="3F3F3F"/>
                </a:solidFill>
                <a:latin typeface="Arial"/>
                <a:ea typeface="Arial"/>
                <a:cs typeface="Arial"/>
                <a:sym typeface="Arial"/>
              </a:rPr>
              <a:t>A</a:t>
            </a:r>
            <a:r>
              <a:rPr b="0" i="0" lang="en-US" sz="2200" u="none" cap="none" strike="noStrike">
                <a:solidFill>
                  <a:srgbClr val="3F3F3F"/>
                </a:solidFill>
                <a:latin typeface="Arial"/>
                <a:ea typeface="Arial"/>
                <a:cs typeface="Arial"/>
                <a:sym typeface="Arial"/>
              </a:rPr>
              <a:t>. Instead, it only gets </a:t>
            </a:r>
            <a:r>
              <a:rPr b="1" i="0" lang="en-US" sz="2200" u="none" cap="none" strike="noStrike">
                <a:solidFill>
                  <a:srgbClr val="3F3F3F"/>
                </a:solidFill>
                <a:latin typeface="Arial"/>
                <a:ea typeface="Arial"/>
                <a:cs typeface="Arial"/>
                <a:sym typeface="Arial"/>
              </a:rPr>
              <a:t>stretched or compressed</a:t>
            </a:r>
            <a:r>
              <a:rPr b="0" i="0" lang="en-US" sz="2200" u="none" cap="none" strike="noStrike">
                <a:solidFill>
                  <a:srgbClr val="3F3F3F"/>
                </a:solidFill>
                <a:latin typeface="Arial"/>
                <a:ea typeface="Arial"/>
                <a:cs typeface="Arial"/>
                <a:sym typeface="Arial"/>
              </a:rPr>
              <a:t>.</a:t>
            </a:r>
            <a:endParaRPr/>
          </a:p>
          <a:p>
            <a:pPr indent="0" lvl="0" marL="0" marR="0" rtl="0" algn="just">
              <a:lnSpc>
                <a:spcPct val="150000"/>
              </a:lnSpc>
              <a:spcBef>
                <a:spcPts val="0"/>
              </a:spcBef>
              <a:spcAft>
                <a:spcPts val="0"/>
              </a:spcAft>
              <a:buClr>
                <a:srgbClr val="000000"/>
              </a:buClr>
              <a:buSzPts val="2200"/>
              <a:buFont typeface="Arial"/>
              <a:buNone/>
            </a:pPr>
            <a:r>
              <a:rPr b="0" i="0" lang="en-US" sz="2200" u="none" cap="none" strike="noStrike">
                <a:solidFill>
                  <a:srgbClr val="3F3F3F"/>
                </a:solidFill>
                <a:latin typeface="Arial"/>
                <a:ea typeface="Arial"/>
                <a:cs typeface="Arial"/>
                <a:sym typeface="Arial"/>
              </a:rPr>
              <a:t>This relationship is described by the equation:</a:t>
            </a:r>
            <a:endParaRPr/>
          </a:p>
          <a:p>
            <a:pPr indent="0" lvl="0" marL="0" marR="0" rtl="0" algn="just">
              <a:lnSpc>
                <a:spcPct val="150000"/>
              </a:lnSpc>
              <a:spcBef>
                <a:spcPts val="0"/>
              </a:spcBef>
              <a:spcAft>
                <a:spcPts val="0"/>
              </a:spcAft>
              <a:buClr>
                <a:srgbClr val="000000"/>
              </a:buClr>
              <a:buSzPts val="2200"/>
              <a:buFont typeface="Arial"/>
              <a:buNone/>
            </a:pPr>
            <a:r>
              <a:t/>
            </a:r>
            <a:endParaRPr b="0" i="0" sz="2200" u="none" cap="none" strike="noStrike">
              <a:solidFill>
                <a:srgbClr val="3F3F3F"/>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2200"/>
              <a:buFont typeface="Arial"/>
              <a:buNone/>
            </a:pPr>
            <a:r>
              <a:t/>
            </a:r>
            <a:endParaRPr b="0" i="0" sz="2200" u="none" cap="none" strike="noStrike">
              <a:solidFill>
                <a:srgbClr val="3F3F3F"/>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2200"/>
              <a:buFont typeface="Arial"/>
              <a:buNone/>
            </a:pPr>
            <a:r>
              <a:rPr b="0" i="0" lang="en-US" sz="2200" u="none" cap="none" strike="noStrike">
                <a:solidFill>
                  <a:srgbClr val="3F3F3F"/>
                </a:solidFill>
                <a:latin typeface="Arial"/>
                <a:ea typeface="Arial"/>
                <a:cs typeface="Arial"/>
                <a:sym typeface="Arial"/>
              </a:rPr>
              <a:t>Where:</a:t>
            </a:r>
            <a:endParaRPr/>
          </a:p>
          <a:p>
            <a:pPr indent="-139700" lvl="0" marL="0" marR="0" rtl="0" algn="just">
              <a:lnSpc>
                <a:spcPct val="150000"/>
              </a:lnSpc>
              <a:spcBef>
                <a:spcPts val="0"/>
              </a:spcBef>
              <a:spcAft>
                <a:spcPts val="0"/>
              </a:spcAft>
              <a:buClr>
                <a:srgbClr val="000000"/>
              </a:buClr>
              <a:buSzPts val="2200"/>
              <a:buFont typeface="Arial"/>
              <a:buChar char="•"/>
            </a:pPr>
            <a:r>
              <a:rPr b="0" i="0" lang="en-US" sz="2200" u="none" cap="none" strike="noStrike">
                <a:solidFill>
                  <a:srgbClr val="3F3F3F"/>
                </a:solidFill>
                <a:latin typeface="Arial"/>
                <a:ea typeface="Arial"/>
                <a:cs typeface="Arial"/>
                <a:sym typeface="Arial"/>
              </a:rPr>
              <a:t> </a:t>
            </a:r>
            <a:r>
              <a:rPr b="1" i="0" lang="en-US" sz="2400" u="none" cap="none" strike="noStrike">
                <a:solidFill>
                  <a:srgbClr val="3F3F3F"/>
                </a:solidFill>
                <a:latin typeface="Arial"/>
                <a:ea typeface="Arial"/>
                <a:cs typeface="Arial"/>
                <a:sym typeface="Arial"/>
              </a:rPr>
              <a:t>A</a:t>
            </a:r>
            <a:r>
              <a:rPr b="0" i="0" lang="en-US" sz="2200" u="none" cap="none" strike="noStrike">
                <a:solidFill>
                  <a:srgbClr val="3F3F3F"/>
                </a:solidFill>
                <a:latin typeface="Arial"/>
                <a:ea typeface="Arial"/>
                <a:cs typeface="Arial"/>
                <a:sym typeface="Arial"/>
              </a:rPr>
              <a:t> is a square matrix,</a:t>
            </a:r>
            <a:endParaRPr/>
          </a:p>
          <a:p>
            <a:pPr indent="-139700" lvl="0" marL="0" marR="0" rtl="0" algn="just">
              <a:lnSpc>
                <a:spcPct val="150000"/>
              </a:lnSpc>
              <a:spcBef>
                <a:spcPts val="0"/>
              </a:spcBef>
              <a:spcAft>
                <a:spcPts val="0"/>
              </a:spcAft>
              <a:buClr>
                <a:srgbClr val="000000"/>
              </a:buClr>
              <a:buSzPts val="2200"/>
              <a:buFont typeface="Arial"/>
              <a:buChar char="•"/>
            </a:pPr>
            <a:r>
              <a:rPr b="0" i="0" lang="en-US" sz="2200" u="none" cap="none" strike="noStrike">
                <a:solidFill>
                  <a:srgbClr val="3F3F3F"/>
                </a:solidFill>
                <a:latin typeface="Arial"/>
                <a:ea typeface="Arial"/>
                <a:cs typeface="Arial"/>
                <a:sym typeface="Arial"/>
              </a:rPr>
              <a:t> is  the eigenvector,</a:t>
            </a:r>
            <a:endParaRPr/>
          </a:p>
          <a:p>
            <a:pPr indent="-139700" lvl="0" marL="0" marR="0" rtl="0" algn="just">
              <a:lnSpc>
                <a:spcPct val="150000"/>
              </a:lnSpc>
              <a:spcBef>
                <a:spcPts val="0"/>
              </a:spcBef>
              <a:spcAft>
                <a:spcPts val="0"/>
              </a:spcAft>
              <a:buClr>
                <a:srgbClr val="000000"/>
              </a:buClr>
              <a:buSzPts val="2200"/>
              <a:buFont typeface="Arial"/>
              <a:buChar char="•"/>
            </a:pPr>
            <a:r>
              <a:rPr b="0" i="0" lang="en-US" sz="2200" u="none" cap="none" strike="noStrike">
                <a:solidFill>
                  <a:srgbClr val="3F3F3F"/>
                </a:solidFill>
                <a:latin typeface="Arial"/>
                <a:ea typeface="Arial"/>
                <a:cs typeface="Arial"/>
                <a:sym typeface="Arial"/>
              </a:rPr>
              <a:t> </a:t>
            </a:r>
            <a:r>
              <a:rPr b="1" i="0" lang="en-US" sz="2400" u="none" cap="none" strike="noStrike">
                <a:solidFill>
                  <a:srgbClr val="3F3F3F"/>
                </a:solidFill>
                <a:latin typeface="Arial"/>
                <a:ea typeface="Arial"/>
                <a:cs typeface="Arial"/>
                <a:sym typeface="Arial"/>
              </a:rPr>
              <a:t>λ</a:t>
            </a:r>
            <a:r>
              <a:rPr b="0" i="0" lang="en-US" sz="2200" u="none" cap="none" strike="noStrike">
                <a:solidFill>
                  <a:srgbClr val="3F3F3F"/>
                </a:solidFill>
                <a:latin typeface="Arial"/>
                <a:ea typeface="Arial"/>
                <a:cs typeface="Arial"/>
                <a:sym typeface="Arial"/>
              </a:rPr>
              <a:t> is the </a:t>
            </a:r>
            <a:r>
              <a:rPr b="1" i="0" lang="en-US" sz="2200" u="none" cap="none" strike="noStrike">
                <a:solidFill>
                  <a:srgbClr val="3F3F3F"/>
                </a:solidFill>
                <a:latin typeface="Arial"/>
                <a:ea typeface="Arial"/>
                <a:cs typeface="Arial"/>
                <a:sym typeface="Arial"/>
              </a:rPr>
              <a:t>eigenvalue</a:t>
            </a:r>
            <a:r>
              <a:rPr b="0" i="0" lang="en-US" sz="2200" u="none" cap="none" strike="noStrike">
                <a:solidFill>
                  <a:srgbClr val="3F3F3F"/>
                </a:solidFill>
                <a:latin typeface="Arial"/>
                <a:ea typeface="Arial"/>
                <a:cs typeface="Arial"/>
                <a:sym typeface="Arial"/>
              </a:rPr>
              <a:t> (a scalar), indicating how much the vector is scaled.</a:t>
            </a:r>
            <a:endParaRPr/>
          </a:p>
        </p:txBody>
      </p:sp>
      <p:sp>
        <p:nvSpPr>
          <p:cNvPr id="229" name="Google Shape;229;p46"/>
          <p:cNvSpPr txBox="1"/>
          <p:nvPr/>
        </p:nvSpPr>
        <p:spPr>
          <a:xfrm>
            <a:off x="1104900" y="857068"/>
            <a:ext cx="731520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400" u="none" cap="none" strike="noStrike">
                <a:solidFill>
                  <a:srgbClr val="000000"/>
                </a:solidFill>
                <a:latin typeface="Platypi Medium"/>
                <a:ea typeface="Platypi Medium"/>
                <a:cs typeface="Platypi Medium"/>
                <a:sym typeface="Platypi Medium"/>
              </a:rPr>
              <a:t>Eigenvector</a:t>
            </a:r>
            <a:endParaRPr b="0" i="0" sz="4400" u="none" cap="none" strike="noStrike">
              <a:solidFill>
                <a:srgbClr val="000000"/>
              </a:solidFill>
              <a:latin typeface="Platypi Medium"/>
              <a:ea typeface="Platypi Medium"/>
              <a:cs typeface="Platypi Medium"/>
              <a:sym typeface="Platypi Medium"/>
            </a:endParaRPr>
          </a:p>
        </p:txBody>
      </p:sp>
      <p:pic>
        <p:nvPicPr>
          <p:cNvPr id="230" name="Google Shape;230;p46"/>
          <p:cNvPicPr preferRelativeResize="0"/>
          <p:nvPr/>
        </p:nvPicPr>
        <p:blipFill rotWithShape="1">
          <a:blip r:embed="rId3">
            <a:alphaModFix/>
          </a:blip>
          <a:srcRect b="0" l="0" r="0" t="0"/>
          <a:stretch/>
        </p:blipFill>
        <p:spPr>
          <a:xfrm>
            <a:off x="6178550" y="4114800"/>
            <a:ext cx="1993900" cy="561917"/>
          </a:xfrm>
          <a:prstGeom prst="rect">
            <a:avLst/>
          </a:prstGeom>
          <a:noFill/>
          <a:ln>
            <a:noFill/>
          </a:ln>
        </p:spPr>
      </p:pic>
      <p:pic>
        <p:nvPicPr>
          <p:cNvPr id="231" name="Google Shape;231;p46"/>
          <p:cNvPicPr preferRelativeResize="0"/>
          <p:nvPr/>
        </p:nvPicPr>
        <p:blipFill rotWithShape="1">
          <a:blip r:embed="rId4">
            <a:alphaModFix/>
          </a:blip>
          <a:srcRect b="0" l="0" r="0" t="0"/>
          <a:stretch/>
        </p:blipFill>
        <p:spPr>
          <a:xfrm>
            <a:off x="1310315" y="5951606"/>
            <a:ext cx="361950" cy="447675"/>
          </a:xfrm>
          <a:prstGeom prst="rect">
            <a:avLst/>
          </a:prstGeom>
          <a:noFill/>
          <a:ln>
            <a:noFill/>
          </a:ln>
        </p:spPr>
      </p:pic>
      <p:pic>
        <p:nvPicPr>
          <p:cNvPr id="232" name="Google Shape;232;p46"/>
          <p:cNvPicPr preferRelativeResize="0"/>
          <p:nvPr/>
        </p:nvPicPr>
        <p:blipFill rotWithShape="1">
          <a:blip r:embed="rId4">
            <a:alphaModFix/>
          </a:blip>
          <a:srcRect b="0" l="0" r="0" t="0"/>
          <a:stretch/>
        </p:blipFill>
        <p:spPr>
          <a:xfrm>
            <a:off x="9764380" y="1938716"/>
            <a:ext cx="349250" cy="431967"/>
          </a:xfrm>
          <a:prstGeom prst="rect">
            <a:avLst/>
          </a:prstGeom>
          <a:noFill/>
          <a:ln>
            <a:noFill/>
          </a:ln>
        </p:spPr>
      </p:pic>
      <p:pic>
        <p:nvPicPr>
          <p:cNvPr descr="preencoded.png" id="233" name="Google Shape;233;p46"/>
          <p:cNvPicPr preferRelativeResize="0"/>
          <p:nvPr/>
        </p:nvPicPr>
        <p:blipFill rotWithShape="1">
          <a:blip r:embed="rId5">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7"/>
          <p:cNvSpPr txBox="1"/>
          <p:nvPr/>
        </p:nvSpPr>
        <p:spPr>
          <a:xfrm>
            <a:off x="1051560" y="2124313"/>
            <a:ext cx="12268200" cy="4548300"/>
          </a:xfrm>
          <a:prstGeom prst="rect">
            <a:avLst/>
          </a:prstGeom>
          <a:noFill/>
          <a:ln>
            <a:noFill/>
          </a:ln>
        </p:spPr>
        <p:txBody>
          <a:bodyPr anchorCtr="0" anchor="t" bIns="45700" lIns="91425" spcFirstLastPara="1" rIns="91425" wrap="square" tIns="45700">
            <a:spAutoFit/>
          </a:bodyPr>
          <a:lstStyle/>
          <a:p>
            <a:pPr indent="0" lvl="0" marL="0" marR="0" rtl="0" algn="l">
              <a:lnSpc>
                <a:spcPct val="25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Think of it like this:</a:t>
            </a:r>
            <a:endParaRPr/>
          </a:p>
          <a:p>
            <a:pPr indent="-342900" lvl="0" marL="342900" marR="0" rtl="0" algn="l">
              <a:lnSpc>
                <a:spcPct val="25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Imagine a transformation like a rotation, scaling, or shearing.</a:t>
            </a:r>
            <a:endParaRPr/>
          </a:p>
          <a:p>
            <a:pPr indent="-342900" lvl="0" marL="342900" marR="0" rtl="0" algn="l">
              <a:lnSpc>
                <a:spcPct val="25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Most vectors change </a:t>
            </a:r>
            <a:r>
              <a:rPr b="1" i="0" lang="en-US" sz="2400" u="none" cap="none" strike="noStrike">
                <a:solidFill>
                  <a:srgbClr val="000000"/>
                </a:solidFill>
                <a:latin typeface="Arial"/>
                <a:ea typeface="Arial"/>
                <a:cs typeface="Arial"/>
                <a:sym typeface="Arial"/>
              </a:rPr>
              <a:t>both direction and length</a:t>
            </a:r>
            <a:r>
              <a:rPr b="0" i="0" lang="en-US" sz="2400" u="none" cap="none" strike="noStrike">
                <a:solidFill>
                  <a:srgbClr val="000000"/>
                </a:solidFill>
                <a:latin typeface="Arial"/>
                <a:ea typeface="Arial"/>
                <a:cs typeface="Arial"/>
                <a:sym typeface="Arial"/>
              </a:rPr>
              <a:t> under this.</a:t>
            </a:r>
            <a:endParaRPr/>
          </a:p>
          <a:p>
            <a:pPr indent="-342900" lvl="0" marL="342900" marR="0" rtl="0" algn="l">
              <a:lnSpc>
                <a:spcPct val="25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But </a:t>
            </a:r>
            <a:r>
              <a:rPr b="1" i="0" lang="en-US" sz="2400" u="none" cap="none" strike="noStrike">
                <a:solidFill>
                  <a:srgbClr val="000000"/>
                </a:solidFill>
                <a:latin typeface="Arial"/>
                <a:ea typeface="Arial"/>
                <a:cs typeface="Arial"/>
                <a:sym typeface="Arial"/>
              </a:rPr>
              <a:t>eigenvectors</a:t>
            </a:r>
            <a:r>
              <a:rPr b="0" i="0" lang="en-US" sz="2400" u="none" cap="none" strike="noStrike">
                <a:solidFill>
                  <a:srgbClr val="000000"/>
                </a:solidFill>
                <a:latin typeface="Arial"/>
                <a:ea typeface="Arial"/>
                <a:cs typeface="Arial"/>
                <a:sym typeface="Arial"/>
              </a:rPr>
              <a:t> only </a:t>
            </a:r>
            <a:r>
              <a:rPr b="1" i="0" lang="en-US" sz="2400" u="none" cap="none" strike="noStrike">
                <a:solidFill>
                  <a:srgbClr val="000000"/>
                </a:solidFill>
                <a:latin typeface="Arial"/>
                <a:ea typeface="Arial"/>
                <a:cs typeface="Arial"/>
                <a:sym typeface="Arial"/>
              </a:rPr>
              <a:t>change in length</a:t>
            </a:r>
            <a:r>
              <a:rPr b="0" i="0" lang="en-US" sz="2400" u="none" cap="none" strike="noStrike">
                <a:solidFill>
                  <a:srgbClr val="000000"/>
                </a:solidFill>
                <a:latin typeface="Arial"/>
                <a:ea typeface="Arial"/>
                <a:cs typeface="Arial"/>
                <a:sym typeface="Arial"/>
              </a:rPr>
              <a:t>—their </a:t>
            </a:r>
            <a:r>
              <a:rPr b="1" i="0" lang="en-US" sz="2400" u="none" cap="none" strike="noStrike">
                <a:solidFill>
                  <a:srgbClr val="000000"/>
                </a:solidFill>
                <a:latin typeface="Arial"/>
                <a:ea typeface="Arial"/>
                <a:cs typeface="Arial"/>
                <a:sym typeface="Arial"/>
              </a:rPr>
              <a:t>direction remains the same</a:t>
            </a:r>
            <a:r>
              <a:rPr b="0" i="0" lang="en-US" sz="2400" u="none" cap="none" strike="noStrike">
                <a:solidFill>
                  <a:srgbClr val="000000"/>
                </a:solidFill>
                <a:latin typeface="Arial"/>
                <a:ea typeface="Arial"/>
                <a:cs typeface="Arial"/>
                <a:sym typeface="Arial"/>
              </a:rPr>
              <a:t>.</a:t>
            </a:r>
            <a:endParaRPr/>
          </a:p>
          <a:p>
            <a:pPr indent="-342900" lvl="0" marL="342900" marR="0" rtl="0" algn="l">
              <a:lnSpc>
                <a:spcPct val="25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The </a:t>
            </a:r>
            <a:r>
              <a:rPr b="1" i="0" lang="en-US" sz="2400" u="none" cap="none" strike="noStrike">
                <a:solidFill>
                  <a:srgbClr val="000000"/>
                </a:solidFill>
                <a:latin typeface="Arial"/>
                <a:ea typeface="Arial"/>
                <a:cs typeface="Arial"/>
                <a:sym typeface="Arial"/>
              </a:rPr>
              <a:t>eigenvalue</a:t>
            </a:r>
            <a:r>
              <a:rPr b="0" i="0" lang="en-US" sz="2400" u="none" cap="none" strike="noStrike">
                <a:solidFill>
                  <a:srgbClr val="000000"/>
                </a:solidFill>
                <a:latin typeface="Arial"/>
                <a:ea typeface="Arial"/>
                <a:cs typeface="Arial"/>
                <a:sym typeface="Arial"/>
              </a:rPr>
              <a:t> tells you </a:t>
            </a:r>
            <a:r>
              <a:rPr b="1" i="0" lang="en-US" sz="2400" u="none" cap="none" strike="noStrike">
                <a:solidFill>
                  <a:srgbClr val="000000"/>
                </a:solidFill>
                <a:latin typeface="Arial"/>
                <a:ea typeface="Arial"/>
                <a:cs typeface="Arial"/>
                <a:sym typeface="Arial"/>
              </a:rPr>
              <a:t>how much</a:t>
            </a:r>
            <a:r>
              <a:rPr b="0" i="0" lang="en-US" sz="2400" u="none" cap="none" strike="noStrike">
                <a:solidFill>
                  <a:srgbClr val="000000"/>
                </a:solidFill>
                <a:latin typeface="Arial"/>
                <a:ea typeface="Arial"/>
                <a:cs typeface="Arial"/>
                <a:sym typeface="Arial"/>
              </a:rPr>
              <a:t> the vector is stretched or </a:t>
            </a:r>
            <a:r>
              <a:rPr b="0" i="0" lang="en-US" sz="2400" u="none" cap="none" strike="noStrike">
                <a:solidFill>
                  <a:srgbClr val="000000"/>
                </a:solidFill>
                <a:latin typeface="Arial"/>
                <a:ea typeface="Arial"/>
                <a:cs typeface="Arial"/>
                <a:sym typeface="Arial"/>
              </a:rPr>
              <a:t>squished</a:t>
            </a:r>
            <a:r>
              <a:rPr b="0" i="0" lang="en-US" sz="2400" u="none" cap="none" strike="noStrike">
                <a:solidFill>
                  <a:srgbClr val="000000"/>
                </a:solidFill>
                <a:latin typeface="Arial"/>
                <a:ea typeface="Arial"/>
                <a:cs typeface="Arial"/>
                <a:sym typeface="Arial"/>
              </a:rPr>
              <a:t>.</a:t>
            </a:r>
            <a:endParaRPr/>
          </a:p>
        </p:txBody>
      </p:sp>
      <p:sp>
        <p:nvSpPr>
          <p:cNvPr id="239" name="Google Shape;239;p47"/>
          <p:cNvSpPr txBox="1"/>
          <p:nvPr/>
        </p:nvSpPr>
        <p:spPr>
          <a:xfrm>
            <a:off x="1051560" y="1095792"/>
            <a:ext cx="12268200" cy="7771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50"/>
              <a:buFont typeface="Arial"/>
              <a:buNone/>
            </a:pPr>
            <a:r>
              <a:rPr b="0" i="0" lang="en-US" sz="4450" u="none" cap="none" strike="noStrike">
                <a:solidFill>
                  <a:srgbClr val="000000"/>
                </a:solidFill>
                <a:latin typeface="Platypi Medium"/>
                <a:ea typeface="Platypi Medium"/>
                <a:cs typeface="Platypi Medium"/>
                <a:sym typeface="Platypi Medium"/>
              </a:rPr>
              <a:t>Intuitive Meaning behind Eigenvectors</a:t>
            </a:r>
            <a:endParaRPr/>
          </a:p>
        </p:txBody>
      </p:sp>
      <p:pic>
        <p:nvPicPr>
          <p:cNvPr descr="preencoded.png" id="240" name="Google Shape;240;p47"/>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5dc6368ad6_0_0"/>
          <p:cNvSpPr txBox="1"/>
          <p:nvPr/>
        </p:nvSpPr>
        <p:spPr>
          <a:xfrm>
            <a:off x="571200" y="558750"/>
            <a:ext cx="13488000" cy="715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US" sz="4500">
                <a:solidFill>
                  <a:schemeClr val="dk1"/>
                </a:solidFill>
                <a:latin typeface="Platypi Medium"/>
                <a:ea typeface="Platypi Medium"/>
                <a:cs typeface="Platypi Medium"/>
                <a:sym typeface="Platypi Medium"/>
              </a:rPr>
              <a:t>How are Principal Components Computed?</a:t>
            </a:r>
            <a:endParaRPr sz="4500">
              <a:solidFill>
                <a:schemeClr val="dk1"/>
              </a:solidFill>
              <a:latin typeface="Platypi Medium"/>
              <a:ea typeface="Platypi Medium"/>
              <a:cs typeface="Platypi Medium"/>
              <a:sym typeface="Platypi Medium"/>
            </a:endParaRPr>
          </a:p>
          <a:p>
            <a:pPr indent="0" lvl="0" marL="0" rtl="0" algn="l">
              <a:lnSpc>
                <a:spcPct val="115000"/>
              </a:lnSpc>
              <a:spcBef>
                <a:spcPts val="1200"/>
              </a:spcBef>
              <a:spcAft>
                <a:spcPts val="0"/>
              </a:spcAft>
              <a:buNone/>
            </a:pPr>
            <a:r>
              <a:rPr lang="en-US" sz="3600">
                <a:solidFill>
                  <a:schemeClr val="dk1"/>
                </a:solidFill>
                <a:latin typeface="Platypi Medium"/>
                <a:ea typeface="Platypi Medium"/>
                <a:cs typeface="Platypi Medium"/>
                <a:sym typeface="Platypi Medium"/>
              </a:rPr>
              <a:t>Using Singular Value Decomposition (SVD):</a:t>
            </a:r>
            <a:endParaRPr sz="3600">
              <a:solidFill>
                <a:schemeClr val="dk1"/>
              </a:solidFill>
              <a:latin typeface="Platypi Medium"/>
              <a:ea typeface="Platypi Medium"/>
              <a:cs typeface="Platypi Medium"/>
              <a:sym typeface="Platypi Medium"/>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Where:</a:t>
            </a:r>
            <a:endParaRPr sz="2400">
              <a:solidFill>
                <a:schemeClr val="dk1"/>
              </a:solidFill>
            </a:endParaRPr>
          </a:p>
          <a:p>
            <a:pPr indent="-381000" lvl="0" marL="457200" rtl="0" algn="l">
              <a:lnSpc>
                <a:spcPct val="115000"/>
              </a:lnSpc>
              <a:spcBef>
                <a:spcPts val="1200"/>
              </a:spcBef>
              <a:spcAft>
                <a:spcPts val="0"/>
              </a:spcAft>
              <a:buClr>
                <a:schemeClr val="dk1"/>
              </a:buClr>
              <a:buSzPts val="2400"/>
              <a:buChar char="●"/>
            </a:pPr>
            <a:r>
              <a:rPr b="1" lang="en-US" sz="2400">
                <a:solidFill>
                  <a:schemeClr val="dk1"/>
                </a:solidFill>
              </a:rPr>
              <a:t>A</a:t>
            </a:r>
            <a:r>
              <a:rPr lang="en-US" sz="2400">
                <a:solidFill>
                  <a:schemeClr val="dk1"/>
                </a:solidFill>
              </a:rPr>
              <a:t>: Original m×n data matrix</a:t>
            </a:r>
            <a:br>
              <a:rPr lang="en-US" sz="2400">
                <a:solidFill>
                  <a:schemeClr val="dk1"/>
                </a:solidFill>
              </a:rPr>
            </a:b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U</a:t>
            </a:r>
            <a:r>
              <a:rPr lang="en-US" sz="2400">
                <a:solidFill>
                  <a:schemeClr val="dk1"/>
                </a:solidFill>
              </a:rPr>
              <a:t>: m×m matrix of </a:t>
            </a:r>
            <a:r>
              <a:rPr b="1" lang="en-US" sz="2400">
                <a:solidFill>
                  <a:schemeClr val="dk1"/>
                </a:solidFill>
              </a:rPr>
              <a:t>left singular vectors</a:t>
            </a:r>
            <a:r>
              <a:rPr lang="en-US" sz="2400">
                <a:solidFill>
                  <a:schemeClr val="dk1"/>
                </a:solidFill>
              </a:rPr>
              <a:t> (orthonormal columns)</a:t>
            </a:r>
            <a:br>
              <a:rPr lang="en-US" sz="2400">
                <a:solidFill>
                  <a:schemeClr val="dk1"/>
                </a:solidFill>
              </a:rPr>
            </a:b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Σ</a:t>
            </a:r>
            <a:r>
              <a:rPr lang="en-US" sz="2400">
                <a:solidFill>
                  <a:schemeClr val="dk1"/>
                </a:solidFill>
              </a:rPr>
              <a:t>: m×n </a:t>
            </a:r>
            <a:r>
              <a:rPr b="1" lang="en-US" sz="2400">
                <a:solidFill>
                  <a:schemeClr val="dk1"/>
                </a:solidFill>
              </a:rPr>
              <a:t>diagonal matrix</a:t>
            </a:r>
            <a:r>
              <a:rPr lang="en-US" sz="2400">
                <a:solidFill>
                  <a:schemeClr val="dk1"/>
                </a:solidFill>
              </a:rPr>
              <a:t> of </a:t>
            </a:r>
            <a:r>
              <a:rPr b="1" lang="en-US" sz="2400">
                <a:solidFill>
                  <a:schemeClr val="dk1"/>
                </a:solidFill>
              </a:rPr>
              <a:t>singular values</a:t>
            </a:r>
            <a:r>
              <a:rPr lang="en-US" sz="2400">
                <a:solidFill>
                  <a:schemeClr val="dk1"/>
                </a:solidFill>
              </a:rPr>
              <a:t> (non-negative real numbers)</a:t>
            </a:r>
            <a:br>
              <a:rPr lang="en-US" sz="2400">
                <a:solidFill>
                  <a:schemeClr val="dk1"/>
                </a:solidFill>
              </a:rPr>
            </a:b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V</a:t>
            </a:r>
            <a:r>
              <a:rPr b="1" baseline="30000" lang="en-US" sz="2400">
                <a:solidFill>
                  <a:schemeClr val="dk1"/>
                </a:solidFill>
              </a:rPr>
              <a:t>T</a:t>
            </a:r>
            <a:r>
              <a:rPr lang="en-US" sz="2400">
                <a:solidFill>
                  <a:schemeClr val="dk1"/>
                </a:solidFill>
              </a:rPr>
              <a:t>: Transpose of n×nn \times nn×n matrix of </a:t>
            </a:r>
            <a:r>
              <a:rPr b="1" lang="en-US" sz="2400">
                <a:solidFill>
                  <a:schemeClr val="dk1"/>
                </a:solidFill>
              </a:rPr>
              <a:t>right singular vectors</a:t>
            </a:r>
            <a:r>
              <a:rPr lang="en-US" sz="2400">
                <a:solidFill>
                  <a:schemeClr val="dk1"/>
                </a:solidFill>
              </a:rPr>
              <a:t> (orthonormal rows)</a:t>
            </a:r>
            <a:endParaRPr sz="2400">
              <a:solidFill>
                <a:schemeClr val="dk1"/>
              </a:solidFill>
            </a:endParaRPr>
          </a:p>
        </p:txBody>
      </p:sp>
      <p:pic>
        <p:nvPicPr>
          <p:cNvPr id="247" name="Google Shape;247;g35dc6368ad6_0_0"/>
          <p:cNvPicPr preferRelativeResize="0"/>
          <p:nvPr/>
        </p:nvPicPr>
        <p:blipFill>
          <a:blip r:embed="rId3">
            <a:alphaModFix/>
          </a:blip>
          <a:stretch>
            <a:fillRect/>
          </a:stretch>
        </p:blipFill>
        <p:spPr>
          <a:xfrm>
            <a:off x="5750299" y="2782625"/>
            <a:ext cx="3129800" cy="68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0"/>
          <p:cNvSpPr/>
          <p:nvPr/>
        </p:nvSpPr>
        <p:spPr>
          <a:xfrm>
            <a:off x="793790" y="636151"/>
            <a:ext cx="1229991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Eigenvectors and Principal Components</a:t>
            </a:r>
            <a:endParaRPr b="0" i="0" sz="4450" u="none" cap="none" strike="noStrike">
              <a:solidFill>
                <a:srgbClr val="000000"/>
              </a:solidFill>
              <a:latin typeface="Arial"/>
              <a:ea typeface="Arial"/>
              <a:cs typeface="Arial"/>
              <a:sym typeface="Arial"/>
            </a:endParaRPr>
          </a:p>
        </p:txBody>
      </p:sp>
      <p:sp>
        <p:nvSpPr>
          <p:cNvPr id="254" name="Google Shape;254;p10"/>
          <p:cNvSpPr/>
          <p:nvPr/>
        </p:nvSpPr>
        <p:spPr>
          <a:xfrm>
            <a:off x="1048941" y="1685092"/>
            <a:ext cx="30480" cy="5908238"/>
          </a:xfrm>
          <a:prstGeom prst="roundRect">
            <a:avLst>
              <a:gd fmla="val 111628" name="adj"/>
            </a:avLst>
          </a:prstGeom>
          <a:solidFill>
            <a:srgbClr val="D8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0"/>
          <p:cNvSpPr/>
          <p:nvPr/>
        </p:nvSpPr>
        <p:spPr>
          <a:xfrm>
            <a:off x="1273612" y="2180153"/>
            <a:ext cx="680442" cy="30480"/>
          </a:xfrm>
          <a:prstGeom prst="roundRect">
            <a:avLst>
              <a:gd fmla="val 111628" name="adj"/>
            </a:avLst>
          </a:prstGeom>
          <a:solidFill>
            <a:srgbClr val="D8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0"/>
          <p:cNvSpPr/>
          <p:nvPr/>
        </p:nvSpPr>
        <p:spPr>
          <a:xfrm>
            <a:off x="793790" y="1940243"/>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10"/>
          <p:cNvSpPr/>
          <p:nvPr/>
        </p:nvSpPr>
        <p:spPr>
          <a:xfrm>
            <a:off x="878860" y="1982748"/>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1</a:t>
            </a:r>
            <a:endParaRPr b="0" i="0" sz="2650" u="none" cap="none" strike="noStrike">
              <a:solidFill>
                <a:srgbClr val="000000"/>
              </a:solidFill>
              <a:latin typeface="Arial"/>
              <a:ea typeface="Arial"/>
              <a:cs typeface="Arial"/>
              <a:sym typeface="Arial"/>
            </a:endParaRPr>
          </a:p>
        </p:txBody>
      </p:sp>
      <p:sp>
        <p:nvSpPr>
          <p:cNvPr id="258" name="Google Shape;258;p10"/>
          <p:cNvSpPr/>
          <p:nvPr/>
        </p:nvSpPr>
        <p:spPr>
          <a:xfrm>
            <a:off x="2183011" y="1911906"/>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Eigenvectors</a:t>
            </a:r>
            <a:endParaRPr b="0" i="0" sz="2500" u="none" cap="none" strike="noStrike">
              <a:solidFill>
                <a:srgbClr val="000000"/>
              </a:solidFill>
              <a:latin typeface="Arial"/>
              <a:ea typeface="Arial"/>
              <a:cs typeface="Arial"/>
              <a:sym typeface="Arial"/>
            </a:endParaRPr>
          </a:p>
        </p:txBody>
      </p:sp>
      <p:sp>
        <p:nvSpPr>
          <p:cNvPr id="259" name="Google Shape;259;p10"/>
          <p:cNvSpPr/>
          <p:nvPr/>
        </p:nvSpPr>
        <p:spPr>
          <a:xfrm>
            <a:off x="2183011" y="2402324"/>
            <a:ext cx="11653599"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Directions that define principal components.</a:t>
            </a:r>
            <a:endParaRPr b="0" i="0" sz="2050" u="none" cap="none" strike="noStrike">
              <a:solidFill>
                <a:srgbClr val="000000"/>
              </a:solidFill>
              <a:latin typeface="Arial"/>
              <a:ea typeface="Arial"/>
              <a:cs typeface="Arial"/>
              <a:sym typeface="Arial"/>
            </a:endParaRPr>
          </a:p>
        </p:txBody>
      </p:sp>
      <p:sp>
        <p:nvSpPr>
          <p:cNvPr id="260" name="Google Shape;260;p10"/>
          <p:cNvSpPr/>
          <p:nvPr/>
        </p:nvSpPr>
        <p:spPr>
          <a:xfrm>
            <a:off x="1273612" y="3713917"/>
            <a:ext cx="680442" cy="30480"/>
          </a:xfrm>
          <a:prstGeom prst="roundRect">
            <a:avLst>
              <a:gd fmla="val 111628" name="adj"/>
            </a:avLst>
          </a:prstGeom>
          <a:solidFill>
            <a:srgbClr val="D8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10"/>
          <p:cNvSpPr/>
          <p:nvPr/>
        </p:nvSpPr>
        <p:spPr>
          <a:xfrm>
            <a:off x="793790" y="3474006"/>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0"/>
          <p:cNvSpPr/>
          <p:nvPr/>
        </p:nvSpPr>
        <p:spPr>
          <a:xfrm>
            <a:off x="878860" y="3516511"/>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2</a:t>
            </a:r>
            <a:endParaRPr b="0" i="0" sz="2650" u="none" cap="none" strike="noStrike">
              <a:solidFill>
                <a:srgbClr val="000000"/>
              </a:solidFill>
              <a:latin typeface="Arial"/>
              <a:ea typeface="Arial"/>
              <a:cs typeface="Arial"/>
              <a:sym typeface="Arial"/>
            </a:endParaRPr>
          </a:p>
        </p:txBody>
      </p:sp>
      <p:sp>
        <p:nvSpPr>
          <p:cNvPr id="263" name="Google Shape;263;p10"/>
          <p:cNvSpPr/>
          <p:nvPr/>
        </p:nvSpPr>
        <p:spPr>
          <a:xfrm>
            <a:off x="2183011" y="3445669"/>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Eigenvalues</a:t>
            </a:r>
            <a:endParaRPr b="0" i="0" sz="2500" u="none" cap="none" strike="noStrike">
              <a:solidFill>
                <a:srgbClr val="000000"/>
              </a:solidFill>
              <a:latin typeface="Arial"/>
              <a:ea typeface="Arial"/>
              <a:cs typeface="Arial"/>
              <a:sym typeface="Arial"/>
            </a:endParaRPr>
          </a:p>
        </p:txBody>
      </p:sp>
      <p:sp>
        <p:nvSpPr>
          <p:cNvPr id="264" name="Google Shape;264;p10"/>
          <p:cNvSpPr/>
          <p:nvPr/>
        </p:nvSpPr>
        <p:spPr>
          <a:xfrm>
            <a:off x="2183011" y="3936087"/>
            <a:ext cx="11653599"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Magnitude of variation along each eigenvector.</a:t>
            </a:r>
            <a:endParaRPr b="0" i="0" sz="2050" u="none" cap="none" strike="noStrike">
              <a:solidFill>
                <a:srgbClr val="000000"/>
              </a:solidFill>
              <a:latin typeface="Arial"/>
              <a:ea typeface="Arial"/>
              <a:cs typeface="Arial"/>
              <a:sym typeface="Arial"/>
            </a:endParaRPr>
          </a:p>
        </p:txBody>
      </p:sp>
      <p:sp>
        <p:nvSpPr>
          <p:cNvPr id="265" name="Google Shape;265;p10"/>
          <p:cNvSpPr/>
          <p:nvPr/>
        </p:nvSpPr>
        <p:spPr>
          <a:xfrm>
            <a:off x="1273612" y="5247680"/>
            <a:ext cx="680442" cy="30480"/>
          </a:xfrm>
          <a:prstGeom prst="roundRect">
            <a:avLst>
              <a:gd fmla="val 111628" name="adj"/>
            </a:avLst>
          </a:prstGeom>
          <a:solidFill>
            <a:srgbClr val="D8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0"/>
          <p:cNvSpPr/>
          <p:nvPr/>
        </p:nvSpPr>
        <p:spPr>
          <a:xfrm>
            <a:off x="793790" y="5007769"/>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0"/>
          <p:cNvSpPr/>
          <p:nvPr/>
        </p:nvSpPr>
        <p:spPr>
          <a:xfrm>
            <a:off x="878860" y="5050274"/>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3</a:t>
            </a:r>
            <a:endParaRPr b="0" i="0" sz="2650" u="none" cap="none" strike="noStrike">
              <a:solidFill>
                <a:srgbClr val="000000"/>
              </a:solidFill>
              <a:latin typeface="Arial"/>
              <a:ea typeface="Arial"/>
              <a:cs typeface="Arial"/>
              <a:sym typeface="Arial"/>
            </a:endParaRPr>
          </a:p>
        </p:txBody>
      </p:sp>
      <p:sp>
        <p:nvSpPr>
          <p:cNvPr id="268" name="Google Shape;268;p10"/>
          <p:cNvSpPr/>
          <p:nvPr/>
        </p:nvSpPr>
        <p:spPr>
          <a:xfrm>
            <a:off x="2183011" y="4979432"/>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Importance</a:t>
            </a:r>
            <a:endParaRPr b="0" i="0" sz="2500" u="none" cap="none" strike="noStrike">
              <a:solidFill>
                <a:srgbClr val="000000"/>
              </a:solidFill>
              <a:latin typeface="Arial"/>
              <a:ea typeface="Arial"/>
              <a:cs typeface="Arial"/>
              <a:sym typeface="Arial"/>
            </a:endParaRPr>
          </a:p>
        </p:txBody>
      </p:sp>
      <p:sp>
        <p:nvSpPr>
          <p:cNvPr id="269" name="Google Shape;269;p10"/>
          <p:cNvSpPr/>
          <p:nvPr/>
        </p:nvSpPr>
        <p:spPr>
          <a:xfrm>
            <a:off x="2183011" y="5469850"/>
            <a:ext cx="11653599"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Larger eigenvalue → More important direction.</a:t>
            </a:r>
            <a:endParaRPr b="0" i="0" sz="2050" u="none" cap="none" strike="noStrike">
              <a:solidFill>
                <a:srgbClr val="000000"/>
              </a:solidFill>
              <a:latin typeface="Arial"/>
              <a:ea typeface="Arial"/>
              <a:cs typeface="Arial"/>
              <a:sym typeface="Arial"/>
            </a:endParaRPr>
          </a:p>
        </p:txBody>
      </p:sp>
      <p:sp>
        <p:nvSpPr>
          <p:cNvPr id="270" name="Google Shape;270;p10"/>
          <p:cNvSpPr/>
          <p:nvPr/>
        </p:nvSpPr>
        <p:spPr>
          <a:xfrm>
            <a:off x="1273612" y="6781443"/>
            <a:ext cx="680442" cy="30480"/>
          </a:xfrm>
          <a:prstGeom prst="roundRect">
            <a:avLst>
              <a:gd fmla="val 111628" name="adj"/>
            </a:avLst>
          </a:prstGeom>
          <a:solidFill>
            <a:srgbClr val="D8D4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0"/>
          <p:cNvSpPr/>
          <p:nvPr/>
        </p:nvSpPr>
        <p:spPr>
          <a:xfrm>
            <a:off x="793790" y="6541532"/>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0"/>
          <p:cNvSpPr/>
          <p:nvPr/>
        </p:nvSpPr>
        <p:spPr>
          <a:xfrm>
            <a:off x="878860" y="6584037"/>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650" u="none" cap="none" strike="noStrike">
                <a:solidFill>
                  <a:srgbClr val="504C49"/>
                </a:solidFill>
                <a:latin typeface="Platypi Medium"/>
                <a:ea typeface="Platypi Medium"/>
                <a:cs typeface="Platypi Medium"/>
                <a:sym typeface="Platypi Medium"/>
              </a:rPr>
              <a:t>4</a:t>
            </a:r>
            <a:endParaRPr b="0" i="0" sz="2650" u="none" cap="none" strike="noStrike">
              <a:solidFill>
                <a:srgbClr val="000000"/>
              </a:solidFill>
              <a:latin typeface="Arial"/>
              <a:ea typeface="Arial"/>
              <a:cs typeface="Arial"/>
              <a:sym typeface="Arial"/>
            </a:endParaRPr>
          </a:p>
        </p:txBody>
      </p:sp>
      <p:sp>
        <p:nvSpPr>
          <p:cNvPr id="273" name="Google Shape;273;p10"/>
          <p:cNvSpPr/>
          <p:nvPr/>
        </p:nvSpPr>
        <p:spPr>
          <a:xfrm>
            <a:off x="2183011" y="651319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PCA </a:t>
            </a:r>
            <a:endParaRPr b="0" i="0" sz="2500" u="none" cap="none" strike="noStrike">
              <a:solidFill>
                <a:srgbClr val="000000"/>
              </a:solidFill>
              <a:latin typeface="Arial"/>
              <a:ea typeface="Arial"/>
              <a:cs typeface="Arial"/>
              <a:sym typeface="Arial"/>
            </a:endParaRPr>
          </a:p>
        </p:txBody>
      </p:sp>
      <p:sp>
        <p:nvSpPr>
          <p:cNvPr id="274" name="Google Shape;274;p10"/>
          <p:cNvSpPr/>
          <p:nvPr/>
        </p:nvSpPr>
        <p:spPr>
          <a:xfrm>
            <a:off x="2183011" y="7003613"/>
            <a:ext cx="11653599"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is computed using </a:t>
            </a:r>
            <a:r>
              <a:rPr b="1" i="0" lang="en-US" sz="2050" u="none" cap="none" strike="noStrike">
                <a:solidFill>
                  <a:srgbClr val="504C49"/>
                </a:solidFill>
                <a:latin typeface="Arial"/>
                <a:ea typeface="Arial"/>
                <a:cs typeface="Arial"/>
                <a:sym typeface="Arial"/>
              </a:rPr>
              <a:t>Singular Value Decomposition (SVD)</a:t>
            </a:r>
            <a:r>
              <a:rPr b="0" i="0" lang="en-US" sz="2050" u="none" cap="none" strike="noStrike">
                <a:solidFill>
                  <a:srgbClr val="504C49"/>
                </a:solidFill>
                <a:latin typeface="Arial"/>
                <a:ea typeface="Arial"/>
                <a:cs typeface="Arial"/>
                <a:sym typeface="Arial"/>
              </a:rPr>
              <a:t>.</a:t>
            </a:r>
            <a:endParaRPr b="0" i="0" sz="2050" u="none" cap="none" strike="noStrike">
              <a:solidFill>
                <a:srgbClr val="000000"/>
              </a:solidFill>
              <a:latin typeface="Arial"/>
              <a:ea typeface="Arial"/>
              <a:cs typeface="Arial"/>
              <a:sym typeface="Arial"/>
            </a:endParaRPr>
          </a:p>
        </p:txBody>
      </p:sp>
      <p:pic>
        <p:nvPicPr>
          <p:cNvPr descr="preencoded.png" id="275" name="Google Shape;275;p10"/>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1"/>
          <p:cNvSpPr/>
          <p:nvPr/>
        </p:nvSpPr>
        <p:spPr>
          <a:xfrm>
            <a:off x="793790" y="2368391"/>
            <a:ext cx="1166491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Singular Value Decomposition (SVD)</a:t>
            </a:r>
            <a:endParaRPr b="0" i="0" sz="4450" u="none" cap="none" strike="noStrike">
              <a:solidFill>
                <a:srgbClr val="000000"/>
              </a:solidFill>
              <a:latin typeface="Arial"/>
              <a:ea typeface="Arial"/>
              <a:cs typeface="Arial"/>
              <a:sym typeface="Arial"/>
            </a:endParaRPr>
          </a:p>
        </p:txBody>
      </p:sp>
      <p:sp>
        <p:nvSpPr>
          <p:cNvPr id="282" name="Google Shape;282;p11"/>
          <p:cNvSpPr/>
          <p:nvPr/>
        </p:nvSpPr>
        <p:spPr>
          <a:xfrm>
            <a:off x="793800" y="3417325"/>
            <a:ext cx="13042800" cy="441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Mathematical method to extract principal components.</a:t>
            </a:r>
            <a:endParaRPr b="0" i="0" sz="2050" u="none" cap="none" strike="noStrike">
              <a:solidFill>
                <a:srgbClr val="000000"/>
              </a:solidFill>
              <a:latin typeface="Arial"/>
              <a:ea typeface="Arial"/>
              <a:cs typeface="Arial"/>
              <a:sym typeface="Arial"/>
            </a:endParaRPr>
          </a:p>
        </p:txBody>
      </p:sp>
      <p:sp>
        <p:nvSpPr>
          <p:cNvPr id="283" name="Google Shape;283;p11"/>
          <p:cNvSpPr/>
          <p:nvPr/>
        </p:nvSpPr>
        <p:spPr>
          <a:xfrm>
            <a:off x="793825" y="4088765"/>
            <a:ext cx="510300" cy="620700"/>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284" name="Google Shape;284;p11"/>
          <p:cNvSpPr/>
          <p:nvPr/>
        </p:nvSpPr>
        <p:spPr>
          <a:xfrm>
            <a:off x="878895" y="4140469"/>
            <a:ext cx="340200" cy="517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950" u="none" cap="none" strike="noStrike">
                <a:solidFill>
                  <a:srgbClr val="504C49"/>
                </a:solidFill>
                <a:latin typeface="Platypi Medium"/>
                <a:ea typeface="Platypi Medium"/>
                <a:cs typeface="Platypi Medium"/>
                <a:sym typeface="Platypi Medium"/>
              </a:rPr>
              <a:t>1</a:t>
            </a:r>
            <a:endParaRPr b="0" i="0" sz="2950" u="none" cap="none" strike="noStrike">
              <a:solidFill>
                <a:srgbClr val="000000"/>
              </a:solidFill>
              <a:latin typeface="Arial"/>
              <a:ea typeface="Arial"/>
              <a:cs typeface="Arial"/>
              <a:sym typeface="Arial"/>
            </a:endParaRPr>
          </a:p>
        </p:txBody>
      </p:sp>
      <p:sp>
        <p:nvSpPr>
          <p:cNvPr id="285" name="Google Shape;285;p11"/>
          <p:cNvSpPr/>
          <p:nvPr/>
        </p:nvSpPr>
        <p:spPr>
          <a:xfrm>
            <a:off x="1530940" y="4088765"/>
            <a:ext cx="3459300" cy="862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Compute covariance matrix</a:t>
            </a:r>
            <a:endParaRPr b="0" i="0" sz="2500" u="none" cap="none" strike="noStrike">
              <a:solidFill>
                <a:srgbClr val="000000"/>
              </a:solidFill>
              <a:latin typeface="Arial"/>
              <a:ea typeface="Arial"/>
              <a:cs typeface="Arial"/>
              <a:sym typeface="Arial"/>
            </a:endParaRPr>
          </a:p>
        </p:txBody>
      </p:sp>
      <p:sp>
        <p:nvSpPr>
          <p:cNvPr id="286" name="Google Shape;286;p11"/>
          <p:cNvSpPr/>
          <p:nvPr/>
        </p:nvSpPr>
        <p:spPr>
          <a:xfrm>
            <a:off x="1530940" y="5116317"/>
            <a:ext cx="3459300" cy="8829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Calculate how variables relate to each other</a:t>
            </a:r>
            <a:endParaRPr b="0" i="0" sz="2050" u="none" cap="none" strike="noStrike">
              <a:solidFill>
                <a:srgbClr val="000000"/>
              </a:solidFill>
              <a:latin typeface="Arial"/>
              <a:ea typeface="Arial"/>
              <a:cs typeface="Arial"/>
              <a:sym typeface="Arial"/>
            </a:endParaRPr>
          </a:p>
        </p:txBody>
      </p:sp>
      <p:sp>
        <p:nvSpPr>
          <p:cNvPr id="287" name="Google Shape;287;p11"/>
          <p:cNvSpPr/>
          <p:nvPr/>
        </p:nvSpPr>
        <p:spPr>
          <a:xfrm>
            <a:off x="5216990" y="4088765"/>
            <a:ext cx="510300" cy="620700"/>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288" name="Google Shape;288;p11"/>
          <p:cNvSpPr/>
          <p:nvPr/>
        </p:nvSpPr>
        <p:spPr>
          <a:xfrm>
            <a:off x="5302060" y="4140469"/>
            <a:ext cx="340200" cy="517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950" u="none" cap="none" strike="noStrike">
                <a:solidFill>
                  <a:srgbClr val="504C49"/>
                </a:solidFill>
                <a:latin typeface="Platypi Medium"/>
                <a:ea typeface="Platypi Medium"/>
                <a:cs typeface="Platypi Medium"/>
                <a:sym typeface="Platypi Medium"/>
              </a:rPr>
              <a:t>2</a:t>
            </a:r>
            <a:endParaRPr b="0" i="0" sz="2950" u="none" cap="none" strike="noStrike">
              <a:solidFill>
                <a:srgbClr val="000000"/>
              </a:solidFill>
              <a:latin typeface="Arial"/>
              <a:ea typeface="Arial"/>
              <a:cs typeface="Arial"/>
              <a:sym typeface="Arial"/>
            </a:endParaRPr>
          </a:p>
        </p:txBody>
      </p:sp>
      <p:sp>
        <p:nvSpPr>
          <p:cNvPr id="289" name="Google Shape;289;p11"/>
          <p:cNvSpPr/>
          <p:nvPr/>
        </p:nvSpPr>
        <p:spPr>
          <a:xfrm>
            <a:off x="5954105" y="4088765"/>
            <a:ext cx="3459300" cy="862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Find eigenvectors and eigenvalues</a:t>
            </a:r>
            <a:endParaRPr b="0" i="0" sz="2500" u="none" cap="none" strike="noStrike">
              <a:solidFill>
                <a:srgbClr val="000000"/>
              </a:solidFill>
              <a:latin typeface="Arial"/>
              <a:ea typeface="Arial"/>
              <a:cs typeface="Arial"/>
              <a:sym typeface="Arial"/>
            </a:endParaRPr>
          </a:p>
        </p:txBody>
      </p:sp>
      <p:sp>
        <p:nvSpPr>
          <p:cNvPr id="290" name="Google Shape;290;p11"/>
          <p:cNvSpPr/>
          <p:nvPr/>
        </p:nvSpPr>
        <p:spPr>
          <a:xfrm>
            <a:off x="5954105" y="5116317"/>
            <a:ext cx="3459300" cy="8829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Identify key directions and their importance</a:t>
            </a:r>
            <a:endParaRPr b="0" i="0" sz="2050" u="none" cap="none" strike="noStrike">
              <a:solidFill>
                <a:srgbClr val="000000"/>
              </a:solidFill>
              <a:latin typeface="Arial"/>
              <a:ea typeface="Arial"/>
              <a:cs typeface="Arial"/>
              <a:sym typeface="Arial"/>
            </a:endParaRPr>
          </a:p>
        </p:txBody>
      </p:sp>
      <p:sp>
        <p:nvSpPr>
          <p:cNvPr id="291" name="Google Shape;291;p11"/>
          <p:cNvSpPr/>
          <p:nvPr/>
        </p:nvSpPr>
        <p:spPr>
          <a:xfrm>
            <a:off x="9640154" y="4088765"/>
            <a:ext cx="510300" cy="620700"/>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292" name="Google Shape;292;p11"/>
          <p:cNvSpPr/>
          <p:nvPr/>
        </p:nvSpPr>
        <p:spPr>
          <a:xfrm>
            <a:off x="9725225" y="4140469"/>
            <a:ext cx="340200" cy="517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950" u="none" cap="none" strike="noStrike">
                <a:solidFill>
                  <a:srgbClr val="504C49"/>
                </a:solidFill>
                <a:latin typeface="Platypi Medium"/>
                <a:ea typeface="Platypi Medium"/>
                <a:cs typeface="Platypi Medium"/>
                <a:sym typeface="Platypi Medium"/>
              </a:rPr>
              <a:t>3</a:t>
            </a:r>
            <a:endParaRPr b="0" i="0" sz="2950" u="none" cap="none" strike="noStrike">
              <a:solidFill>
                <a:srgbClr val="000000"/>
              </a:solidFill>
              <a:latin typeface="Arial"/>
              <a:ea typeface="Arial"/>
              <a:cs typeface="Arial"/>
              <a:sym typeface="Arial"/>
            </a:endParaRPr>
          </a:p>
        </p:txBody>
      </p:sp>
      <p:sp>
        <p:nvSpPr>
          <p:cNvPr id="293" name="Google Shape;293;p11"/>
          <p:cNvSpPr/>
          <p:nvPr/>
        </p:nvSpPr>
        <p:spPr>
          <a:xfrm>
            <a:off x="10377269" y="4088765"/>
            <a:ext cx="3459300" cy="862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Rank components based on importance</a:t>
            </a:r>
            <a:endParaRPr b="0" i="0" sz="2500" u="none" cap="none" strike="noStrike">
              <a:solidFill>
                <a:srgbClr val="000000"/>
              </a:solidFill>
              <a:latin typeface="Arial"/>
              <a:ea typeface="Arial"/>
              <a:cs typeface="Arial"/>
              <a:sym typeface="Arial"/>
            </a:endParaRPr>
          </a:p>
        </p:txBody>
      </p:sp>
      <p:sp>
        <p:nvSpPr>
          <p:cNvPr id="294" name="Google Shape;294;p11"/>
          <p:cNvSpPr/>
          <p:nvPr/>
        </p:nvSpPr>
        <p:spPr>
          <a:xfrm>
            <a:off x="10377269" y="5116317"/>
            <a:ext cx="3459300" cy="441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Order by variance explained</a:t>
            </a:r>
            <a:endParaRPr b="0" i="0" sz="2050" u="none" cap="none" strike="noStrike">
              <a:solidFill>
                <a:srgbClr val="000000"/>
              </a:solidFill>
              <a:latin typeface="Arial"/>
              <a:ea typeface="Arial"/>
              <a:cs typeface="Arial"/>
              <a:sym typeface="Arial"/>
            </a:endParaRPr>
          </a:p>
        </p:txBody>
      </p:sp>
      <p:pic>
        <p:nvPicPr>
          <p:cNvPr descr="preencoded.png" id="295" name="Google Shape;295;p11"/>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2"/>
          <p:cNvSpPr/>
          <p:nvPr/>
        </p:nvSpPr>
        <p:spPr>
          <a:xfrm>
            <a:off x="793790" y="2439233"/>
            <a:ext cx="993771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Sorting Principal Components</a:t>
            </a:r>
            <a:endParaRPr b="0" i="0" sz="4450" u="none" cap="none" strike="noStrike">
              <a:solidFill>
                <a:srgbClr val="000000"/>
              </a:solidFill>
              <a:latin typeface="Arial"/>
              <a:ea typeface="Arial"/>
              <a:cs typeface="Arial"/>
              <a:sym typeface="Arial"/>
            </a:endParaRPr>
          </a:p>
        </p:txBody>
      </p:sp>
      <p:sp>
        <p:nvSpPr>
          <p:cNvPr id="302" name="Google Shape;302;p12"/>
          <p:cNvSpPr/>
          <p:nvPr/>
        </p:nvSpPr>
        <p:spPr>
          <a:xfrm>
            <a:off x="793800" y="3856800"/>
            <a:ext cx="510300" cy="726600"/>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03" name="Google Shape;303;p12"/>
          <p:cNvSpPr/>
          <p:nvPr/>
        </p:nvSpPr>
        <p:spPr>
          <a:xfrm>
            <a:off x="878870" y="3917317"/>
            <a:ext cx="340200" cy="605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950" u="none" cap="none" strike="noStrike">
                <a:solidFill>
                  <a:srgbClr val="504C49"/>
                </a:solidFill>
                <a:latin typeface="Platypi Medium"/>
                <a:ea typeface="Platypi Medium"/>
                <a:cs typeface="Platypi Medium"/>
                <a:sym typeface="Platypi Medium"/>
              </a:rPr>
              <a:t>1</a:t>
            </a:r>
            <a:endParaRPr b="0" i="0" sz="2950" u="none" cap="none" strike="noStrike">
              <a:solidFill>
                <a:srgbClr val="000000"/>
              </a:solidFill>
              <a:latin typeface="Arial"/>
              <a:ea typeface="Arial"/>
              <a:cs typeface="Arial"/>
              <a:sym typeface="Arial"/>
            </a:endParaRPr>
          </a:p>
        </p:txBody>
      </p:sp>
      <p:sp>
        <p:nvSpPr>
          <p:cNvPr id="304" name="Google Shape;304;p12"/>
          <p:cNvSpPr/>
          <p:nvPr/>
        </p:nvSpPr>
        <p:spPr>
          <a:xfrm>
            <a:off x="1530915" y="3856800"/>
            <a:ext cx="3459300" cy="1008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Ranking By Sigma Values</a:t>
            </a:r>
            <a:endParaRPr b="0" i="0" sz="2500" u="none" cap="none" strike="noStrike">
              <a:solidFill>
                <a:srgbClr val="000000"/>
              </a:solidFill>
              <a:latin typeface="Arial"/>
              <a:ea typeface="Arial"/>
              <a:cs typeface="Arial"/>
              <a:sym typeface="Arial"/>
            </a:endParaRPr>
          </a:p>
        </p:txBody>
      </p:sp>
      <p:sp>
        <p:nvSpPr>
          <p:cNvPr id="305" name="Google Shape;305;p12"/>
          <p:cNvSpPr/>
          <p:nvPr/>
        </p:nvSpPr>
        <p:spPr>
          <a:xfrm>
            <a:off x="1530915" y="5059523"/>
            <a:ext cx="3459300" cy="15501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Components are sorted based on their singular values (sigma values).</a:t>
            </a:r>
            <a:endParaRPr b="0" i="0" sz="2050" u="none" cap="none" strike="noStrike">
              <a:solidFill>
                <a:srgbClr val="000000"/>
              </a:solidFill>
              <a:latin typeface="Arial"/>
              <a:ea typeface="Arial"/>
              <a:cs typeface="Arial"/>
              <a:sym typeface="Arial"/>
            </a:endParaRPr>
          </a:p>
        </p:txBody>
      </p:sp>
      <p:sp>
        <p:nvSpPr>
          <p:cNvPr id="306" name="Google Shape;306;p12"/>
          <p:cNvSpPr/>
          <p:nvPr/>
        </p:nvSpPr>
        <p:spPr>
          <a:xfrm>
            <a:off x="5216969" y="3856800"/>
            <a:ext cx="510300" cy="726600"/>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07" name="Google Shape;307;p12"/>
          <p:cNvSpPr/>
          <p:nvPr/>
        </p:nvSpPr>
        <p:spPr>
          <a:xfrm>
            <a:off x="5302039" y="3917317"/>
            <a:ext cx="340200" cy="605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950" u="none" cap="none" strike="noStrike">
                <a:solidFill>
                  <a:srgbClr val="504C49"/>
                </a:solidFill>
                <a:latin typeface="Platypi Medium"/>
                <a:ea typeface="Platypi Medium"/>
                <a:cs typeface="Platypi Medium"/>
                <a:sym typeface="Platypi Medium"/>
              </a:rPr>
              <a:t>2</a:t>
            </a:r>
            <a:endParaRPr b="0" i="0" sz="2950" u="none" cap="none" strike="noStrike">
              <a:solidFill>
                <a:srgbClr val="000000"/>
              </a:solidFill>
              <a:latin typeface="Arial"/>
              <a:ea typeface="Arial"/>
              <a:cs typeface="Arial"/>
              <a:sym typeface="Arial"/>
            </a:endParaRPr>
          </a:p>
        </p:txBody>
      </p:sp>
      <p:sp>
        <p:nvSpPr>
          <p:cNvPr id="308" name="Google Shape;308;p12"/>
          <p:cNvSpPr/>
          <p:nvPr/>
        </p:nvSpPr>
        <p:spPr>
          <a:xfrm>
            <a:off x="5954084" y="3856800"/>
            <a:ext cx="3118200" cy="50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Significance Hierarchy</a:t>
            </a:r>
            <a:endParaRPr b="0" i="0" sz="2500" u="none" cap="none" strike="noStrike">
              <a:solidFill>
                <a:srgbClr val="000000"/>
              </a:solidFill>
              <a:latin typeface="Arial"/>
              <a:ea typeface="Arial"/>
              <a:cs typeface="Arial"/>
              <a:sym typeface="Arial"/>
            </a:endParaRPr>
          </a:p>
        </p:txBody>
      </p:sp>
      <p:sp>
        <p:nvSpPr>
          <p:cNvPr id="309" name="Google Shape;309;p12"/>
          <p:cNvSpPr/>
          <p:nvPr/>
        </p:nvSpPr>
        <p:spPr>
          <a:xfrm>
            <a:off x="5954034" y="4865690"/>
            <a:ext cx="3459300" cy="10332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Larger sigma value → More significant component.</a:t>
            </a:r>
            <a:endParaRPr b="0" i="0" sz="2050" u="none" cap="none" strike="noStrike">
              <a:solidFill>
                <a:srgbClr val="000000"/>
              </a:solidFill>
              <a:latin typeface="Arial"/>
              <a:ea typeface="Arial"/>
              <a:cs typeface="Arial"/>
              <a:sym typeface="Arial"/>
            </a:endParaRPr>
          </a:p>
        </p:txBody>
      </p:sp>
      <p:sp>
        <p:nvSpPr>
          <p:cNvPr id="310" name="Google Shape;310;p12"/>
          <p:cNvSpPr/>
          <p:nvPr/>
        </p:nvSpPr>
        <p:spPr>
          <a:xfrm>
            <a:off x="9640137" y="3856800"/>
            <a:ext cx="510300" cy="726600"/>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11" name="Google Shape;311;p12"/>
          <p:cNvSpPr/>
          <p:nvPr/>
        </p:nvSpPr>
        <p:spPr>
          <a:xfrm>
            <a:off x="9725208" y="3917317"/>
            <a:ext cx="340200" cy="605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950" u="none" cap="none" strike="noStrike">
                <a:solidFill>
                  <a:srgbClr val="504C49"/>
                </a:solidFill>
                <a:latin typeface="Platypi Medium"/>
                <a:ea typeface="Platypi Medium"/>
                <a:cs typeface="Platypi Medium"/>
                <a:sym typeface="Platypi Medium"/>
              </a:rPr>
              <a:t>3</a:t>
            </a:r>
            <a:endParaRPr b="0" i="0" sz="2950" u="none" cap="none" strike="noStrike">
              <a:solidFill>
                <a:srgbClr val="000000"/>
              </a:solidFill>
              <a:latin typeface="Arial"/>
              <a:ea typeface="Arial"/>
              <a:cs typeface="Arial"/>
              <a:sym typeface="Arial"/>
            </a:endParaRPr>
          </a:p>
        </p:txBody>
      </p:sp>
      <p:sp>
        <p:nvSpPr>
          <p:cNvPr id="312" name="Google Shape;312;p12"/>
          <p:cNvSpPr/>
          <p:nvPr/>
        </p:nvSpPr>
        <p:spPr>
          <a:xfrm>
            <a:off x="10377252" y="3856800"/>
            <a:ext cx="2999700" cy="50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Dimension Reduction</a:t>
            </a:r>
            <a:endParaRPr b="0" i="0" sz="2500" u="none" cap="none" strike="noStrike">
              <a:solidFill>
                <a:srgbClr val="000000"/>
              </a:solidFill>
              <a:latin typeface="Arial"/>
              <a:ea typeface="Arial"/>
              <a:cs typeface="Arial"/>
              <a:sym typeface="Arial"/>
            </a:endParaRPr>
          </a:p>
        </p:txBody>
      </p:sp>
      <p:sp>
        <p:nvSpPr>
          <p:cNvPr id="313" name="Google Shape;313;p12"/>
          <p:cNvSpPr/>
          <p:nvPr/>
        </p:nvSpPr>
        <p:spPr>
          <a:xfrm>
            <a:off x="10377202" y="4865690"/>
            <a:ext cx="3459300" cy="10332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Lower sigma values can be ignored.</a:t>
            </a:r>
            <a:endParaRPr b="0" i="0" sz="2050" u="none" cap="none" strike="noStrike">
              <a:solidFill>
                <a:srgbClr val="000000"/>
              </a:solidFill>
              <a:latin typeface="Arial"/>
              <a:ea typeface="Arial"/>
              <a:cs typeface="Arial"/>
              <a:sym typeface="Arial"/>
            </a:endParaRPr>
          </a:p>
        </p:txBody>
      </p:sp>
      <p:pic>
        <p:nvPicPr>
          <p:cNvPr descr="preencoded.png" id="314" name="Google Shape;314;p12"/>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3"/>
          <p:cNvSpPr/>
          <p:nvPr/>
        </p:nvSpPr>
        <p:spPr>
          <a:xfrm>
            <a:off x="8108990" y="858679"/>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Steps to Apply PCA</a:t>
            </a:r>
            <a:endParaRPr b="0" i="0" sz="4450" u="none" cap="none" strike="noStrike">
              <a:solidFill>
                <a:srgbClr val="000000"/>
              </a:solidFill>
              <a:latin typeface="Arial"/>
              <a:ea typeface="Arial"/>
              <a:cs typeface="Arial"/>
              <a:sym typeface="Arial"/>
            </a:endParaRPr>
          </a:p>
        </p:txBody>
      </p:sp>
      <p:sp>
        <p:nvSpPr>
          <p:cNvPr id="321" name="Google Shape;321;p13"/>
          <p:cNvSpPr/>
          <p:nvPr/>
        </p:nvSpPr>
        <p:spPr>
          <a:xfrm>
            <a:off x="8108990" y="1907619"/>
            <a:ext cx="2750463" cy="1669852"/>
          </a:xfrm>
          <a:prstGeom prst="roundRect">
            <a:avLst>
              <a:gd fmla="val 2038"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22" name="Google Shape;322;p13"/>
          <p:cNvSpPr/>
          <p:nvPr/>
        </p:nvSpPr>
        <p:spPr>
          <a:xfrm>
            <a:off x="8335804" y="2134433"/>
            <a:ext cx="22968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Step 1</a:t>
            </a:r>
            <a:endParaRPr b="0" i="0" sz="2500" u="none" cap="none" strike="noStrike">
              <a:solidFill>
                <a:srgbClr val="000000"/>
              </a:solidFill>
              <a:latin typeface="Arial"/>
              <a:ea typeface="Arial"/>
              <a:cs typeface="Arial"/>
              <a:sym typeface="Arial"/>
            </a:endParaRPr>
          </a:p>
        </p:txBody>
      </p:sp>
      <p:sp>
        <p:nvSpPr>
          <p:cNvPr id="323" name="Google Shape;323;p13"/>
          <p:cNvSpPr/>
          <p:nvPr/>
        </p:nvSpPr>
        <p:spPr>
          <a:xfrm>
            <a:off x="8335804" y="2624852"/>
            <a:ext cx="229683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Standardize the dataset.</a:t>
            </a:r>
            <a:endParaRPr b="0" i="0" sz="2050" u="none" cap="none" strike="noStrike">
              <a:solidFill>
                <a:srgbClr val="000000"/>
              </a:solidFill>
              <a:latin typeface="Arial"/>
              <a:ea typeface="Arial"/>
              <a:cs typeface="Arial"/>
              <a:sym typeface="Arial"/>
            </a:endParaRPr>
          </a:p>
        </p:txBody>
      </p:sp>
      <p:sp>
        <p:nvSpPr>
          <p:cNvPr id="324" name="Google Shape;324;p13"/>
          <p:cNvSpPr/>
          <p:nvPr/>
        </p:nvSpPr>
        <p:spPr>
          <a:xfrm>
            <a:off x="11086267" y="1907619"/>
            <a:ext cx="2750463" cy="1669852"/>
          </a:xfrm>
          <a:prstGeom prst="roundRect">
            <a:avLst>
              <a:gd fmla="val 2038"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25" name="Google Shape;325;p13"/>
          <p:cNvSpPr/>
          <p:nvPr/>
        </p:nvSpPr>
        <p:spPr>
          <a:xfrm>
            <a:off x="11313081" y="2134433"/>
            <a:ext cx="22968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Step 2</a:t>
            </a:r>
            <a:endParaRPr b="0" i="0" sz="2500" u="none" cap="none" strike="noStrike">
              <a:solidFill>
                <a:srgbClr val="000000"/>
              </a:solidFill>
              <a:latin typeface="Arial"/>
              <a:ea typeface="Arial"/>
              <a:cs typeface="Arial"/>
              <a:sym typeface="Arial"/>
            </a:endParaRPr>
          </a:p>
        </p:txBody>
      </p:sp>
      <p:sp>
        <p:nvSpPr>
          <p:cNvPr id="326" name="Google Shape;326;p13"/>
          <p:cNvSpPr/>
          <p:nvPr/>
        </p:nvSpPr>
        <p:spPr>
          <a:xfrm>
            <a:off x="11313081" y="2624852"/>
            <a:ext cx="229683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Compute the covariance matrix.</a:t>
            </a:r>
            <a:endParaRPr b="0" i="0" sz="2050" u="none" cap="none" strike="noStrike">
              <a:solidFill>
                <a:srgbClr val="000000"/>
              </a:solidFill>
              <a:latin typeface="Arial"/>
              <a:ea typeface="Arial"/>
              <a:cs typeface="Arial"/>
              <a:sym typeface="Arial"/>
            </a:endParaRPr>
          </a:p>
        </p:txBody>
      </p:sp>
      <p:sp>
        <p:nvSpPr>
          <p:cNvPr id="327" name="Google Shape;327;p13"/>
          <p:cNvSpPr/>
          <p:nvPr/>
        </p:nvSpPr>
        <p:spPr>
          <a:xfrm>
            <a:off x="8108990" y="3804285"/>
            <a:ext cx="2750463" cy="2032754"/>
          </a:xfrm>
          <a:prstGeom prst="roundRect">
            <a:avLst>
              <a:gd fmla="val 1674"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28" name="Google Shape;328;p13"/>
          <p:cNvSpPr/>
          <p:nvPr/>
        </p:nvSpPr>
        <p:spPr>
          <a:xfrm>
            <a:off x="8335804" y="4031099"/>
            <a:ext cx="22968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Step 3</a:t>
            </a:r>
            <a:endParaRPr b="0" i="0" sz="2500" u="none" cap="none" strike="noStrike">
              <a:solidFill>
                <a:srgbClr val="000000"/>
              </a:solidFill>
              <a:latin typeface="Arial"/>
              <a:ea typeface="Arial"/>
              <a:cs typeface="Arial"/>
              <a:sym typeface="Arial"/>
            </a:endParaRPr>
          </a:p>
        </p:txBody>
      </p:sp>
      <p:sp>
        <p:nvSpPr>
          <p:cNvPr id="329" name="Google Shape;329;p13"/>
          <p:cNvSpPr/>
          <p:nvPr/>
        </p:nvSpPr>
        <p:spPr>
          <a:xfrm>
            <a:off x="8335804" y="4521517"/>
            <a:ext cx="2296835"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Perform Eigen decomposition (or SVD).</a:t>
            </a:r>
            <a:endParaRPr b="0" i="0" sz="2050" u="none" cap="none" strike="noStrike">
              <a:solidFill>
                <a:srgbClr val="000000"/>
              </a:solidFill>
              <a:latin typeface="Arial"/>
              <a:ea typeface="Arial"/>
              <a:cs typeface="Arial"/>
              <a:sym typeface="Arial"/>
            </a:endParaRPr>
          </a:p>
        </p:txBody>
      </p:sp>
      <p:sp>
        <p:nvSpPr>
          <p:cNvPr id="330" name="Google Shape;330;p13"/>
          <p:cNvSpPr/>
          <p:nvPr/>
        </p:nvSpPr>
        <p:spPr>
          <a:xfrm>
            <a:off x="11086267" y="3804285"/>
            <a:ext cx="2750463" cy="2032754"/>
          </a:xfrm>
          <a:prstGeom prst="roundRect">
            <a:avLst>
              <a:gd fmla="val 1674"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31" name="Google Shape;331;p13"/>
          <p:cNvSpPr/>
          <p:nvPr/>
        </p:nvSpPr>
        <p:spPr>
          <a:xfrm>
            <a:off x="11313081" y="4031099"/>
            <a:ext cx="22968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Step 4</a:t>
            </a:r>
            <a:endParaRPr b="0" i="0" sz="2500" u="none" cap="none" strike="noStrike">
              <a:solidFill>
                <a:srgbClr val="000000"/>
              </a:solidFill>
              <a:latin typeface="Arial"/>
              <a:ea typeface="Arial"/>
              <a:cs typeface="Arial"/>
              <a:sym typeface="Arial"/>
            </a:endParaRPr>
          </a:p>
        </p:txBody>
      </p:sp>
      <p:sp>
        <p:nvSpPr>
          <p:cNvPr id="332" name="Google Shape;332;p13"/>
          <p:cNvSpPr/>
          <p:nvPr/>
        </p:nvSpPr>
        <p:spPr>
          <a:xfrm>
            <a:off x="11313081" y="4521517"/>
            <a:ext cx="229683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Select the top components.</a:t>
            </a:r>
            <a:endParaRPr b="0" i="0" sz="2050" u="none" cap="none" strike="noStrike">
              <a:solidFill>
                <a:srgbClr val="000000"/>
              </a:solidFill>
              <a:latin typeface="Arial"/>
              <a:ea typeface="Arial"/>
              <a:cs typeface="Arial"/>
              <a:sym typeface="Arial"/>
            </a:endParaRPr>
          </a:p>
        </p:txBody>
      </p:sp>
      <p:sp>
        <p:nvSpPr>
          <p:cNvPr id="333" name="Google Shape;333;p13"/>
          <p:cNvSpPr/>
          <p:nvPr/>
        </p:nvSpPr>
        <p:spPr>
          <a:xfrm>
            <a:off x="8108990" y="6063853"/>
            <a:ext cx="5727621" cy="1306949"/>
          </a:xfrm>
          <a:prstGeom prst="roundRect">
            <a:avLst>
              <a:gd fmla="val 2603"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34" name="Google Shape;334;p13"/>
          <p:cNvSpPr/>
          <p:nvPr/>
        </p:nvSpPr>
        <p:spPr>
          <a:xfrm>
            <a:off x="8335804" y="629066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Step 5</a:t>
            </a:r>
            <a:endParaRPr b="0" i="0" sz="2500" u="none" cap="none" strike="noStrike">
              <a:solidFill>
                <a:srgbClr val="000000"/>
              </a:solidFill>
              <a:latin typeface="Arial"/>
              <a:ea typeface="Arial"/>
              <a:cs typeface="Arial"/>
              <a:sym typeface="Arial"/>
            </a:endParaRPr>
          </a:p>
        </p:txBody>
      </p:sp>
      <p:sp>
        <p:nvSpPr>
          <p:cNvPr id="335" name="Google Shape;335;p13"/>
          <p:cNvSpPr/>
          <p:nvPr/>
        </p:nvSpPr>
        <p:spPr>
          <a:xfrm>
            <a:off x="8335804" y="6781086"/>
            <a:ext cx="5273993"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Transform the data.</a:t>
            </a:r>
            <a:endParaRPr b="0" i="0" sz="2050" u="none" cap="none" strike="noStrike">
              <a:solidFill>
                <a:srgbClr val="000000"/>
              </a:solidFill>
              <a:latin typeface="Arial"/>
              <a:ea typeface="Arial"/>
              <a:cs typeface="Arial"/>
              <a:sym typeface="Arial"/>
            </a:endParaRPr>
          </a:p>
        </p:txBody>
      </p:sp>
      <p:pic>
        <p:nvPicPr>
          <p:cNvPr descr="preencoded.png" id="336" name="Google Shape;336;p13"/>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pic>
        <p:nvPicPr>
          <p:cNvPr id="337" name="Google Shape;337;p13"/>
          <p:cNvPicPr preferRelativeResize="0"/>
          <p:nvPr/>
        </p:nvPicPr>
        <p:blipFill rotWithShape="1">
          <a:blip r:embed="rId4">
            <a:alphaModFix/>
          </a:blip>
          <a:srcRect b="0" l="0" r="0" t="0"/>
          <a:stretch/>
        </p:blipFill>
        <p:spPr>
          <a:xfrm>
            <a:off x="152400" y="2031037"/>
            <a:ext cx="7729775" cy="435444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4"/>
          <p:cNvSpPr/>
          <p:nvPr/>
        </p:nvSpPr>
        <p:spPr>
          <a:xfrm>
            <a:off x="6280190" y="1920478"/>
            <a:ext cx="755640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PCA for Visualization</a:t>
            </a:r>
            <a:endParaRPr b="0" i="0" sz="4450" u="none" cap="none" strike="noStrike">
              <a:solidFill>
                <a:srgbClr val="000000"/>
              </a:solidFill>
              <a:latin typeface="Arial"/>
              <a:ea typeface="Arial"/>
              <a:cs typeface="Arial"/>
              <a:sym typeface="Arial"/>
            </a:endParaRPr>
          </a:p>
        </p:txBody>
      </p:sp>
      <p:sp>
        <p:nvSpPr>
          <p:cNvPr id="344" name="Google Shape;344;p14"/>
          <p:cNvSpPr/>
          <p:nvPr/>
        </p:nvSpPr>
        <p:spPr>
          <a:xfrm>
            <a:off x="6280200" y="2969426"/>
            <a:ext cx="7556400" cy="1453200"/>
          </a:xfrm>
          <a:prstGeom prst="roundRect">
            <a:avLst>
              <a:gd fmla="val 2603"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45" name="Google Shape;345;p14"/>
          <p:cNvSpPr/>
          <p:nvPr/>
        </p:nvSpPr>
        <p:spPr>
          <a:xfrm>
            <a:off x="6507013" y="3221631"/>
            <a:ext cx="2835300" cy="393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The Challenge</a:t>
            </a:r>
            <a:endParaRPr b="0" i="0" sz="2500" u="none" cap="none" strike="noStrike">
              <a:solidFill>
                <a:srgbClr val="000000"/>
              </a:solidFill>
              <a:latin typeface="Arial"/>
              <a:ea typeface="Arial"/>
              <a:cs typeface="Arial"/>
              <a:sym typeface="Arial"/>
            </a:endParaRPr>
          </a:p>
        </p:txBody>
      </p:sp>
      <p:sp>
        <p:nvSpPr>
          <p:cNvPr id="346" name="Google Shape;346;p14"/>
          <p:cNvSpPr/>
          <p:nvPr/>
        </p:nvSpPr>
        <p:spPr>
          <a:xfrm>
            <a:off x="6507013" y="3766950"/>
            <a:ext cx="7102800" cy="4035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High-dimensional data cannot be plotted directly.</a:t>
            </a:r>
            <a:endParaRPr b="0" i="0" sz="2050" u="none" cap="none" strike="noStrike">
              <a:solidFill>
                <a:srgbClr val="000000"/>
              </a:solidFill>
              <a:latin typeface="Arial"/>
              <a:ea typeface="Arial"/>
              <a:cs typeface="Arial"/>
              <a:sym typeface="Arial"/>
            </a:endParaRPr>
          </a:p>
        </p:txBody>
      </p:sp>
      <p:sp>
        <p:nvSpPr>
          <p:cNvPr id="347" name="Google Shape;347;p14"/>
          <p:cNvSpPr/>
          <p:nvPr/>
        </p:nvSpPr>
        <p:spPr>
          <a:xfrm>
            <a:off x="6280200" y="4674903"/>
            <a:ext cx="7556400" cy="2569800"/>
          </a:xfrm>
          <a:prstGeom prst="roundRect">
            <a:avLst>
              <a:gd fmla="val 1884"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48" name="Google Shape;348;p14"/>
          <p:cNvSpPr/>
          <p:nvPr/>
        </p:nvSpPr>
        <p:spPr>
          <a:xfrm>
            <a:off x="6507013" y="4927095"/>
            <a:ext cx="2835300" cy="393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The Solution</a:t>
            </a:r>
            <a:endParaRPr b="0" i="0" sz="2500" u="none" cap="none" strike="noStrike">
              <a:solidFill>
                <a:srgbClr val="000000"/>
              </a:solidFill>
              <a:latin typeface="Arial"/>
              <a:ea typeface="Arial"/>
              <a:cs typeface="Arial"/>
              <a:sym typeface="Arial"/>
            </a:endParaRPr>
          </a:p>
        </p:txBody>
      </p:sp>
      <p:sp>
        <p:nvSpPr>
          <p:cNvPr id="349" name="Google Shape;349;p14"/>
          <p:cNvSpPr/>
          <p:nvPr/>
        </p:nvSpPr>
        <p:spPr>
          <a:xfrm>
            <a:off x="6507013" y="5472414"/>
            <a:ext cx="7102800" cy="4035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PCA extracts PC1 and PC2 for a 2D visualization.</a:t>
            </a:r>
            <a:endParaRPr b="0" i="0" sz="2050" u="none" cap="none" strike="noStrike">
              <a:solidFill>
                <a:srgbClr val="000000"/>
              </a:solidFill>
              <a:latin typeface="Arial"/>
              <a:ea typeface="Arial"/>
              <a:cs typeface="Arial"/>
              <a:sym typeface="Arial"/>
            </a:endParaRPr>
          </a:p>
        </p:txBody>
      </p:sp>
      <p:sp>
        <p:nvSpPr>
          <p:cNvPr id="350" name="Google Shape;350;p14"/>
          <p:cNvSpPr/>
          <p:nvPr/>
        </p:nvSpPr>
        <p:spPr>
          <a:xfrm>
            <a:off x="6507013" y="6027266"/>
            <a:ext cx="7102800" cy="4035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Example: 50D data with 4000 points → Reduced to 2D scatter plot.</a:t>
            </a:r>
            <a:endParaRPr b="0" i="0" sz="2050" u="none" cap="none" strike="noStrike">
              <a:solidFill>
                <a:srgbClr val="000000"/>
              </a:solidFill>
              <a:latin typeface="Arial"/>
              <a:ea typeface="Arial"/>
              <a:cs typeface="Arial"/>
              <a:sym typeface="Arial"/>
            </a:endParaRPr>
          </a:p>
        </p:txBody>
      </p:sp>
      <p:pic>
        <p:nvPicPr>
          <p:cNvPr descr="preencoded.png" id="351" name="Google Shape;351;p14"/>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pic>
        <p:nvPicPr>
          <p:cNvPr id="352" name="Google Shape;352;p14"/>
          <p:cNvPicPr preferRelativeResize="0"/>
          <p:nvPr/>
        </p:nvPicPr>
        <p:blipFill rotWithShape="1">
          <a:blip r:embed="rId4">
            <a:alphaModFix/>
          </a:blip>
          <a:srcRect b="0" l="0" r="0" t="0"/>
          <a:stretch/>
        </p:blipFill>
        <p:spPr>
          <a:xfrm>
            <a:off x="127975" y="2058012"/>
            <a:ext cx="5670575" cy="411357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7"/>
          <p:cNvSpPr/>
          <p:nvPr/>
        </p:nvSpPr>
        <p:spPr>
          <a:xfrm>
            <a:off x="793790" y="2456259"/>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Benefits of PCA</a:t>
            </a:r>
            <a:endParaRPr b="0" i="0" sz="4450" u="none" cap="none" strike="noStrike">
              <a:solidFill>
                <a:srgbClr val="000000"/>
              </a:solidFill>
              <a:latin typeface="Arial"/>
              <a:ea typeface="Arial"/>
              <a:cs typeface="Arial"/>
              <a:sym typeface="Arial"/>
            </a:endParaRPr>
          </a:p>
        </p:txBody>
      </p:sp>
      <p:sp>
        <p:nvSpPr>
          <p:cNvPr id="359" name="Google Shape;359;p17"/>
          <p:cNvSpPr/>
          <p:nvPr/>
        </p:nvSpPr>
        <p:spPr>
          <a:xfrm>
            <a:off x="793790" y="3760351"/>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60" name="Google Shape;360;p17"/>
          <p:cNvSpPr/>
          <p:nvPr/>
        </p:nvSpPr>
        <p:spPr>
          <a:xfrm>
            <a:off x="1530906" y="3760351"/>
            <a:ext cx="3543300"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Removes redundant data.</a:t>
            </a:r>
            <a:endParaRPr b="0" i="0" sz="2500" u="none" cap="none" strike="noStrike">
              <a:solidFill>
                <a:srgbClr val="000000"/>
              </a:solidFill>
              <a:latin typeface="Arial"/>
              <a:ea typeface="Arial"/>
              <a:cs typeface="Arial"/>
              <a:sym typeface="Arial"/>
            </a:endParaRPr>
          </a:p>
        </p:txBody>
      </p:sp>
      <p:sp>
        <p:nvSpPr>
          <p:cNvPr id="361" name="Google Shape;361;p17"/>
          <p:cNvSpPr/>
          <p:nvPr/>
        </p:nvSpPr>
        <p:spPr>
          <a:xfrm>
            <a:off x="7428667" y="3760351"/>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62" name="Google Shape;362;p17"/>
          <p:cNvSpPr/>
          <p:nvPr/>
        </p:nvSpPr>
        <p:spPr>
          <a:xfrm>
            <a:off x="8165783" y="3760351"/>
            <a:ext cx="507003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Speeds up machine learning models.</a:t>
            </a:r>
            <a:endParaRPr b="0" i="0" sz="2500" u="none" cap="none" strike="noStrike">
              <a:solidFill>
                <a:srgbClr val="000000"/>
              </a:solidFill>
              <a:latin typeface="Arial"/>
              <a:ea typeface="Arial"/>
              <a:cs typeface="Arial"/>
              <a:sym typeface="Arial"/>
            </a:endParaRPr>
          </a:p>
        </p:txBody>
      </p:sp>
      <p:sp>
        <p:nvSpPr>
          <p:cNvPr id="363" name="Google Shape;363;p17"/>
          <p:cNvSpPr/>
          <p:nvPr/>
        </p:nvSpPr>
        <p:spPr>
          <a:xfrm>
            <a:off x="793790" y="5007769"/>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64" name="Google Shape;364;p17"/>
          <p:cNvSpPr/>
          <p:nvPr/>
        </p:nvSpPr>
        <p:spPr>
          <a:xfrm>
            <a:off x="1530906" y="5007769"/>
            <a:ext cx="5670947"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Improves visualization by reducing dimensions.</a:t>
            </a:r>
            <a:endParaRPr b="0" i="0" sz="2500" u="none" cap="none" strike="noStrike">
              <a:solidFill>
                <a:srgbClr val="000000"/>
              </a:solidFill>
              <a:latin typeface="Arial"/>
              <a:ea typeface="Arial"/>
              <a:cs typeface="Arial"/>
              <a:sym typeface="Arial"/>
            </a:endParaRPr>
          </a:p>
        </p:txBody>
      </p:sp>
      <p:sp>
        <p:nvSpPr>
          <p:cNvPr id="365" name="Google Shape;365;p17"/>
          <p:cNvSpPr/>
          <p:nvPr/>
        </p:nvSpPr>
        <p:spPr>
          <a:xfrm>
            <a:off x="7428667" y="5007769"/>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66" name="Google Shape;366;p17"/>
          <p:cNvSpPr/>
          <p:nvPr/>
        </p:nvSpPr>
        <p:spPr>
          <a:xfrm>
            <a:off x="8165783" y="5007769"/>
            <a:ext cx="5670947"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Reduces noise by eliminating unimportant variations.</a:t>
            </a:r>
            <a:endParaRPr b="0" i="0" sz="2500" u="none" cap="none" strike="noStrike">
              <a:solidFill>
                <a:srgbClr val="000000"/>
              </a:solidFill>
              <a:latin typeface="Arial"/>
              <a:ea typeface="Arial"/>
              <a:cs typeface="Arial"/>
              <a:sym typeface="Arial"/>
            </a:endParaRPr>
          </a:p>
        </p:txBody>
      </p:sp>
      <p:pic>
        <p:nvPicPr>
          <p:cNvPr descr="preencoded.png" id="367" name="Google Shape;367;p17"/>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18"/>
          <p:cNvSpPr/>
          <p:nvPr/>
        </p:nvSpPr>
        <p:spPr>
          <a:xfrm>
            <a:off x="793790" y="2616398"/>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Limitations of PCA</a:t>
            </a:r>
            <a:endParaRPr b="0" i="0" sz="4450" u="none" cap="none" strike="noStrike">
              <a:solidFill>
                <a:srgbClr val="000000"/>
              </a:solidFill>
              <a:latin typeface="Arial"/>
              <a:ea typeface="Arial"/>
              <a:cs typeface="Arial"/>
              <a:sym typeface="Arial"/>
            </a:endParaRPr>
          </a:p>
        </p:txBody>
      </p:sp>
      <p:sp>
        <p:nvSpPr>
          <p:cNvPr id="374" name="Google Shape;374;p18"/>
          <p:cNvSpPr/>
          <p:nvPr/>
        </p:nvSpPr>
        <p:spPr>
          <a:xfrm>
            <a:off x="793790" y="4033957"/>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75" name="Google Shape;375;p18"/>
          <p:cNvSpPr/>
          <p:nvPr/>
        </p:nvSpPr>
        <p:spPr>
          <a:xfrm>
            <a:off x="878860" y="4076462"/>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950" u="none" cap="none" strike="noStrike">
                <a:solidFill>
                  <a:srgbClr val="504C49"/>
                </a:solidFill>
                <a:latin typeface="Platypi Medium"/>
                <a:ea typeface="Platypi Medium"/>
                <a:cs typeface="Platypi Medium"/>
                <a:sym typeface="Platypi Medium"/>
              </a:rPr>
              <a:t>1</a:t>
            </a:r>
            <a:endParaRPr b="0" i="0" sz="2950" u="none" cap="none" strike="noStrike">
              <a:solidFill>
                <a:srgbClr val="000000"/>
              </a:solidFill>
              <a:latin typeface="Arial"/>
              <a:ea typeface="Arial"/>
              <a:cs typeface="Arial"/>
              <a:sym typeface="Arial"/>
            </a:endParaRPr>
          </a:p>
        </p:txBody>
      </p:sp>
      <p:sp>
        <p:nvSpPr>
          <p:cNvPr id="376" name="Google Shape;376;p18"/>
          <p:cNvSpPr/>
          <p:nvPr/>
        </p:nvSpPr>
        <p:spPr>
          <a:xfrm>
            <a:off x="1530906" y="4033957"/>
            <a:ext cx="284761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Linear Relationships</a:t>
            </a:r>
            <a:endParaRPr b="0" i="0" sz="2500" u="none" cap="none" strike="noStrike">
              <a:solidFill>
                <a:srgbClr val="000000"/>
              </a:solidFill>
              <a:latin typeface="Arial"/>
              <a:ea typeface="Arial"/>
              <a:cs typeface="Arial"/>
              <a:sym typeface="Arial"/>
            </a:endParaRPr>
          </a:p>
        </p:txBody>
      </p:sp>
      <p:sp>
        <p:nvSpPr>
          <p:cNvPr id="377" name="Google Shape;377;p18"/>
          <p:cNvSpPr/>
          <p:nvPr/>
        </p:nvSpPr>
        <p:spPr>
          <a:xfrm>
            <a:off x="1530881" y="5097050"/>
            <a:ext cx="34593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PCA assumes linear relationships, non-linear data may not be well represented.</a:t>
            </a:r>
            <a:endParaRPr b="0" i="0" sz="2050" u="none" cap="none" strike="noStrike">
              <a:solidFill>
                <a:srgbClr val="000000"/>
              </a:solidFill>
              <a:latin typeface="Arial"/>
              <a:ea typeface="Arial"/>
              <a:cs typeface="Arial"/>
              <a:sym typeface="Arial"/>
            </a:endParaRPr>
          </a:p>
        </p:txBody>
      </p:sp>
      <p:sp>
        <p:nvSpPr>
          <p:cNvPr id="378" name="Google Shape;378;p18"/>
          <p:cNvSpPr/>
          <p:nvPr/>
        </p:nvSpPr>
        <p:spPr>
          <a:xfrm>
            <a:off x="5216962" y="4033957"/>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79" name="Google Shape;379;p18"/>
          <p:cNvSpPr/>
          <p:nvPr/>
        </p:nvSpPr>
        <p:spPr>
          <a:xfrm>
            <a:off x="5302032" y="4076462"/>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950" u="none" cap="none" strike="noStrike">
                <a:solidFill>
                  <a:srgbClr val="504C49"/>
                </a:solidFill>
                <a:latin typeface="Platypi Medium"/>
                <a:ea typeface="Platypi Medium"/>
                <a:cs typeface="Platypi Medium"/>
                <a:sym typeface="Platypi Medium"/>
              </a:rPr>
              <a:t>2</a:t>
            </a:r>
            <a:endParaRPr b="0" i="0" sz="2950" u="none" cap="none" strike="noStrike">
              <a:solidFill>
                <a:srgbClr val="000000"/>
              </a:solidFill>
              <a:latin typeface="Arial"/>
              <a:ea typeface="Arial"/>
              <a:cs typeface="Arial"/>
              <a:sym typeface="Arial"/>
            </a:endParaRPr>
          </a:p>
        </p:txBody>
      </p:sp>
      <p:sp>
        <p:nvSpPr>
          <p:cNvPr id="380" name="Google Shape;380;p18"/>
          <p:cNvSpPr/>
          <p:nvPr/>
        </p:nvSpPr>
        <p:spPr>
          <a:xfrm>
            <a:off x="5954078" y="4033957"/>
            <a:ext cx="3090982"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Interpretability Issues</a:t>
            </a:r>
            <a:endParaRPr b="0" i="0" sz="2500" u="none" cap="none" strike="noStrike">
              <a:solidFill>
                <a:srgbClr val="000000"/>
              </a:solidFill>
              <a:latin typeface="Arial"/>
              <a:ea typeface="Arial"/>
              <a:cs typeface="Arial"/>
              <a:sym typeface="Arial"/>
            </a:endParaRPr>
          </a:p>
        </p:txBody>
      </p:sp>
      <p:sp>
        <p:nvSpPr>
          <p:cNvPr id="381" name="Google Shape;381;p18"/>
          <p:cNvSpPr/>
          <p:nvPr/>
        </p:nvSpPr>
        <p:spPr>
          <a:xfrm>
            <a:off x="5954053" y="5097050"/>
            <a:ext cx="34593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Principal components are abstract</a:t>
            </a:r>
            <a:endParaRPr b="0" i="0" sz="2050" u="none" cap="none" strike="noStrike">
              <a:solidFill>
                <a:srgbClr val="000000"/>
              </a:solidFill>
              <a:latin typeface="Arial"/>
              <a:ea typeface="Arial"/>
              <a:cs typeface="Arial"/>
              <a:sym typeface="Arial"/>
            </a:endParaRPr>
          </a:p>
        </p:txBody>
      </p:sp>
      <p:sp>
        <p:nvSpPr>
          <p:cNvPr id="382" name="Google Shape;382;p18"/>
          <p:cNvSpPr/>
          <p:nvPr/>
        </p:nvSpPr>
        <p:spPr>
          <a:xfrm>
            <a:off x="9640133" y="4033957"/>
            <a:ext cx="510302" cy="510302"/>
          </a:xfrm>
          <a:prstGeom prst="roundRect">
            <a:avLst>
              <a:gd fmla="val 6667"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83" name="Google Shape;383;p18"/>
          <p:cNvSpPr/>
          <p:nvPr/>
        </p:nvSpPr>
        <p:spPr>
          <a:xfrm>
            <a:off x="9725204" y="4076462"/>
            <a:ext cx="340162" cy="42529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2650"/>
              <a:buFont typeface="Platypi Medium"/>
              <a:buNone/>
            </a:pPr>
            <a:r>
              <a:rPr b="0" i="0" lang="en-US" sz="2950" u="none" cap="none" strike="noStrike">
                <a:solidFill>
                  <a:srgbClr val="504C49"/>
                </a:solidFill>
                <a:latin typeface="Platypi Medium"/>
                <a:ea typeface="Platypi Medium"/>
                <a:cs typeface="Platypi Medium"/>
                <a:sym typeface="Platypi Medium"/>
              </a:rPr>
              <a:t>3</a:t>
            </a:r>
            <a:endParaRPr b="0" i="0" sz="2950" u="none" cap="none" strike="noStrike">
              <a:solidFill>
                <a:srgbClr val="000000"/>
              </a:solidFill>
              <a:latin typeface="Arial"/>
              <a:ea typeface="Arial"/>
              <a:cs typeface="Arial"/>
              <a:sym typeface="Arial"/>
            </a:endParaRPr>
          </a:p>
        </p:txBody>
      </p:sp>
      <p:sp>
        <p:nvSpPr>
          <p:cNvPr id="384" name="Google Shape;384;p18"/>
          <p:cNvSpPr/>
          <p:nvPr/>
        </p:nvSpPr>
        <p:spPr>
          <a:xfrm>
            <a:off x="10377249" y="403395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Scale Sensitivity</a:t>
            </a:r>
            <a:endParaRPr b="0" i="0" sz="2500" u="none" cap="none" strike="noStrike">
              <a:solidFill>
                <a:srgbClr val="000000"/>
              </a:solidFill>
              <a:latin typeface="Arial"/>
              <a:ea typeface="Arial"/>
              <a:cs typeface="Arial"/>
              <a:sym typeface="Arial"/>
            </a:endParaRPr>
          </a:p>
        </p:txBody>
      </p:sp>
      <p:sp>
        <p:nvSpPr>
          <p:cNvPr id="385" name="Google Shape;385;p18"/>
          <p:cNvSpPr/>
          <p:nvPr/>
        </p:nvSpPr>
        <p:spPr>
          <a:xfrm>
            <a:off x="10377249" y="4524375"/>
            <a:ext cx="3459242"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Data should be standardized</a:t>
            </a:r>
            <a:endParaRPr b="0" i="0" sz="2050" u="none" cap="none" strike="noStrike">
              <a:solidFill>
                <a:srgbClr val="000000"/>
              </a:solidFill>
              <a:latin typeface="Arial"/>
              <a:ea typeface="Arial"/>
              <a:cs typeface="Arial"/>
              <a:sym typeface="Arial"/>
            </a:endParaRPr>
          </a:p>
        </p:txBody>
      </p:sp>
      <p:pic>
        <p:nvPicPr>
          <p:cNvPr descr="preencoded.png" id="386" name="Google Shape;386;p18"/>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9"/>
          <p:cNvSpPr/>
          <p:nvPr/>
        </p:nvSpPr>
        <p:spPr>
          <a:xfrm>
            <a:off x="793790" y="2229564"/>
            <a:ext cx="1303513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PCA vs. Traditional Feature Selection</a:t>
            </a:r>
            <a:endParaRPr b="0" i="0" sz="4450" u="none" cap="none" strike="noStrike">
              <a:solidFill>
                <a:srgbClr val="000000"/>
              </a:solidFill>
              <a:latin typeface="Arial"/>
              <a:ea typeface="Arial"/>
              <a:cs typeface="Arial"/>
              <a:sym typeface="Arial"/>
            </a:endParaRPr>
          </a:p>
        </p:txBody>
      </p:sp>
      <p:sp>
        <p:nvSpPr>
          <p:cNvPr id="393" name="Google Shape;393;p19"/>
          <p:cNvSpPr/>
          <p:nvPr/>
        </p:nvSpPr>
        <p:spPr>
          <a:xfrm>
            <a:off x="793800" y="3391976"/>
            <a:ext cx="13042800" cy="3339900"/>
          </a:xfrm>
          <a:prstGeom prst="roundRect">
            <a:avLst>
              <a:gd fmla="val 1305" name="adj"/>
            </a:avLst>
          </a:prstGeom>
          <a:noFill/>
          <a:ln cap="flat" cmpd="sng" w="9525">
            <a:solidFill>
              <a:srgbClr val="000000">
                <a:alpha val="705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94" name="Google Shape;394;p19"/>
          <p:cNvSpPr/>
          <p:nvPr/>
        </p:nvSpPr>
        <p:spPr>
          <a:xfrm>
            <a:off x="801420" y="3401734"/>
            <a:ext cx="13027500" cy="821700"/>
          </a:xfrm>
          <a:prstGeom prst="rect">
            <a:avLst/>
          </a:prstGeom>
          <a:solidFill>
            <a:srgbClr val="FFFFFF">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95" name="Google Shape;395;p19"/>
          <p:cNvSpPr/>
          <p:nvPr/>
        </p:nvSpPr>
        <p:spPr>
          <a:xfrm>
            <a:off x="2638789" y="3585773"/>
            <a:ext cx="2835300" cy="4539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201B18"/>
              </a:buClr>
              <a:buSzPts val="2200"/>
              <a:buFont typeface="Platypi Medium"/>
              <a:buNone/>
            </a:pPr>
            <a:r>
              <a:rPr b="0" i="0" lang="en-US" sz="2500" u="none" cap="none" strike="noStrike">
                <a:solidFill>
                  <a:srgbClr val="201B18"/>
                </a:solidFill>
                <a:latin typeface="Platypi Medium"/>
                <a:ea typeface="Platypi Medium"/>
                <a:cs typeface="Platypi Medium"/>
                <a:sym typeface="Platypi Medium"/>
              </a:rPr>
              <a:t>Feature Selection</a:t>
            </a:r>
            <a:endParaRPr b="0" i="0" sz="2500" u="none" cap="none" strike="noStrike">
              <a:solidFill>
                <a:srgbClr val="000000"/>
              </a:solidFill>
              <a:latin typeface="Arial"/>
              <a:ea typeface="Arial"/>
              <a:cs typeface="Arial"/>
              <a:sym typeface="Arial"/>
            </a:endParaRPr>
          </a:p>
        </p:txBody>
      </p:sp>
      <p:sp>
        <p:nvSpPr>
          <p:cNvPr id="396" name="Google Shape;396;p19"/>
          <p:cNvSpPr/>
          <p:nvPr/>
        </p:nvSpPr>
        <p:spPr>
          <a:xfrm>
            <a:off x="9156380" y="3585773"/>
            <a:ext cx="2835300" cy="4539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201B18"/>
              </a:buClr>
              <a:buSzPts val="2200"/>
              <a:buFont typeface="Platypi Medium"/>
              <a:buNone/>
            </a:pPr>
            <a:r>
              <a:rPr b="0" i="0" lang="en-US" sz="2500" u="none" cap="none" strike="noStrike">
                <a:solidFill>
                  <a:srgbClr val="201B18"/>
                </a:solidFill>
                <a:latin typeface="Platypi Medium"/>
                <a:ea typeface="Platypi Medium"/>
                <a:cs typeface="Platypi Medium"/>
                <a:sym typeface="Platypi Medium"/>
              </a:rPr>
              <a:t>PCA</a:t>
            </a:r>
            <a:endParaRPr b="0" i="0" sz="2500" u="none" cap="none" strike="noStrike">
              <a:solidFill>
                <a:srgbClr val="000000"/>
              </a:solidFill>
              <a:latin typeface="Arial"/>
              <a:ea typeface="Arial"/>
              <a:cs typeface="Arial"/>
              <a:sym typeface="Arial"/>
            </a:endParaRPr>
          </a:p>
        </p:txBody>
      </p:sp>
      <p:sp>
        <p:nvSpPr>
          <p:cNvPr id="397" name="Google Shape;397;p19"/>
          <p:cNvSpPr/>
          <p:nvPr/>
        </p:nvSpPr>
        <p:spPr>
          <a:xfrm>
            <a:off x="801420" y="4223583"/>
            <a:ext cx="13027500" cy="8328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398" name="Google Shape;398;p19"/>
          <p:cNvSpPr/>
          <p:nvPr/>
        </p:nvSpPr>
        <p:spPr>
          <a:xfrm>
            <a:off x="1028234" y="4407623"/>
            <a:ext cx="6056400" cy="464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Removes features based on statistical tests</a:t>
            </a:r>
            <a:endParaRPr b="0" i="0" sz="2050" u="none" cap="none" strike="noStrike">
              <a:solidFill>
                <a:srgbClr val="000000"/>
              </a:solidFill>
              <a:latin typeface="Arial"/>
              <a:ea typeface="Arial"/>
              <a:cs typeface="Arial"/>
              <a:sym typeface="Arial"/>
            </a:endParaRPr>
          </a:p>
        </p:txBody>
      </p:sp>
      <p:sp>
        <p:nvSpPr>
          <p:cNvPr id="399" name="Google Shape;399;p19"/>
          <p:cNvSpPr/>
          <p:nvPr/>
        </p:nvSpPr>
        <p:spPr>
          <a:xfrm>
            <a:off x="7545823" y="4407623"/>
            <a:ext cx="6056400" cy="464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Transforms data into a new coordinate system</a:t>
            </a:r>
            <a:endParaRPr b="0" i="0" sz="2050" u="none" cap="none" strike="noStrike">
              <a:solidFill>
                <a:srgbClr val="000000"/>
              </a:solidFill>
              <a:latin typeface="Arial"/>
              <a:ea typeface="Arial"/>
              <a:cs typeface="Arial"/>
              <a:sym typeface="Arial"/>
            </a:endParaRPr>
          </a:p>
        </p:txBody>
      </p:sp>
      <p:sp>
        <p:nvSpPr>
          <p:cNvPr id="400" name="Google Shape;400;p19"/>
          <p:cNvSpPr/>
          <p:nvPr/>
        </p:nvSpPr>
        <p:spPr>
          <a:xfrm>
            <a:off x="801420" y="5056411"/>
            <a:ext cx="13027500" cy="832800"/>
          </a:xfrm>
          <a:prstGeom prst="rect">
            <a:avLst/>
          </a:prstGeom>
          <a:solidFill>
            <a:srgbClr val="FFFFFF">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401" name="Google Shape;401;p19"/>
          <p:cNvSpPr/>
          <p:nvPr/>
        </p:nvSpPr>
        <p:spPr>
          <a:xfrm>
            <a:off x="1028234" y="5240450"/>
            <a:ext cx="6056400" cy="464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May discard important correlated features</a:t>
            </a:r>
            <a:endParaRPr b="0" i="0" sz="2050" u="none" cap="none" strike="noStrike">
              <a:solidFill>
                <a:srgbClr val="000000"/>
              </a:solidFill>
              <a:latin typeface="Arial"/>
              <a:ea typeface="Arial"/>
              <a:cs typeface="Arial"/>
              <a:sym typeface="Arial"/>
            </a:endParaRPr>
          </a:p>
        </p:txBody>
      </p:sp>
      <p:sp>
        <p:nvSpPr>
          <p:cNvPr id="402" name="Google Shape;402;p19"/>
          <p:cNvSpPr/>
          <p:nvPr/>
        </p:nvSpPr>
        <p:spPr>
          <a:xfrm>
            <a:off x="7545823" y="5240450"/>
            <a:ext cx="6056400" cy="464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Retains maximum variance</a:t>
            </a:r>
            <a:endParaRPr b="0" i="0" sz="2050" u="none" cap="none" strike="noStrike">
              <a:solidFill>
                <a:srgbClr val="000000"/>
              </a:solidFill>
              <a:latin typeface="Arial"/>
              <a:ea typeface="Arial"/>
              <a:cs typeface="Arial"/>
              <a:sym typeface="Arial"/>
            </a:endParaRPr>
          </a:p>
        </p:txBody>
      </p:sp>
      <p:sp>
        <p:nvSpPr>
          <p:cNvPr id="403" name="Google Shape;403;p19"/>
          <p:cNvSpPr/>
          <p:nvPr/>
        </p:nvSpPr>
        <p:spPr>
          <a:xfrm>
            <a:off x="801420" y="5889239"/>
            <a:ext cx="13027500" cy="832800"/>
          </a:xfrm>
          <a:prstGeom prst="rect">
            <a:avLst/>
          </a:prstGeom>
          <a:solidFill>
            <a:srgbClr val="000000">
              <a:alpha val="313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404" name="Google Shape;404;p19"/>
          <p:cNvSpPr/>
          <p:nvPr/>
        </p:nvSpPr>
        <p:spPr>
          <a:xfrm>
            <a:off x="1028234" y="6073279"/>
            <a:ext cx="6056400" cy="464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Works well for categorical data</a:t>
            </a:r>
            <a:endParaRPr b="0" i="0" sz="2050" u="none" cap="none" strike="noStrike">
              <a:solidFill>
                <a:srgbClr val="000000"/>
              </a:solidFill>
              <a:latin typeface="Arial"/>
              <a:ea typeface="Arial"/>
              <a:cs typeface="Arial"/>
              <a:sym typeface="Arial"/>
            </a:endParaRPr>
          </a:p>
        </p:txBody>
      </p:sp>
      <p:sp>
        <p:nvSpPr>
          <p:cNvPr id="405" name="Google Shape;405;p19"/>
          <p:cNvSpPr/>
          <p:nvPr/>
        </p:nvSpPr>
        <p:spPr>
          <a:xfrm>
            <a:off x="7545823" y="6073279"/>
            <a:ext cx="6056400" cy="464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Best for numerical data</a:t>
            </a:r>
            <a:endParaRPr b="0" i="0" sz="2050" u="none" cap="none" strike="noStrike">
              <a:solidFill>
                <a:srgbClr val="000000"/>
              </a:solidFill>
              <a:latin typeface="Arial"/>
              <a:ea typeface="Arial"/>
              <a:cs typeface="Arial"/>
              <a:sym typeface="Arial"/>
            </a:endParaRPr>
          </a:p>
        </p:txBody>
      </p:sp>
      <p:pic>
        <p:nvPicPr>
          <p:cNvPr descr="preencoded.png" id="406" name="Google Shape;406;p19"/>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15"/>
          <p:cNvSpPr/>
          <p:nvPr/>
        </p:nvSpPr>
        <p:spPr>
          <a:xfrm>
            <a:off x="793790" y="821055"/>
            <a:ext cx="1092831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Real-World Example of PCA</a:t>
            </a:r>
            <a:endParaRPr b="0" i="0" sz="4450" u="none" cap="none" strike="noStrike">
              <a:solidFill>
                <a:srgbClr val="000000"/>
              </a:solidFill>
              <a:latin typeface="Arial"/>
              <a:ea typeface="Arial"/>
              <a:cs typeface="Arial"/>
              <a:sym typeface="Arial"/>
            </a:endParaRPr>
          </a:p>
        </p:txBody>
      </p:sp>
      <p:pic>
        <p:nvPicPr>
          <p:cNvPr descr="preencoded.png" id="413" name="Google Shape;413;p15"/>
          <p:cNvPicPr preferRelativeResize="0"/>
          <p:nvPr/>
        </p:nvPicPr>
        <p:blipFill rotWithShape="1">
          <a:blip r:embed="rId3">
            <a:alphaModFix/>
          </a:blip>
          <a:srcRect b="0" l="0" r="0" t="0"/>
          <a:stretch/>
        </p:blipFill>
        <p:spPr>
          <a:xfrm>
            <a:off x="793790" y="1983462"/>
            <a:ext cx="6351270" cy="3925372"/>
          </a:xfrm>
          <a:prstGeom prst="rect">
            <a:avLst/>
          </a:prstGeom>
          <a:noFill/>
          <a:ln>
            <a:noFill/>
          </a:ln>
        </p:spPr>
      </p:pic>
      <p:sp>
        <p:nvSpPr>
          <p:cNvPr id="414" name="Google Shape;414;p15"/>
          <p:cNvSpPr/>
          <p:nvPr/>
        </p:nvSpPr>
        <p:spPr>
          <a:xfrm>
            <a:off x="793800" y="6192326"/>
            <a:ext cx="2835300" cy="427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Face Recognition</a:t>
            </a:r>
            <a:endParaRPr b="0" i="0" sz="2500" u="none" cap="none" strike="noStrike">
              <a:solidFill>
                <a:srgbClr val="000000"/>
              </a:solidFill>
              <a:latin typeface="Arial"/>
              <a:ea typeface="Arial"/>
              <a:cs typeface="Arial"/>
              <a:sym typeface="Arial"/>
            </a:endParaRPr>
          </a:p>
        </p:txBody>
      </p:sp>
      <p:sp>
        <p:nvSpPr>
          <p:cNvPr id="415" name="Google Shape;415;p15"/>
          <p:cNvSpPr/>
          <p:nvPr/>
        </p:nvSpPr>
        <p:spPr>
          <a:xfrm>
            <a:off x="793800" y="6784056"/>
            <a:ext cx="6351300" cy="438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A photo consists of millions of pixels (high dimensions).</a:t>
            </a:r>
            <a:endParaRPr b="0" i="0" sz="2050" u="none" cap="none" strike="noStrike">
              <a:solidFill>
                <a:srgbClr val="000000"/>
              </a:solidFill>
              <a:latin typeface="Arial"/>
              <a:ea typeface="Arial"/>
              <a:cs typeface="Arial"/>
              <a:sym typeface="Arial"/>
            </a:endParaRPr>
          </a:p>
        </p:txBody>
      </p:sp>
      <p:pic>
        <p:nvPicPr>
          <p:cNvPr descr="preencoded.png" id="416" name="Google Shape;416;p15"/>
          <p:cNvPicPr preferRelativeResize="0"/>
          <p:nvPr/>
        </p:nvPicPr>
        <p:blipFill rotWithShape="1">
          <a:blip r:embed="rId4">
            <a:alphaModFix/>
          </a:blip>
          <a:srcRect b="0" l="0" r="0" t="0"/>
          <a:stretch/>
        </p:blipFill>
        <p:spPr>
          <a:xfrm>
            <a:off x="7485221" y="1983462"/>
            <a:ext cx="6351389" cy="3925372"/>
          </a:xfrm>
          <a:prstGeom prst="rect">
            <a:avLst/>
          </a:prstGeom>
          <a:noFill/>
          <a:ln>
            <a:noFill/>
          </a:ln>
        </p:spPr>
      </p:pic>
      <p:sp>
        <p:nvSpPr>
          <p:cNvPr id="417" name="Google Shape;417;p15"/>
          <p:cNvSpPr/>
          <p:nvPr/>
        </p:nvSpPr>
        <p:spPr>
          <a:xfrm>
            <a:off x="7485221" y="6192326"/>
            <a:ext cx="2835300" cy="427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PCA Application</a:t>
            </a:r>
            <a:endParaRPr b="0" i="0" sz="2500" u="none" cap="none" strike="noStrike">
              <a:solidFill>
                <a:srgbClr val="000000"/>
              </a:solidFill>
              <a:latin typeface="Arial"/>
              <a:ea typeface="Arial"/>
              <a:cs typeface="Arial"/>
              <a:sym typeface="Arial"/>
            </a:endParaRPr>
          </a:p>
        </p:txBody>
      </p:sp>
      <p:sp>
        <p:nvSpPr>
          <p:cNvPr id="418" name="Google Shape;418;p15"/>
          <p:cNvSpPr/>
          <p:nvPr/>
        </p:nvSpPr>
        <p:spPr>
          <a:xfrm>
            <a:off x="7485221" y="6784056"/>
            <a:ext cx="6351300" cy="87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PCA reduces dimensions while keeping key features for recognition.</a:t>
            </a:r>
            <a:endParaRPr b="0" i="0" sz="2050" u="none" cap="none" strike="noStrike">
              <a:solidFill>
                <a:srgbClr val="000000"/>
              </a:solidFill>
              <a:latin typeface="Arial"/>
              <a:ea typeface="Arial"/>
              <a:cs typeface="Arial"/>
              <a:sym typeface="Arial"/>
            </a:endParaRPr>
          </a:p>
        </p:txBody>
      </p:sp>
      <p:pic>
        <p:nvPicPr>
          <p:cNvPr descr="preencoded.png" id="419" name="Google Shape;419;p15"/>
          <p:cNvPicPr preferRelativeResize="0"/>
          <p:nvPr/>
        </p:nvPicPr>
        <p:blipFill rotWithShape="1">
          <a:blip r:embed="rId5">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16"/>
          <p:cNvSpPr/>
          <p:nvPr/>
        </p:nvSpPr>
        <p:spPr>
          <a:xfrm>
            <a:off x="793790" y="2100620"/>
            <a:ext cx="1208401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Dimensionality Reduction in Action</a:t>
            </a:r>
            <a:endParaRPr b="0" i="0" sz="4450" u="none" cap="none" strike="noStrike">
              <a:solidFill>
                <a:srgbClr val="000000"/>
              </a:solidFill>
              <a:latin typeface="Arial"/>
              <a:ea typeface="Arial"/>
              <a:cs typeface="Arial"/>
              <a:sym typeface="Arial"/>
            </a:endParaRPr>
          </a:p>
        </p:txBody>
      </p:sp>
      <p:sp>
        <p:nvSpPr>
          <p:cNvPr id="426" name="Google Shape;426;p16"/>
          <p:cNvSpPr/>
          <p:nvPr/>
        </p:nvSpPr>
        <p:spPr>
          <a:xfrm>
            <a:off x="793790" y="3149560"/>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Reduce dataset from 15 to 6 dimensions.</a:t>
            </a:r>
            <a:endParaRPr b="0" i="0" sz="2050" u="none" cap="none" strike="noStrike">
              <a:solidFill>
                <a:srgbClr val="000000"/>
              </a:solidFill>
              <a:latin typeface="Arial"/>
              <a:ea typeface="Arial"/>
              <a:cs typeface="Arial"/>
              <a:sym typeface="Arial"/>
            </a:endParaRPr>
          </a:p>
        </p:txBody>
      </p:sp>
      <p:sp>
        <p:nvSpPr>
          <p:cNvPr id="427" name="Google Shape;427;p16"/>
          <p:cNvSpPr/>
          <p:nvPr/>
        </p:nvSpPr>
        <p:spPr>
          <a:xfrm>
            <a:off x="793790" y="3880961"/>
            <a:ext cx="4120753" cy="74842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5850"/>
              <a:buFont typeface="Platypi Medium"/>
              <a:buNone/>
            </a:pPr>
            <a:r>
              <a:rPr b="0" i="0" lang="en-US" sz="5850" u="none" cap="none" strike="noStrike">
                <a:solidFill>
                  <a:srgbClr val="504C49"/>
                </a:solidFill>
                <a:latin typeface="Platypi Medium"/>
                <a:ea typeface="Platypi Medium"/>
                <a:cs typeface="Platypi Medium"/>
                <a:sym typeface="Platypi Medium"/>
              </a:rPr>
              <a:t>15</a:t>
            </a:r>
            <a:endParaRPr b="0" i="0" sz="5850" u="none" cap="none" strike="noStrike">
              <a:solidFill>
                <a:srgbClr val="000000"/>
              </a:solidFill>
              <a:latin typeface="Arial"/>
              <a:ea typeface="Arial"/>
              <a:cs typeface="Arial"/>
              <a:sym typeface="Arial"/>
            </a:endParaRPr>
          </a:p>
        </p:txBody>
      </p:sp>
      <p:sp>
        <p:nvSpPr>
          <p:cNvPr id="428" name="Google Shape;428;p16"/>
          <p:cNvSpPr/>
          <p:nvPr/>
        </p:nvSpPr>
        <p:spPr>
          <a:xfrm>
            <a:off x="1436489" y="4912757"/>
            <a:ext cx="2835235" cy="35433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Original Features</a:t>
            </a:r>
            <a:endParaRPr b="0" i="0" sz="2500" u="none" cap="none" strike="noStrike">
              <a:solidFill>
                <a:srgbClr val="000000"/>
              </a:solidFill>
              <a:latin typeface="Arial"/>
              <a:ea typeface="Arial"/>
              <a:cs typeface="Arial"/>
              <a:sym typeface="Arial"/>
            </a:endParaRPr>
          </a:p>
        </p:txBody>
      </p:sp>
      <p:sp>
        <p:nvSpPr>
          <p:cNvPr id="429" name="Google Shape;429;p16"/>
          <p:cNvSpPr/>
          <p:nvPr/>
        </p:nvSpPr>
        <p:spPr>
          <a:xfrm>
            <a:off x="793790" y="5403175"/>
            <a:ext cx="4120753" cy="362903"/>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Example: A dataset with 15 features.</a:t>
            </a:r>
            <a:endParaRPr b="0" i="0" sz="2050" u="none" cap="none" strike="noStrike">
              <a:solidFill>
                <a:srgbClr val="000000"/>
              </a:solidFill>
              <a:latin typeface="Arial"/>
              <a:ea typeface="Arial"/>
              <a:cs typeface="Arial"/>
              <a:sym typeface="Arial"/>
            </a:endParaRPr>
          </a:p>
        </p:txBody>
      </p:sp>
      <p:sp>
        <p:nvSpPr>
          <p:cNvPr id="430" name="Google Shape;430;p16"/>
          <p:cNvSpPr/>
          <p:nvPr/>
        </p:nvSpPr>
        <p:spPr>
          <a:xfrm>
            <a:off x="5254704" y="3880961"/>
            <a:ext cx="4120872" cy="74842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5850"/>
              <a:buFont typeface="Platypi Medium"/>
              <a:buNone/>
            </a:pPr>
            <a:r>
              <a:rPr b="0" i="0" lang="en-US" sz="5850" u="none" cap="none" strike="noStrike">
                <a:solidFill>
                  <a:srgbClr val="504C49"/>
                </a:solidFill>
                <a:latin typeface="Platypi Medium"/>
                <a:ea typeface="Platypi Medium"/>
                <a:cs typeface="Platypi Medium"/>
                <a:sym typeface="Platypi Medium"/>
              </a:rPr>
              <a:t>15</a:t>
            </a:r>
            <a:endParaRPr b="0" i="0" sz="5850" u="none" cap="none" strike="noStrike">
              <a:solidFill>
                <a:srgbClr val="000000"/>
              </a:solidFill>
              <a:latin typeface="Arial"/>
              <a:ea typeface="Arial"/>
              <a:cs typeface="Arial"/>
              <a:sym typeface="Arial"/>
            </a:endParaRPr>
          </a:p>
        </p:txBody>
      </p:sp>
      <p:sp>
        <p:nvSpPr>
          <p:cNvPr id="431" name="Google Shape;431;p16"/>
          <p:cNvSpPr/>
          <p:nvPr/>
        </p:nvSpPr>
        <p:spPr>
          <a:xfrm>
            <a:off x="5897523" y="4912757"/>
            <a:ext cx="2835235" cy="35433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Singular Values</a:t>
            </a:r>
            <a:endParaRPr b="0" i="0" sz="2500" u="none" cap="none" strike="noStrike">
              <a:solidFill>
                <a:srgbClr val="000000"/>
              </a:solidFill>
              <a:latin typeface="Arial"/>
              <a:ea typeface="Arial"/>
              <a:cs typeface="Arial"/>
              <a:sym typeface="Arial"/>
            </a:endParaRPr>
          </a:p>
        </p:txBody>
      </p:sp>
      <p:sp>
        <p:nvSpPr>
          <p:cNvPr id="432" name="Google Shape;432;p16"/>
          <p:cNvSpPr/>
          <p:nvPr/>
        </p:nvSpPr>
        <p:spPr>
          <a:xfrm>
            <a:off x="5254704" y="5403175"/>
            <a:ext cx="4120872" cy="725805"/>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Compute SVD → Extract 15 singular values.</a:t>
            </a:r>
            <a:endParaRPr b="0" i="0" sz="2050" u="none" cap="none" strike="noStrike">
              <a:solidFill>
                <a:srgbClr val="000000"/>
              </a:solidFill>
              <a:latin typeface="Arial"/>
              <a:ea typeface="Arial"/>
              <a:cs typeface="Arial"/>
              <a:sym typeface="Arial"/>
            </a:endParaRPr>
          </a:p>
        </p:txBody>
      </p:sp>
      <p:sp>
        <p:nvSpPr>
          <p:cNvPr id="433" name="Google Shape;433;p16"/>
          <p:cNvSpPr/>
          <p:nvPr/>
        </p:nvSpPr>
        <p:spPr>
          <a:xfrm>
            <a:off x="9715738" y="3880961"/>
            <a:ext cx="4120753" cy="74842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04C49"/>
              </a:buClr>
              <a:buSzPts val="5850"/>
              <a:buFont typeface="Platypi Medium"/>
              <a:buNone/>
            </a:pPr>
            <a:r>
              <a:rPr b="0" i="0" lang="en-US" sz="5850" u="none" cap="none" strike="noStrike">
                <a:solidFill>
                  <a:srgbClr val="504C49"/>
                </a:solidFill>
                <a:latin typeface="Platypi Medium"/>
                <a:ea typeface="Platypi Medium"/>
                <a:cs typeface="Platypi Medium"/>
                <a:sym typeface="Platypi Medium"/>
              </a:rPr>
              <a:t>6</a:t>
            </a:r>
            <a:endParaRPr b="0" i="0" sz="5850" u="none" cap="none" strike="noStrike">
              <a:solidFill>
                <a:srgbClr val="000000"/>
              </a:solidFill>
              <a:latin typeface="Arial"/>
              <a:ea typeface="Arial"/>
              <a:cs typeface="Arial"/>
              <a:sym typeface="Arial"/>
            </a:endParaRPr>
          </a:p>
        </p:txBody>
      </p:sp>
      <p:sp>
        <p:nvSpPr>
          <p:cNvPr id="434" name="Google Shape;434;p16"/>
          <p:cNvSpPr/>
          <p:nvPr/>
        </p:nvSpPr>
        <p:spPr>
          <a:xfrm>
            <a:off x="10328327" y="4912750"/>
            <a:ext cx="3296100" cy="3543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Reduced Dimensions</a:t>
            </a:r>
            <a:endParaRPr b="0" i="0" sz="2500" u="none" cap="none" strike="noStrike">
              <a:solidFill>
                <a:srgbClr val="000000"/>
              </a:solidFill>
              <a:latin typeface="Arial"/>
              <a:ea typeface="Arial"/>
              <a:cs typeface="Arial"/>
              <a:sym typeface="Arial"/>
            </a:endParaRPr>
          </a:p>
        </p:txBody>
      </p:sp>
      <p:sp>
        <p:nvSpPr>
          <p:cNvPr id="435" name="Google Shape;435;p16"/>
          <p:cNvSpPr/>
          <p:nvPr/>
        </p:nvSpPr>
        <p:spPr>
          <a:xfrm>
            <a:off x="9715738" y="5403175"/>
            <a:ext cx="4120753" cy="725805"/>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Notice after 6 components, variation is negligible.</a:t>
            </a:r>
            <a:endParaRPr b="0" i="0" sz="2050" u="none" cap="none" strike="noStrike">
              <a:solidFill>
                <a:srgbClr val="000000"/>
              </a:solidFill>
              <a:latin typeface="Arial"/>
              <a:ea typeface="Arial"/>
              <a:cs typeface="Arial"/>
              <a:sym typeface="Arial"/>
            </a:endParaRPr>
          </a:p>
        </p:txBody>
      </p:sp>
      <p:pic>
        <p:nvPicPr>
          <p:cNvPr descr="preencoded.png" id="436" name="Google Shape;436;p16"/>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0"/>
          <p:cNvSpPr/>
          <p:nvPr/>
        </p:nvSpPr>
        <p:spPr>
          <a:xfrm>
            <a:off x="793790" y="760334"/>
            <a:ext cx="935351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PCA in Machine Learning</a:t>
            </a:r>
            <a:endParaRPr b="0" i="0" sz="4450" u="none" cap="none" strike="noStrike">
              <a:solidFill>
                <a:srgbClr val="000000"/>
              </a:solidFill>
              <a:latin typeface="Arial"/>
              <a:ea typeface="Arial"/>
              <a:cs typeface="Arial"/>
              <a:sym typeface="Arial"/>
            </a:endParaRPr>
          </a:p>
        </p:txBody>
      </p:sp>
      <p:sp>
        <p:nvSpPr>
          <p:cNvPr id="443" name="Google Shape;443;p20"/>
          <p:cNvSpPr/>
          <p:nvPr/>
        </p:nvSpPr>
        <p:spPr>
          <a:xfrm>
            <a:off x="793790" y="1922741"/>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Used in various fields:</a:t>
            </a:r>
            <a:endParaRPr b="0" i="0" sz="2050" u="none" cap="none" strike="noStrike">
              <a:solidFill>
                <a:srgbClr val="000000"/>
              </a:solidFill>
              <a:latin typeface="Arial"/>
              <a:ea typeface="Arial"/>
              <a:cs typeface="Arial"/>
              <a:sym typeface="Arial"/>
            </a:endParaRPr>
          </a:p>
        </p:txBody>
      </p:sp>
      <p:pic>
        <p:nvPicPr>
          <p:cNvPr descr="preencoded.png" id="444" name="Google Shape;444;p20"/>
          <p:cNvPicPr preferRelativeResize="0"/>
          <p:nvPr/>
        </p:nvPicPr>
        <p:blipFill rotWithShape="1">
          <a:blip r:embed="rId3">
            <a:alphaModFix/>
          </a:blip>
          <a:srcRect b="0" l="0" r="0" t="0"/>
          <a:stretch/>
        </p:blipFill>
        <p:spPr>
          <a:xfrm>
            <a:off x="793790" y="2540794"/>
            <a:ext cx="3005495" cy="1857494"/>
          </a:xfrm>
          <a:prstGeom prst="rect">
            <a:avLst/>
          </a:prstGeom>
          <a:noFill/>
          <a:ln>
            <a:noFill/>
          </a:ln>
        </p:spPr>
      </p:pic>
      <p:sp>
        <p:nvSpPr>
          <p:cNvPr id="445" name="Google Shape;445;p20"/>
          <p:cNvSpPr/>
          <p:nvPr/>
        </p:nvSpPr>
        <p:spPr>
          <a:xfrm>
            <a:off x="793790" y="4681776"/>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Image Processing</a:t>
            </a:r>
            <a:endParaRPr b="0" i="0" sz="2500" u="none" cap="none" strike="noStrike">
              <a:solidFill>
                <a:srgbClr val="000000"/>
              </a:solidFill>
              <a:latin typeface="Arial"/>
              <a:ea typeface="Arial"/>
              <a:cs typeface="Arial"/>
              <a:sym typeface="Arial"/>
            </a:endParaRPr>
          </a:p>
        </p:txBody>
      </p:sp>
      <p:sp>
        <p:nvSpPr>
          <p:cNvPr id="446" name="Google Shape;446;p20"/>
          <p:cNvSpPr/>
          <p:nvPr/>
        </p:nvSpPr>
        <p:spPr>
          <a:xfrm>
            <a:off x="793790" y="5172195"/>
            <a:ext cx="3005495"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Facial recognition systems use PCA to extract key features while reducing image data complexity.</a:t>
            </a:r>
            <a:endParaRPr b="0" i="0" sz="2050" u="none" cap="none" strike="noStrike">
              <a:solidFill>
                <a:srgbClr val="000000"/>
              </a:solidFill>
              <a:latin typeface="Arial"/>
              <a:ea typeface="Arial"/>
              <a:cs typeface="Arial"/>
              <a:sym typeface="Arial"/>
            </a:endParaRPr>
          </a:p>
        </p:txBody>
      </p:sp>
      <p:pic>
        <p:nvPicPr>
          <p:cNvPr descr="preencoded.png" id="447" name="Google Shape;447;p20"/>
          <p:cNvPicPr preferRelativeResize="0"/>
          <p:nvPr/>
        </p:nvPicPr>
        <p:blipFill rotWithShape="1">
          <a:blip r:embed="rId4">
            <a:alphaModFix/>
          </a:blip>
          <a:srcRect b="0" l="0" r="0" t="0"/>
          <a:stretch/>
        </p:blipFill>
        <p:spPr>
          <a:xfrm>
            <a:off x="4139446" y="2540794"/>
            <a:ext cx="3005614" cy="1857494"/>
          </a:xfrm>
          <a:prstGeom prst="rect">
            <a:avLst/>
          </a:prstGeom>
          <a:noFill/>
          <a:ln>
            <a:noFill/>
          </a:ln>
        </p:spPr>
      </p:pic>
      <p:sp>
        <p:nvSpPr>
          <p:cNvPr id="448" name="Google Shape;448;p20"/>
          <p:cNvSpPr/>
          <p:nvPr/>
        </p:nvSpPr>
        <p:spPr>
          <a:xfrm>
            <a:off x="4139446" y="4681776"/>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Finance</a:t>
            </a:r>
            <a:endParaRPr b="0" i="0" sz="2500" u="none" cap="none" strike="noStrike">
              <a:solidFill>
                <a:srgbClr val="000000"/>
              </a:solidFill>
              <a:latin typeface="Arial"/>
              <a:ea typeface="Arial"/>
              <a:cs typeface="Arial"/>
              <a:sym typeface="Arial"/>
            </a:endParaRPr>
          </a:p>
        </p:txBody>
      </p:sp>
      <p:sp>
        <p:nvSpPr>
          <p:cNvPr id="449" name="Google Shape;449;p20"/>
          <p:cNvSpPr/>
          <p:nvPr/>
        </p:nvSpPr>
        <p:spPr>
          <a:xfrm>
            <a:off x="4139446" y="5172195"/>
            <a:ext cx="3005614"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Stock market analysis uses PCA to identify patterns by reducing numerous variables to core components.</a:t>
            </a:r>
            <a:endParaRPr b="0" i="0" sz="2050" u="none" cap="none" strike="noStrike">
              <a:solidFill>
                <a:srgbClr val="000000"/>
              </a:solidFill>
              <a:latin typeface="Arial"/>
              <a:ea typeface="Arial"/>
              <a:cs typeface="Arial"/>
              <a:sym typeface="Arial"/>
            </a:endParaRPr>
          </a:p>
        </p:txBody>
      </p:sp>
      <p:pic>
        <p:nvPicPr>
          <p:cNvPr descr="preencoded.png" id="450" name="Google Shape;450;p20"/>
          <p:cNvPicPr preferRelativeResize="0"/>
          <p:nvPr/>
        </p:nvPicPr>
        <p:blipFill rotWithShape="1">
          <a:blip r:embed="rId5">
            <a:alphaModFix/>
          </a:blip>
          <a:srcRect b="0" l="0" r="0" t="0"/>
          <a:stretch/>
        </p:blipFill>
        <p:spPr>
          <a:xfrm>
            <a:off x="7485221" y="2540794"/>
            <a:ext cx="3005614" cy="1857494"/>
          </a:xfrm>
          <a:prstGeom prst="rect">
            <a:avLst/>
          </a:prstGeom>
          <a:noFill/>
          <a:ln>
            <a:noFill/>
          </a:ln>
        </p:spPr>
      </p:pic>
      <p:sp>
        <p:nvSpPr>
          <p:cNvPr id="451" name="Google Shape;451;p20"/>
          <p:cNvSpPr/>
          <p:nvPr/>
        </p:nvSpPr>
        <p:spPr>
          <a:xfrm>
            <a:off x="7485221" y="4681776"/>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Genetics</a:t>
            </a:r>
            <a:endParaRPr b="0" i="0" sz="2500" u="none" cap="none" strike="noStrike">
              <a:solidFill>
                <a:srgbClr val="000000"/>
              </a:solidFill>
              <a:latin typeface="Arial"/>
              <a:ea typeface="Arial"/>
              <a:cs typeface="Arial"/>
              <a:sym typeface="Arial"/>
            </a:endParaRPr>
          </a:p>
        </p:txBody>
      </p:sp>
      <p:sp>
        <p:nvSpPr>
          <p:cNvPr id="452" name="Google Shape;452;p20"/>
          <p:cNvSpPr/>
          <p:nvPr/>
        </p:nvSpPr>
        <p:spPr>
          <a:xfrm>
            <a:off x="7485221" y="5172195"/>
            <a:ext cx="3005614"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Gene expression analysis applies PCA to simplify complex genetic datasets while preserving biological variations.</a:t>
            </a:r>
            <a:endParaRPr b="0" i="0" sz="2050" u="none" cap="none" strike="noStrike">
              <a:solidFill>
                <a:srgbClr val="000000"/>
              </a:solidFill>
              <a:latin typeface="Arial"/>
              <a:ea typeface="Arial"/>
              <a:cs typeface="Arial"/>
              <a:sym typeface="Arial"/>
            </a:endParaRPr>
          </a:p>
        </p:txBody>
      </p:sp>
      <p:pic>
        <p:nvPicPr>
          <p:cNvPr descr="preencoded.png" id="453" name="Google Shape;453;p20"/>
          <p:cNvPicPr preferRelativeResize="0"/>
          <p:nvPr/>
        </p:nvPicPr>
        <p:blipFill rotWithShape="1">
          <a:blip r:embed="rId6">
            <a:alphaModFix/>
          </a:blip>
          <a:srcRect b="0" l="0" r="0" t="0"/>
          <a:stretch/>
        </p:blipFill>
        <p:spPr>
          <a:xfrm>
            <a:off x="10830997" y="2540794"/>
            <a:ext cx="3005614" cy="1857494"/>
          </a:xfrm>
          <a:prstGeom prst="rect">
            <a:avLst/>
          </a:prstGeom>
          <a:noFill/>
          <a:ln>
            <a:noFill/>
          </a:ln>
        </p:spPr>
      </p:pic>
      <p:sp>
        <p:nvSpPr>
          <p:cNvPr id="454" name="Google Shape;454;p20"/>
          <p:cNvSpPr/>
          <p:nvPr/>
        </p:nvSpPr>
        <p:spPr>
          <a:xfrm>
            <a:off x="10831001" y="4681780"/>
            <a:ext cx="33654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Speech Recognition</a:t>
            </a:r>
            <a:endParaRPr b="0" i="0" sz="2500" u="none" cap="none" strike="noStrike">
              <a:solidFill>
                <a:srgbClr val="000000"/>
              </a:solidFill>
              <a:latin typeface="Arial"/>
              <a:ea typeface="Arial"/>
              <a:cs typeface="Arial"/>
              <a:sym typeface="Arial"/>
            </a:endParaRPr>
          </a:p>
        </p:txBody>
      </p:sp>
      <p:sp>
        <p:nvSpPr>
          <p:cNvPr id="455" name="Google Shape;455;p20"/>
          <p:cNvSpPr/>
          <p:nvPr/>
        </p:nvSpPr>
        <p:spPr>
          <a:xfrm>
            <a:off x="10830997" y="5172195"/>
            <a:ext cx="3005614"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Audio processing uses PCA to separate important sound components from background noise.</a:t>
            </a:r>
            <a:endParaRPr b="0" i="0" sz="2050" u="none" cap="none" strike="noStrike">
              <a:solidFill>
                <a:srgbClr val="000000"/>
              </a:solidFill>
              <a:latin typeface="Arial"/>
              <a:ea typeface="Arial"/>
              <a:cs typeface="Arial"/>
              <a:sym typeface="Arial"/>
            </a:endParaRPr>
          </a:p>
        </p:txBody>
      </p:sp>
      <p:pic>
        <p:nvPicPr>
          <p:cNvPr descr="preencoded.png" id="456" name="Google Shape;456;p20"/>
          <p:cNvPicPr preferRelativeResize="0"/>
          <p:nvPr/>
        </p:nvPicPr>
        <p:blipFill rotWithShape="1">
          <a:blip r:embed="rId7">
            <a:alphaModFix/>
          </a:blip>
          <a:srcRect b="0" l="0" r="0" t="0"/>
          <a:stretch/>
        </p:blipFill>
        <p:spPr>
          <a:xfrm>
            <a:off x="13624560" y="228600"/>
            <a:ext cx="777240" cy="60876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1"/>
          <p:cNvSpPr/>
          <p:nvPr/>
        </p:nvSpPr>
        <p:spPr>
          <a:xfrm>
            <a:off x="793790" y="1750338"/>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01B18"/>
              </a:buClr>
              <a:buSzPts val="4450"/>
              <a:buFont typeface="Platypi Medium"/>
              <a:buNone/>
            </a:pPr>
            <a:r>
              <a:rPr b="0" i="0" lang="en-US" sz="4450" u="none" cap="none" strike="noStrike">
                <a:solidFill>
                  <a:srgbClr val="201B18"/>
                </a:solidFill>
                <a:latin typeface="Platypi Medium"/>
                <a:ea typeface="Platypi Medium"/>
                <a:cs typeface="Platypi Medium"/>
                <a:sym typeface="Platypi Medium"/>
              </a:rPr>
              <a:t>Conclusion</a:t>
            </a:r>
            <a:endParaRPr b="0" i="0" sz="4450" u="none" cap="none" strike="noStrike">
              <a:solidFill>
                <a:srgbClr val="000000"/>
              </a:solidFill>
              <a:latin typeface="Arial"/>
              <a:ea typeface="Arial"/>
              <a:cs typeface="Arial"/>
              <a:sym typeface="Arial"/>
            </a:endParaRPr>
          </a:p>
        </p:txBody>
      </p:sp>
      <p:sp>
        <p:nvSpPr>
          <p:cNvPr id="463" name="Google Shape;463;p21"/>
          <p:cNvSpPr/>
          <p:nvPr/>
        </p:nvSpPr>
        <p:spPr>
          <a:xfrm>
            <a:off x="793790" y="2912745"/>
            <a:ext cx="6408063" cy="1669852"/>
          </a:xfrm>
          <a:prstGeom prst="roundRect">
            <a:avLst>
              <a:gd fmla="val 2038"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464" name="Google Shape;464;p21"/>
          <p:cNvSpPr/>
          <p:nvPr/>
        </p:nvSpPr>
        <p:spPr>
          <a:xfrm>
            <a:off x="1020598" y="3139550"/>
            <a:ext cx="42378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Dimension Reduction</a:t>
            </a:r>
            <a:endParaRPr b="0" i="0" sz="2500" u="none" cap="none" strike="noStrike">
              <a:solidFill>
                <a:srgbClr val="000000"/>
              </a:solidFill>
              <a:latin typeface="Arial"/>
              <a:ea typeface="Arial"/>
              <a:cs typeface="Arial"/>
              <a:sym typeface="Arial"/>
            </a:endParaRPr>
          </a:p>
        </p:txBody>
      </p:sp>
      <p:sp>
        <p:nvSpPr>
          <p:cNvPr id="465" name="Google Shape;465;p21"/>
          <p:cNvSpPr/>
          <p:nvPr/>
        </p:nvSpPr>
        <p:spPr>
          <a:xfrm>
            <a:off x="1020604" y="3629978"/>
            <a:ext cx="595443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PCA helps reduce dimensions while retaining important variations.</a:t>
            </a:r>
            <a:endParaRPr b="0" i="0" sz="2050" u="none" cap="none" strike="noStrike">
              <a:solidFill>
                <a:srgbClr val="000000"/>
              </a:solidFill>
              <a:latin typeface="Arial"/>
              <a:ea typeface="Arial"/>
              <a:cs typeface="Arial"/>
              <a:sym typeface="Arial"/>
            </a:endParaRPr>
          </a:p>
        </p:txBody>
      </p:sp>
      <p:sp>
        <p:nvSpPr>
          <p:cNvPr id="466" name="Google Shape;466;p21"/>
          <p:cNvSpPr/>
          <p:nvPr/>
        </p:nvSpPr>
        <p:spPr>
          <a:xfrm>
            <a:off x="7428667" y="2912745"/>
            <a:ext cx="6408063" cy="1669852"/>
          </a:xfrm>
          <a:prstGeom prst="roundRect">
            <a:avLst>
              <a:gd fmla="val 2038"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467" name="Google Shape;467;p21"/>
          <p:cNvSpPr/>
          <p:nvPr/>
        </p:nvSpPr>
        <p:spPr>
          <a:xfrm>
            <a:off x="7655471" y="3139550"/>
            <a:ext cx="46848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Data Simplification</a:t>
            </a:r>
            <a:endParaRPr b="0" i="0" sz="2500" u="none" cap="none" strike="noStrike">
              <a:solidFill>
                <a:srgbClr val="000000"/>
              </a:solidFill>
              <a:latin typeface="Arial"/>
              <a:ea typeface="Arial"/>
              <a:cs typeface="Arial"/>
              <a:sym typeface="Arial"/>
            </a:endParaRPr>
          </a:p>
        </p:txBody>
      </p:sp>
      <p:sp>
        <p:nvSpPr>
          <p:cNvPr id="468" name="Google Shape;468;p21"/>
          <p:cNvSpPr/>
          <p:nvPr/>
        </p:nvSpPr>
        <p:spPr>
          <a:xfrm>
            <a:off x="7655481" y="3629978"/>
            <a:ext cx="595443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It simplifies complex data, enhances visualization, and improves efficiency.</a:t>
            </a:r>
            <a:endParaRPr b="0" i="0" sz="2050" u="none" cap="none" strike="noStrike">
              <a:solidFill>
                <a:srgbClr val="000000"/>
              </a:solidFill>
              <a:latin typeface="Arial"/>
              <a:ea typeface="Arial"/>
              <a:cs typeface="Arial"/>
              <a:sym typeface="Arial"/>
            </a:endParaRPr>
          </a:p>
        </p:txBody>
      </p:sp>
      <p:sp>
        <p:nvSpPr>
          <p:cNvPr id="469" name="Google Shape;469;p21"/>
          <p:cNvSpPr/>
          <p:nvPr/>
        </p:nvSpPr>
        <p:spPr>
          <a:xfrm>
            <a:off x="4819947" y="4959608"/>
            <a:ext cx="6408063" cy="1669852"/>
          </a:xfrm>
          <a:prstGeom prst="roundRect">
            <a:avLst>
              <a:gd fmla="val 2038" name="adj"/>
            </a:avLst>
          </a:prstGeom>
          <a:solidFill>
            <a:srgbClr val="F9F7F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sp>
        <p:nvSpPr>
          <p:cNvPr id="470" name="Google Shape;470;p21"/>
          <p:cNvSpPr/>
          <p:nvPr/>
        </p:nvSpPr>
        <p:spPr>
          <a:xfrm>
            <a:off x="5046762" y="512266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04C49"/>
              </a:buClr>
              <a:buSzPts val="2200"/>
              <a:buFont typeface="Platypi Medium"/>
              <a:buNone/>
            </a:pPr>
            <a:r>
              <a:rPr b="0" i="0" lang="en-US" sz="2500" u="none" cap="none" strike="noStrike">
                <a:solidFill>
                  <a:srgbClr val="504C49"/>
                </a:solidFill>
                <a:latin typeface="Platypi Medium"/>
                <a:ea typeface="Platypi Medium"/>
                <a:cs typeface="Platypi Medium"/>
                <a:sym typeface="Platypi Medium"/>
              </a:rPr>
              <a:t>Variance Focus</a:t>
            </a:r>
            <a:endParaRPr b="0" i="0" sz="2500" u="none" cap="none" strike="noStrike">
              <a:solidFill>
                <a:srgbClr val="000000"/>
              </a:solidFill>
              <a:latin typeface="Arial"/>
              <a:ea typeface="Arial"/>
              <a:cs typeface="Arial"/>
              <a:sym typeface="Arial"/>
            </a:endParaRPr>
          </a:p>
        </p:txBody>
      </p:sp>
      <p:sp>
        <p:nvSpPr>
          <p:cNvPr id="471" name="Google Shape;471;p21"/>
          <p:cNvSpPr/>
          <p:nvPr/>
        </p:nvSpPr>
        <p:spPr>
          <a:xfrm>
            <a:off x="5046762" y="5613083"/>
            <a:ext cx="595443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04C49"/>
              </a:buClr>
              <a:buSzPts val="1750"/>
              <a:buFont typeface="Arial"/>
              <a:buNone/>
            </a:pPr>
            <a:r>
              <a:rPr b="0" i="0" lang="en-US" sz="2050" u="none" cap="none" strike="noStrike">
                <a:solidFill>
                  <a:srgbClr val="504C49"/>
                </a:solidFill>
                <a:latin typeface="Arial"/>
                <a:ea typeface="Arial"/>
                <a:cs typeface="Arial"/>
                <a:sym typeface="Arial"/>
              </a:rPr>
              <a:t>Understanding variance is the key to PCA success.</a:t>
            </a:r>
            <a:endParaRPr b="0" i="0" sz="2050" u="none" cap="none" strike="noStrike">
              <a:solidFill>
                <a:srgbClr val="000000"/>
              </a:solidFill>
              <a:latin typeface="Arial"/>
              <a:ea typeface="Arial"/>
              <a:cs typeface="Arial"/>
              <a:sym typeface="Arial"/>
            </a:endParaRPr>
          </a:p>
        </p:txBody>
      </p:sp>
      <p:pic>
        <p:nvPicPr>
          <p:cNvPr descr="preencoded.png" id="472" name="Google Shape;472;p21"/>
          <p:cNvPicPr preferRelativeResize="0"/>
          <p:nvPr/>
        </p:nvPicPr>
        <p:blipFill rotWithShape="1">
          <a:blip r:embed="rId3">
            <a:alphaModFix/>
          </a:blip>
          <a:srcRect b="0" l="0" r="0" t="0"/>
          <a:stretch/>
        </p:blipFill>
        <p:spPr>
          <a:xfrm>
            <a:off x="13624560" y="228600"/>
            <a:ext cx="777240" cy="60876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2025-03-10T07:37:13Z</dcterms:created>
  <dc:creator>PptxGenJS</dc:creator>
</cp:coreProperties>
</file>