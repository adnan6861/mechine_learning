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8229600" cx="14630400"/>
  <p:notesSz cx="8229600" cy="14630400"/>
  <p:embeddedFontLst>
    <p:embeddedFont>
      <p:font typeface="Platypi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m0mlvKRrdNCk4M6VGjCthkhD+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latypiMedium-bold.fntdata"/><Relationship Id="rId21" Type="http://schemas.openxmlformats.org/officeDocument/2006/relationships/font" Target="fonts/PlatypiMedium-regular.fntdata"/><Relationship Id="rId24" Type="http://schemas.openxmlformats.org/officeDocument/2006/relationships/font" Target="fonts/PlatypiMedium-boldItalic.fntdata"/><Relationship Id="rId23" Type="http://schemas.openxmlformats.org/officeDocument/2006/relationships/font" Target="fonts/Platypi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preparation is a critical first step in any data analysis or machine learning project</a:t>
            </a:r>
            <a:br>
              <a:rPr lang="en-US"/>
            </a:br>
            <a:br>
              <a:rPr lang="en-US"/>
            </a:br>
            <a:r>
              <a:rPr lang="en-US"/>
              <a:t>The goal is to transform raw data into a clean, structured format that can be effectively analyzed</a:t>
            </a:r>
            <a:br>
              <a:rPr lang="en-US"/>
            </a:br>
            <a:br>
              <a:rPr lang="en-US"/>
            </a:br>
            <a:r>
              <a:rPr lang="en-US"/>
              <a:t>Let's walk through the key steps in the data preparation process</a:t>
            </a:r>
            <a:br>
              <a:rPr lang="en-US"/>
            </a:br>
            <a:br>
              <a:rPr lang="en-US"/>
            </a:br>
            <a:r>
              <a:rPr lang="en-US"/>
              <a:t>First, we need to load the data into our analysis environment. This involves importing the dataset, whether it's a CSV file, database, or other format</a:t>
            </a:r>
            <a:br>
              <a:rPr lang="en-US"/>
            </a:br>
            <a:br>
              <a:rPr lang="en-US"/>
            </a:br>
            <a:r>
              <a:rPr lang="en-US"/>
              <a:t>It's important to understand the structure and contents of the data at this stage</a:t>
            </a:r>
            <a:br>
              <a:rPr lang="en-US"/>
            </a:br>
            <a:br>
              <a:rPr lang="en-US"/>
            </a:br>
            <a:r>
              <a:rPr lang="en-US"/>
              <a:t>Next, we need to handle any missing values in the data. This could involve techniques like imputation, dropping rows/columns, or other data cleaning methods</a:t>
            </a:r>
            <a:br>
              <a:rPr lang="en-US"/>
            </a:br>
            <a:br>
              <a:rPr lang="en-US"/>
            </a:br>
            <a:r>
              <a:rPr lang="en-US"/>
              <a:t>Choosing the right approach depends on the nature of the missing data and the goals of the analysis</a:t>
            </a:r>
            <a:br>
              <a:rPr lang="en-US"/>
            </a:br>
            <a:br>
              <a:rPr lang="en-US"/>
            </a:br>
            <a:r>
              <a:rPr lang="en-US"/>
              <a:t>After cleaning, we'll want to normalize the features in the data. This helps ensure that all variables are on a similar scale, which is important for many machine learning algorithms</a:t>
            </a:r>
            <a:br>
              <a:rPr lang="en-US"/>
            </a:br>
            <a:br>
              <a:rPr lang="en-US"/>
            </a:br>
            <a:r>
              <a:rPr lang="en-US"/>
              <a:t>Common normalization techniques include min-max scaling, z-score normalization, and log transformation</a:t>
            </a:r>
            <a:br>
              <a:rPr lang="en-US"/>
            </a:br>
            <a:br>
              <a:rPr lang="en-US"/>
            </a:br>
            <a:r>
              <a:rPr lang="en-US"/>
              <a:t>Finally, we'll select the most relevant features for our analysis or modeling. This feature engineering step can have a big impact on the performance of our models</a:t>
            </a:r>
            <a:br>
              <a:rPr lang="en-US"/>
            </a:br>
            <a:br>
              <a:rPr lang="en-US"/>
            </a:br>
            <a:r>
              <a:rPr lang="en-US"/>
              <a:t>We might use techniques like correlation analysis, recursive feature elimination, or domain expertise to identify the most informative attributes</a:t>
            </a:r>
            <a:endParaRPr/>
          </a:p>
        </p:txBody>
      </p:sp>
      <p:sp>
        <p:nvSpPr>
          <p:cNvPr id="291" name="Google Shape;29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Relationship Id="rId5" Type="http://schemas.openxmlformats.org/officeDocument/2006/relationships/image" Target="../media/image38.png"/><Relationship Id="rId6" Type="http://schemas.openxmlformats.org/officeDocument/2006/relationships/image" Target="../media/image20.png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25.png"/><Relationship Id="rId7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95895"/>
            <a:ext cx="5292923" cy="287071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/>
          <p:nvPr/>
        </p:nvSpPr>
        <p:spPr>
          <a:xfrm>
            <a:off x="793790" y="5521762"/>
            <a:ext cx="529292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6647736" y="261211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6647736" y="3547705"/>
            <a:ext cx="7196376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14: Hierarchical Clustering 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6647736" y="5192078"/>
            <a:ext cx="458164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Instructor: Dr. Shazia Saqib</a:t>
            </a:r>
            <a:endParaRPr b="0" i="0" sz="2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9" name="Google Shape;6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3075" y="228600"/>
            <a:ext cx="1398725" cy="1095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03065" y="6684210"/>
            <a:ext cx="1398746" cy="139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25" y="1900325"/>
            <a:ext cx="5975051" cy="49504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/>
          <p:nvPr/>
        </p:nvSpPr>
        <p:spPr>
          <a:xfrm>
            <a:off x="6465390" y="2436439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Introduction to Hierarchical Clustering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465390" y="4194159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Unsupervised learning method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465390" y="4812212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Builds clusters in hierarchical tree-like structure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465390" y="5430266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Forms clusters by merging or splitting data points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" name="Google Shape;8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629126" y="296748"/>
            <a:ext cx="7078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00"/>
              <a:buFont typeface="Platypi Medium"/>
              <a:buNone/>
            </a:pPr>
            <a:r>
              <a:rPr b="0" i="0" lang="en-US" sz="35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Types of Hierarchical Clustering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29125" y="1056075"/>
            <a:ext cx="6596400" cy="2969100"/>
          </a:xfrm>
          <a:prstGeom prst="roundRect">
            <a:avLst>
              <a:gd fmla="val 135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08791" y="1324659"/>
            <a:ext cx="6237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Agglomerative Clustering (Bottom-Up)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08791" y="1848659"/>
            <a:ext cx="6237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Starts with each data point as a separate cluster.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08791" y="2372658"/>
            <a:ext cx="62370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Iteratively merges the closest clusters until a single cluster remains or a desired number of clusters is reached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405100" y="1056075"/>
            <a:ext cx="6596400" cy="3166800"/>
          </a:xfrm>
          <a:prstGeom prst="roundRect">
            <a:avLst>
              <a:gd fmla="val 135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584764" y="1324659"/>
            <a:ext cx="6237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Divisive Clustering (Top-Down)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584764" y="1848659"/>
            <a:ext cx="6237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Starts with all data points in a single cluster.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584764" y="2372658"/>
            <a:ext cx="6237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Recursively splits clusters into smaller ones based on dissimilarity.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584764" y="3289132"/>
            <a:ext cx="62370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Less common and computationally expensive compared to agglomerative clustering.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8449" y="4222775"/>
            <a:ext cx="7933494" cy="38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6280190" y="119455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Hierarchical Clustering Works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95227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7754425" y="2952275"/>
            <a:ext cx="2835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Agglomerative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754425" y="3512337"/>
            <a:ext cx="6082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Merges smaller clusters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431315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7754425" y="4506417"/>
            <a:ext cx="2835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Divisive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754425" y="5066480"/>
            <a:ext cx="6082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Splits larger clusters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674042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7754425" y="6060560"/>
            <a:ext cx="2835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Step-by-step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754425" y="6620622"/>
            <a:ext cx="6082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Builds clusters progressively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704" t="3762"/>
          <a:stretch/>
        </p:blipFill>
        <p:spPr>
          <a:xfrm>
            <a:off x="121625" y="1874025"/>
            <a:ext cx="7505350" cy="52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7997547" y="537567"/>
            <a:ext cx="5950506" cy="1218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800"/>
              <a:buFont typeface="Platypi Medium"/>
              <a:buNone/>
            </a:pPr>
            <a:r>
              <a:rPr b="0" i="0" lang="en-US" sz="38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Linkage Criteria Progression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997547" y="2267783"/>
            <a:ext cx="438626" cy="438626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070652" y="2304336"/>
            <a:ext cx="29241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3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8631079" y="2267783"/>
            <a:ext cx="2437209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Single Linkage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8631079" y="2689265"/>
            <a:ext cx="5316974" cy="6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Simplest method - measures distance between closest points between clusters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7997547" y="3727371"/>
            <a:ext cx="438626" cy="438626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8070652" y="3763923"/>
            <a:ext cx="29241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3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8631072" y="3727375"/>
            <a:ext cx="45639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Complete Linkage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8631079" y="4148852"/>
            <a:ext cx="5316974" cy="6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More comprehensive - considers farthest points between clusters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997547" y="5186958"/>
            <a:ext cx="438626" cy="438626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8070652" y="5223510"/>
            <a:ext cx="29241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3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8631079" y="5186958"/>
            <a:ext cx="2437209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Average Linkage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8631079" y="5608439"/>
            <a:ext cx="5316974" cy="6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Advanced approach - calculates average distance between all points in clusters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7997547" y="6646545"/>
            <a:ext cx="438626" cy="438626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8070652" y="6683097"/>
            <a:ext cx="29241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3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8631079" y="6646545"/>
            <a:ext cx="2437209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Ward's Method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8631079" y="7068026"/>
            <a:ext cx="5316974" cy="6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Most sophisticated - minimizes variance within clusters for optimal grouping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9" name="Google Shape;1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480018" y="1455585"/>
            <a:ext cx="9513068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150"/>
              <a:buFont typeface="Platypi Medium"/>
              <a:buNone/>
            </a:pPr>
            <a:r>
              <a:rPr b="0" i="0" lang="en-US" sz="41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Linkage Methods Overview</a:t>
            </a:r>
            <a:endParaRPr b="0" i="0" sz="4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80019" y="2671809"/>
            <a:ext cx="475800" cy="475800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55" y="2711397"/>
            <a:ext cx="317302" cy="39659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1167365" y="2671809"/>
            <a:ext cx="26442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4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Single Linkage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167390" y="3235822"/>
            <a:ext cx="3555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Shortest distance between clusters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933790" y="2671809"/>
            <a:ext cx="475800" cy="475800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1" name="Google Shape;1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3026" y="2711397"/>
            <a:ext cx="317302" cy="39659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5621122" y="2671800"/>
            <a:ext cx="32514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4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Complete Linkage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621161" y="3235822"/>
            <a:ext cx="3555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Longest distance between clusters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9387561" y="2671809"/>
            <a:ext cx="475800" cy="475800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5" name="Google Shape;15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6797" y="2711397"/>
            <a:ext cx="317302" cy="39659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10074908" y="2671809"/>
            <a:ext cx="26442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4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Average Linkage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0074932" y="3235822"/>
            <a:ext cx="3555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Average distance between clusters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6"/>
          <p:cNvPicPr preferRelativeResize="0"/>
          <p:nvPr/>
        </p:nvPicPr>
        <p:blipFill rotWithShape="1">
          <a:blip r:embed="rId6">
            <a:alphaModFix/>
          </a:blip>
          <a:srcRect b="0" l="0" r="0" t="16282"/>
          <a:stretch/>
        </p:blipFill>
        <p:spPr>
          <a:xfrm>
            <a:off x="480025" y="4449372"/>
            <a:ext cx="4595878" cy="2973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52874" y="4895676"/>
            <a:ext cx="4091575" cy="20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54488" y="4788463"/>
            <a:ext cx="4595875" cy="2295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6280190" y="2186940"/>
            <a:ext cx="718543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Single Linkage Method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280190" y="349103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017306" y="34910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017306" y="3981450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Shortest distance between any pair of points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0171867" y="349103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0908983" y="34910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Measurement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0908983" y="3981450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Considers closest points in two clusters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280190" y="5546270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017306" y="554627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Characteristic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017306" y="6036688"/>
            <a:ext cx="68193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Sensitive to outliers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7"/>
          <p:cNvPicPr preferRelativeResize="0"/>
          <p:nvPr/>
        </p:nvPicPr>
        <p:blipFill rotWithShape="1">
          <a:blip r:embed="rId4">
            <a:alphaModFix/>
          </a:blip>
          <a:srcRect b="0" l="0" r="0" t="16282"/>
          <a:stretch/>
        </p:blipFill>
        <p:spPr>
          <a:xfrm>
            <a:off x="146050" y="2411212"/>
            <a:ext cx="5975400" cy="386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793789" y="798076"/>
            <a:ext cx="10374953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Complete Linkage Method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020629" y="188920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20629" y="2379619"/>
            <a:ext cx="38940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Longest distance between any pair of points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368200" y="1889200"/>
            <a:ext cx="30588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Measurement Process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368200" y="2907658"/>
            <a:ext cx="38940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Considers farthest points in two clusters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715763" y="188920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Result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715763" y="2379619"/>
            <a:ext cx="38940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Forms compact clusters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2747" y="4906089"/>
            <a:ext cx="4964907" cy="2525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655082" y="663535"/>
            <a:ext cx="5668328" cy="5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650"/>
              <a:buFont typeface="Platypi Medium"/>
              <a:buNone/>
            </a:pPr>
            <a:r>
              <a:rPr b="0" i="0" lang="en-US" sz="3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Average Linkage Method</a:t>
            </a:r>
            <a:endParaRPr b="0" i="0" sz="3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55082" y="1739741"/>
            <a:ext cx="13320236" cy="22860"/>
          </a:xfrm>
          <a:prstGeom prst="roundRect">
            <a:avLst>
              <a:gd fmla="val 122835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2801183" y="1739682"/>
            <a:ext cx="22860" cy="561499"/>
          </a:xfrm>
          <a:prstGeom prst="roundRect">
            <a:avLst>
              <a:gd fmla="val 122835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2602111" y="1529179"/>
            <a:ext cx="421124" cy="4211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2672239" y="1564184"/>
            <a:ext cx="280749" cy="350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642705" y="2488525"/>
            <a:ext cx="2339935" cy="292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42248" y="2893219"/>
            <a:ext cx="3940969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Average distance between all pairs of points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7303651" y="1739682"/>
            <a:ext cx="22860" cy="561499"/>
          </a:xfrm>
          <a:prstGeom prst="roundRect">
            <a:avLst>
              <a:gd fmla="val 122835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104578" y="1529179"/>
            <a:ext cx="421124" cy="4211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174706" y="1564184"/>
            <a:ext cx="280749" cy="350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145173" y="2488525"/>
            <a:ext cx="2339935" cy="292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Measurement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344716" y="2893219"/>
            <a:ext cx="3940969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Considers all points in both clusters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1806118" y="1739682"/>
            <a:ext cx="22860" cy="561499"/>
          </a:xfrm>
          <a:prstGeom prst="roundRect">
            <a:avLst>
              <a:gd fmla="val 122835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1607046" y="1529179"/>
            <a:ext cx="421124" cy="4211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1677174" y="1564184"/>
            <a:ext cx="280749" cy="350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0647640" y="2488525"/>
            <a:ext cx="2339935" cy="292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Characteristic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9847183" y="2893219"/>
            <a:ext cx="3940969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Balances single and complete linkage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5" name="Google Shape;2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8012" y="3403163"/>
            <a:ext cx="8334256" cy="4162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793790" y="952024"/>
            <a:ext cx="673227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Real-World Applications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3" name="Google Shape;2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14431"/>
            <a:ext cx="3005495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793790" y="4255413"/>
            <a:ext cx="300549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Customer Segmentation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793790" y="5100161"/>
            <a:ext cx="3005495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Groups similar customers together based on their shopping habits and basic information. Helps companies serve different types of customers better.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6" name="Google Shape;22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9446" y="2114431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/>
          <p:nvPr/>
        </p:nvSpPr>
        <p:spPr>
          <a:xfrm>
            <a:off x="4139446" y="4255413"/>
            <a:ext cx="300561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Document Organization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139446" y="5100161"/>
            <a:ext cx="300561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Sorts similar documents into groups. Makes it easy to find and manage large collections of files.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9" name="Google Shape;22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5221" y="2114431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/>
          <p:nvPr/>
        </p:nvSpPr>
        <p:spPr>
          <a:xfrm>
            <a:off x="7485221" y="42554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Genetic Analysis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7485221" y="4745831"/>
            <a:ext cx="300561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Groups similar genes together. Helps scientists understand how genes are related to each other in biology research.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2" name="Google Shape;23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30997" y="2114431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10831001" y="4255425"/>
            <a:ext cx="3570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Image Segmentation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0830997" y="4745831"/>
            <a:ext cx="300561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Splits pictures into different parts based on what looks similar. Helps computers identify different objects in images.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5" name="Google Shape;23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793790" y="2176514"/>
            <a:ext cx="1254121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Advantages of Hierarchical Clustering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22127" y="3316724"/>
            <a:ext cx="510183" cy="589598"/>
          </a:xfrm>
          <a:prstGeom prst="roundRect">
            <a:avLst>
              <a:gd fmla="val 10754" name="adj"/>
            </a:avLst>
          </a:prstGeom>
          <a:solidFill>
            <a:srgbClr val="E5E0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3" name="Google Shape;2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32803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>
            <a:off x="793790" y="41218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Flexibility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93840" y="4691643"/>
            <a:ext cx="41208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Eliminates the need to specify the number of clusters in advance, allowing the algorithm to discover natural groupings in the data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6" name="Google Shape;2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332803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5254704" y="41218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Hierarchy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254754" y="4691643"/>
            <a:ext cx="4120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Creates an intuitive tree-like structure that reveals relationships between clusters at different levels of granularity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332803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9715738" y="41218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Visualization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9715788" y="4691643"/>
            <a:ext cx="41208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Provides clear visual representation through dendrograms, making cluster interpretation and analysis straightforward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2" name="Google Shape;25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793790" y="2165628"/>
            <a:ext cx="1233438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Limitations of Hierarchical Clustering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9" name="Google Shape;2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32803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/>
          <p:nvPr/>
        </p:nvSpPr>
        <p:spPr>
          <a:xfrm>
            <a:off x="793790" y="41218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Sensitivity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793790" y="4612243"/>
            <a:ext cx="412075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Highly susceptible to outliers and noise in datasets, potentially leading to distorted cluster formations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2" name="Google Shape;26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332803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/>
          <p:nvPr/>
        </p:nvSpPr>
        <p:spPr>
          <a:xfrm>
            <a:off x="5254699" y="4121825"/>
            <a:ext cx="3618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Computational Cost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254704" y="4612243"/>
            <a:ext cx="412087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Requires significant processing power and time with O(n²) complexity, making it impractical for large datasets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5" name="Google Shape;26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332803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>
            <a:off x="9715738" y="41218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Irreversibility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9715738" y="4612243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Once clusters are merged or split, decisions cannot be undone, making the algorithm unable to correct earlier suboptimal choices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8" name="Google Shape;26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/>
          <p:nvPr/>
        </p:nvSpPr>
        <p:spPr>
          <a:xfrm>
            <a:off x="793790" y="2500193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Transition to Practical: Performing Hierarchical Clustering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793800" y="4513076"/>
            <a:ext cx="510300" cy="6747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878870" y="4569277"/>
            <a:ext cx="340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1530915" y="4513076"/>
            <a:ext cx="28353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Next Steps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1530915" y="5161524"/>
            <a:ext cx="3459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Practical session using Python and Scikit-learn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216969" y="4513076"/>
            <a:ext cx="510300" cy="6747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302039" y="4569277"/>
            <a:ext cx="340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954084" y="4513076"/>
            <a:ext cx="28353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Focus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954084" y="5161524"/>
            <a:ext cx="3459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Data preparation and implementation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9640137" y="4513076"/>
            <a:ext cx="510300" cy="6747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9725208" y="4569277"/>
            <a:ext cx="340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0377252" y="4513076"/>
            <a:ext cx="28353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Goal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10377252" y="5161524"/>
            <a:ext cx="3459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Hands-on experience with clustering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7" name="Google Shape;2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"/>
          <p:cNvSpPr/>
          <p:nvPr/>
        </p:nvSpPr>
        <p:spPr>
          <a:xfrm>
            <a:off x="793790" y="1704975"/>
            <a:ext cx="921567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Practical Steps: Data Preparation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4" name="Google Shape;2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753916"/>
            <a:ext cx="3260646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/>
          <p:nvPr/>
        </p:nvSpPr>
        <p:spPr>
          <a:xfrm>
            <a:off x="1020604" y="4001333"/>
            <a:ext cx="28070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Load Data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1020604" y="4695827"/>
            <a:ext cx="28071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Import data from various sources like CSV files, databases, or APIs into your analysis environment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7" name="Google Shape;2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435" y="2753916"/>
            <a:ext cx="326076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4"/>
          <p:cNvSpPr/>
          <p:nvPr/>
        </p:nvSpPr>
        <p:spPr>
          <a:xfrm>
            <a:off x="4281262" y="4001358"/>
            <a:ext cx="28071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 Missing Values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281249" y="5050157"/>
            <a:ext cx="28071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Address gaps in data through imputation, removal, or appropriate statistical methods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0" name="Google Shape;3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753916"/>
            <a:ext cx="3260646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/>
          <p:nvPr/>
        </p:nvSpPr>
        <p:spPr>
          <a:xfrm>
            <a:off x="7542027" y="4001325"/>
            <a:ext cx="3260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Normalize Features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7542014" y="4695827"/>
            <a:ext cx="28071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Transform variables to a common scale using techniques like min-max scaling or standardization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3" name="Google Shape;3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5846" y="2753916"/>
            <a:ext cx="326076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/>
          <p:nvPr/>
        </p:nvSpPr>
        <p:spPr>
          <a:xfrm>
            <a:off x="10802660" y="4001333"/>
            <a:ext cx="280713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Select Features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10802660" y="4695827"/>
            <a:ext cx="28071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Identify and extract the most relevant variables that will contribute to your analysis goals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6" name="Google Shape;3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/>
          <p:nvPr/>
        </p:nvSpPr>
        <p:spPr>
          <a:xfrm>
            <a:off x="723543" y="621387"/>
            <a:ext cx="9673233" cy="646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50"/>
              <a:buFont typeface="Platypi Medium"/>
              <a:buNone/>
            </a:pPr>
            <a:r>
              <a:rPr b="0" i="0" lang="en-US" sz="40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Implementing Hierarchical Clustering </a:t>
            </a:r>
            <a:endParaRPr b="0" i="0" sz="4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723543" y="1809988"/>
            <a:ext cx="13183314" cy="22860"/>
          </a:xfrm>
          <a:prstGeom prst="roundRect">
            <a:avLst>
              <a:gd fmla="val 135649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2061329" y="1577459"/>
            <a:ext cx="465058" cy="46505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2138839" y="1616214"/>
            <a:ext cx="310039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1001911" y="2249329"/>
            <a:ext cx="2584013" cy="322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Import Libraries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930297" y="2961020"/>
            <a:ext cx="27273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Scikit-learn, NumPy, Matplotlib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5408890" y="1577459"/>
            <a:ext cx="465058" cy="46505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5486400" y="1616214"/>
            <a:ext cx="310039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4277678" y="2249329"/>
            <a:ext cx="27276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Compute Linkage Matrix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4277741" y="3283918"/>
            <a:ext cx="27276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linkage() function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8756333" y="1577459"/>
            <a:ext cx="465058" cy="46505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8833842" y="1616214"/>
            <a:ext cx="310039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7625239" y="2249329"/>
            <a:ext cx="2727365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Generate Dendrogram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7625302" y="3283918"/>
            <a:ext cx="27273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Visualize cluster hierarchy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12103894" y="1577459"/>
            <a:ext cx="465058" cy="46505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12181403" y="1616214"/>
            <a:ext cx="310039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11044357" y="2249329"/>
            <a:ext cx="2584013" cy="322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3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Analyze Clusters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0972681" y="2696170"/>
            <a:ext cx="2727484" cy="330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Interpret results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0" name="Google Shape;3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43" y="4011098"/>
            <a:ext cx="12571688" cy="401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1" name="Google Shape;3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/>
          <p:nvPr/>
        </p:nvSpPr>
        <p:spPr>
          <a:xfrm>
            <a:off x="793790" y="127682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793790" y="243923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 comprehensive overview of hierarchical clustering approaches and applications: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793790" y="331243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0" name="Google Shape;3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35494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6"/>
          <p:cNvSpPr/>
          <p:nvPr/>
        </p:nvSpPr>
        <p:spPr>
          <a:xfrm>
            <a:off x="1530897" y="3312450"/>
            <a:ext cx="4655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Clustering Approaches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1530906" y="3802856"/>
            <a:ext cx="56709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Agglomerative (bottom-up) starts with individual points and merges, while Divisive (top-down) starts with one cluster and splits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7428667" y="331243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4" name="Google Shape;3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3737" y="335494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6"/>
          <p:cNvSpPr/>
          <p:nvPr/>
        </p:nvSpPr>
        <p:spPr>
          <a:xfrm>
            <a:off x="8165783" y="331243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Linkage Methods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8165783" y="3802856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Single, complete, average, and Ward's methods determine how clusters merge together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793790" y="537352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8" name="Google Shape;3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541603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6"/>
          <p:cNvSpPr/>
          <p:nvPr/>
        </p:nvSpPr>
        <p:spPr>
          <a:xfrm>
            <a:off x="1530896" y="5373525"/>
            <a:ext cx="5535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Visualization &amp; Features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1530906" y="5863947"/>
            <a:ext cx="56709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Dendrogram tree diagrams visualize hierarchical relationships without requiring pre-defined number of clusters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7428667" y="537352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2" name="Google Shape;35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3737" y="541603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/>
          <p:nvPr/>
        </p:nvSpPr>
        <p:spPr>
          <a:xfrm>
            <a:off x="8165773" y="5373525"/>
            <a:ext cx="43944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Real-World Applications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8165783" y="5863947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in bioinformatics, document clustering, market segmentation, and social network analysis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5" name="Google Shape;35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2025-04-04T08:31:24Z</dcterms:created>
  <dc:creator>PptxGenJS</dc:creator>
</cp:coreProperties>
</file>