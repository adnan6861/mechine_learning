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8229600" cx="14630400"/>
  <p:notesSz cx="8229600" cy="14630400"/>
  <p:embeddedFontLst>
    <p:embeddedFont>
      <p:font typeface="Platypi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x9jNmwzih0uMJ3T9uHVd0hUm1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regular.fntdata"/><Relationship Id="rId25" Type="http://schemas.openxmlformats.org/officeDocument/2006/relationships/slide" Target="slides/slide21.xml"/><Relationship Id="rId28" Type="http://schemas.openxmlformats.org/officeDocument/2006/relationships/font" Target="fonts/PlatypiMedium-italic.fntdata"/><Relationship Id="rId27" Type="http://schemas.openxmlformats.org/officeDocument/2006/relationships/font" Target="fonts/Platypi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typi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10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0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2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9" Type="http://schemas.openxmlformats.org/officeDocument/2006/relationships/image" Target="../media/image11.png"/><Relationship Id="rId5" Type="http://schemas.openxmlformats.org/officeDocument/2006/relationships/image" Target="../media/image37.png"/><Relationship Id="rId6" Type="http://schemas.openxmlformats.org/officeDocument/2006/relationships/image" Target="../media/image49.png"/><Relationship Id="rId7" Type="http://schemas.openxmlformats.org/officeDocument/2006/relationships/image" Target="../media/image41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5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11.png"/><Relationship Id="rId5" Type="http://schemas.openxmlformats.org/officeDocument/2006/relationships/image" Target="../media/image5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"/>
          <p:cNvSpPr/>
          <p:nvPr/>
        </p:nvSpPr>
        <p:spPr>
          <a:xfrm>
            <a:off x="6280190" y="249876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/>
          </a:p>
        </p:txBody>
      </p:sp>
      <p:sp>
        <p:nvSpPr>
          <p:cNvPr id="81" name="Google Shape;81;p1"/>
          <p:cNvSpPr/>
          <p:nvPr/>
        </p:nvSpPr>
        <p:spPr>
          <a:xfrm>
            <a:off x="6280190" y="354770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04: Data Preprocessing</a:t>
            </a:r>
            <a:endParaRPr b="0" i="0" sz="4450" u="none" cap="none" strike="noStrike"/>
          </a:p>
        </p:txBody>
      </p:sp>
      <p:sp>
        <p:nvSpPr>
          <p:cNvPr id="82" name="Google Shape;82;p1"/>
          <p:cNvSpPr/>
          <p:nvPr/>
        </p:nvSpPr>
        <p:spPr>
          <a:xfrm>
            <a:off x="6280190" y="5305425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/>
          </a:p>
        </p:txBody>
      </p:sp>
      <p:pic>
        <p:nvPicPr>
          <p:cNvPr descr="preencoded.png" id="83" name="Google Shape;8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793790" y="647224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Introduction to Data Preprocessing</a:t>
            </a:r>
            <a:endParaRPr b="0" i="0" sz="40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793790" y="2458760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287" y="2496979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/>
          <p:nvPr/>
        </p:nvSpPr>
        <p:spPr>
          <a:xfrm>
            <a:off x="1457087" y="2458760"/>
            <a:ext cx="3012877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Essential for Model Performance</a:t>
            </a:r>
            <a:endParaRPr b="0" i="0" sz="200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1457087" y="3218855"/>
            <a:ext cx="301287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preprocessing is essential for improving model performance.</a:t>
            </a:r>
            <a:endParaRPr b="0" i="0" sz="160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4674037" y="2458760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534" y="2496979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5337334" y="2458760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Compatible Format</a:t>
            </a:r>
            <a:endParaRPr b="0" i="0" sz="2000" u="none" cap="none" strike="noStrike"/>
          </a:p>
        </p:txBody>
      </p:sp>
      <p:sp>
        <p:nvSpPr>
          <p:cNvPr id="98" name="Google Shape;98;p2"/>
          <p:cNvSpPr/>
          <p:nvPr/>
        </p:nvSpPr>
        <p:spPr>
          <a:xfrm>
            <a:off x="5337334" y="2900005"/>
            <a:ext cx="301287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Preprocessing steps ensure that data is in a compatible format for machine learning models.</a:t>
            </a:r>
            <a:endParaRPr b="0" i="0" sz="16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793790" y="4632603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287" y="4670822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1457087" y="463260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Handling</a:t>
            </a:r>
            <a:endParaRPr b="0" i="0" sz="20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1457087" y="5073848"/>
            <a:ext cx="301287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Helps in handling missing values, normalization, and scaling.</a:t>
            </a:r>
            <a:endParaRPr b="0" i="0" sz="1600" u="none" cap="none" strike="noStrike"/>
          </a:p>
        </p:txBody>
      </p:sp>
      <p:sp>
        <p:nvSpPr>
          <p:cNvPr id="103" name="Google Shape;103;p2"/>
          <p:cNvSpPr/>
          <p:nvPr/>
        </p:nvSpPr>
        <p:spPr>
          <a:xfrm>
            <a:off x="4674037" y="4632603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0534" y="4670822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/>
          <p:nvPr/>
        </p:nvSpPr>
        <p:spPr>
          <a:xfrm>
            <a:off x="5337334" y="4632603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Improved Results</a:t>
            </a:r>
            <a:endParaRPr b="0" i="0" sz="2000" u="none" cap="none" strike="noStrike"/>
          </a:p>
        </p:txBody>
      </p:sp>
      <p:sp>
        <p:nvSpPr>
          <p:cNvPr id="106" name="Google Shape;106;p2"/>
          <p:cNvSpPr/>
          <p:nvPr/>
        </p:nvSpPr>
        <p:spPr>
          <a:xfrm>
            <a:off x="5337334" y="5073848"/>
            <a:ext cx="3012877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Accurate preprocessing increases the accuracy and interpretability of results.</a:t>
            </a:r>
            <a:endParaRPr b="0" i="0" sz="1600" u="none" cap="none" strike="noStrike"/>
          </a:p>
        </p:txBody>
      </p:sp>
      <p:sp>
        <p:nvSpPr>
          <p:cNvPr id="107" name="Google Shape;107;p2"/>
          <p:cNvSpPr/>
          <p:nvPr/>
        </p:nvSpPr>
        <p:spPr>
          <a:xfrm>
            <a:off x="793790" y="6487597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0287" y="6525816"/>
            <a:ext cx="306110" cy="38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1457087" y="6487597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Steps</a:t>
            </a:r>
            <a:endParaRPr b="0" i="0" sz="2000" u="none" cap="none" strike="noStrike"/>
          </a:p>
        </p:txBody>
      </p:sp>
      <p:sp>
        <p:nvSpPr>
          <p:cNvPr id="110" name="Google Shape;110;p2"/>
          <p:cNvSpPr/>
          <p:nvPr/>
        </p:nvSpPr>
        <p:spPr>
          <a:xfrm>
            <a:off x="1457087" y="6928842"/>
            <a:ext cx="6893123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We will cover key preprocessing steps like data splitting, cleaning, and handling missing values.</a:t>
            </a:r>
            <a:endParaRPr b="0" i="0" sz="1600" u="none" cap="none" strike="noStrike"/>
          </a:p>
        </p:txBody>
      </p:sp>
      <p:pic>
        <p:nvPicPr>
          <p:cNvPr id="111" name="Google Shape;111;p2" title="data preprocessing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56425" y="1923104"/>
            <a:ext cx="5561525" cy="5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793790" y="1116449"/>
            <a:ext cx="1124485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Preprocessing in Machine Learning</a:t>
            </a:r>
            <a:endParaRPr b="0" i="0" sz="4450" u="none" cap="none" strike="noStrike"/>
          </a:p>
        </p:txBody>
      </p:sp>
      <p:pic>
        <p:nvPicPr>
          <p:cNvPr descr="preencoded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title="ml proces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1213" y="2142710"/>
            <a:ext cx="10647976" cy="5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793790" y="1568887"/>
            <a:ext cx="1066716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Do We Need Data Preprocessing?</a:t>
            </a:r>
            <a:endParaRPr b="0" i="0" sz="4450" u="none" cap="none" strike="noStrike"/>
          </a:p>
        </p:txBody>
      </p:sp>
      <p:sp>
        <p:nvSpPr>
          <p:cNvPr id="126" name="Google Shape;126;p4"/>
          <p:cNvSpPr/>
          <p:nvPr/>
        </p:nvSpPr>
        <p:spPr>
          <a:xfrm>
            <a:off x="793790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20604" y="2958108"/>
            <a:ext cx="31728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Improved Performance</a:t>
            </a:r>
            <a:endParaRPr b="0" i="0" sz="2200" u="none" cap="none" strike="noStrike"/>
          </a:p>
        </p:txBody>
      </p:sp>
      <p:sp>
        <p:nvSpPr>
          <p:cNvPr id="128" name="Google Shape;128;p4"/>
          <p:cNvSpPr/>
          <p:nvPr/>
        </p:nvSpPr>
        <p:spPr>
          <a:xfrm>
            <a:off x="1020604" y="3448526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preprocessing improves the performance of machine learning models.</a:t>
            </a:r>
            <a:endParaRPr b="0" i="0" sz="1750" u="none" cap="none" strike="noStrike"/>
          </a:p>
        </p:txBody>
      </p:sp>
      <p:sp>
        <p:nvSpPr>
          <p:cNvPr id="129" name="Google Shape;129;p4"/>
          <p:cNvSpPr/>
          <p:nvPr/>
        </p:nvSpPr>
        <p:spPr>
          <a:xfrm>
            <a:off x="5216962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443776" y="29581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Reduced Complexity</a:t>
            </a:r>
            <a:endParaRPr b="0" i="0" sz="22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5443776" y="3448526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Reduces the complexity of relationships in data.</a:t>
            </a:r>
            <a:endParaRPr b="0" i="0" sz="1750" u="none" cap="none" strike="noStrike"/>
          </a:p>
        </p:txBody>
      </p:sp>
      <p:sp>
        <p:nvSpPr>
          <p:cNvPr id="132" name="Google Shape;132;p4"/>
          <p:cNvSpPr/>
          <p:nvPr/>
        </p:nvSpPr>
        <p:spPr>
          <a:xfrm>
            <a:off x="9640133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866948" y="2958108"/>
            <a:ext cx="34223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Algorithm Compatibility</a:t>
            </a:r>
            <a:endParaRPr b="0" i="0" sz="2200" u="none" cap="none" strike="noStrike"/>
          </a:p>
        </p:txBody>
      </p:sp>
      <p:sp>
        <p:nvSpPr>
          <p:cNvPr id="134" name="Google Shape;134;p4"/>
          <p:cNvSpPr/>
          <p:nvPr/>
        </p:nvSpPr>
        <p:spPr>
          <a:xfrm>
            <a:off x="9866948" y="3448526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Makes data compatible for use in machine learning algorithms.</a:t>
            </a:r>
            <a:endParaRPr b="0" i="0" sz="1750" u="none" cap="none" strike="noStrike"/>
          </a:p>
        </p:txBody>
      </p:sp>
      <p:sp>
        <p:nvSpPr>
          <p:cNvPr id="135" name="Google Shape;135;p4"/>
          <p:cNvSpPr/>
          <p:nvPr/>
        </p:nvSpPr>
        <p:spPr>
          <a:xfrm>
            <a:off x="793790" y="4990862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Format Suitability</a:t>
            </a:r>
            <a:endParaRPr b="0" i="0" sz="2200" u="none" cap="none" strike="noStrike"/>
          </a:p>
        </p:txBody>
      </p:sp>
      <p:sp>
        <p:nvSpPr>
          <p:cNvPr id="137" name="Google Shape;137;p4"/>
          <p:cNvSpPr/>
          <p:nvPr/>
        </p:nvSpPr>
        <p:spPr>
          <a:xfrm>
            <a:off x="1020604" y="570809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Ensures that data is in a format suitable for model interpretation.</a:t>
            </a:r>
            <a:endParaRPr b="0" i="0" sz="1750" u="none" cap="none" strike="noStrike"/>
          </a:p>
        </p:txBody>
      </p:sp>
      <p:sp>
        <p:nvSpPr>
          <p:cNvPr id="138" name="Google Shape;138;p4"/>
          <p:cNvSpPr/>
          <p:nvPr/>
        </p:nvSpPr>
        <p:spPr>
          <a:xfrm>
            <a:off x="7428667" y="4990862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655481" y="5217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Critical for Success</a:t>
            </a:r>
            <a:endParaRPr b="0" i="0" sz="2200" u="none" cap="none" strike="noStrike"/>
          </a:p>
        </p:txBody>
      </p:sp>
      <p:sp>
        <p:nvSpPr>
          <p:cNvPr id="140" name="Google Shape;140;p4"/>
          <p:cNvSpPr/>
          <p:nvPr/>
        </p:nvSpPr>
        <p:spPr>
          <a:xfrm>
            <a:off x="7655481" y="570809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Without proper preprocessing, models will fail to perform well.</a:t>
            </a:r>
            <a:endParaRPr b="0" i="0" sz="1750" u="none" cap="none" strike="noStrike"/>
          </a:p>
        </p:txBody>
      </p:sp>
      <p:pic>
        <p:nvPicPr>
          <p:cNvPr descr="preencoded.png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6280190" y="169652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Splitting</a:t>
            </a:r>
            <a:endParaRPr b="0" i="0" sz="4450" u="none" cap="none" strike="noStrike"/>
          </a:p>
        </p:txBody>
      </p:sp>
      <p:sp>
        <p:nvSpPr>
          <p:cNvPr id="148" name="Google Shape;148;p5"/>
          <p:cNvSpPr/>
          <p:nvPr/>
        </p:nvSpPr>
        <p:spPr>
          <a:xfrm>
            <a:off x="6280190" y="30006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260" y="30431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7017306" y="30006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Training Data</a:t>
            </a:r>
            <a:endParaRPr b="0" i="0" sz="2200" u="none" cap="none" strike="noStrike"/>
          </a:p>
        </p:txBody>
      </p:sp>
      <p:sp>
        <p:nvSpPr>
          <p:cNvPr id="151" name="Google Shape;151;p5"/>
          <p:cNvSpPr/>
          <p:nvPr/>
        </p:nvSpPr>
        <p:spPr>
          <a:xfrm>
            <a:off x="7017306" y="3491032"/>
            <a:ext cx="29277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to train the model</a:t>
            </a:r>
            <a:endParaRPr b="0" i="0" sz="1750" u="none" cap="none" strike="noStrike"/>
          </a:p>
        </p:txBody>
      </p:sp>
      <p:sp>
        <p:nvSpPr>
          <p:cNvPr id="152" name="Google Shape;152;p5"/>
          <p:cNvSpPr/>
          <p:nvPr/>
        </p:nvSpPr>
        <p:spPr>
          <a:xfrm>
            <a:off x="10171867" y="300061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6937" y="304311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10908983" y="300061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Testing Data</a:t>
            </a:r>
            <a:endParaRPr b="0" i="0" sz="22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10908983" y="3491032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to evaluate model performance</a:t>
            </a:r>
            <a:endParaRPr b="0" i="0" sz="1750" u="none" cap="none" strike="noStrike"/>
          </a:p>
        </p:txBody>
      </p:sp>
      <p:sp>
        <p:nvSpPr>
          <p:cNvPr id="156" name="Google Shape;156;p5"/>
          <p:cNvSpPr/>
          <p:nvPr/>
        </p:nvSpPr>
        <p:spPr>
          <a:xfrm>
            <a:off x="6280190" y="469880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4741307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7017306" y="46988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 Data</a:t>
            </a:r>
            <a:endParaRPr b="0" i="0" sz="2200" u="none" cap="none" strike="noStrike"/>
          </a:p>
        </p:txBody>
      </p:sp>
      <p:sp>
        <p:nvSpPr>
          <p:cNvPr id="159" name="Google Shape;159;p5"/>
          <p:cNvSpPr/>
          <p:nvPr/>
        </p:nvSpPr>
        <p:spPr>
          <a:xfrm>
            <a:off x="7017306" y="5189220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to check for model overfitting and ensure accuracy (if applicable)</a:t>
            </a:r>
            <a:endParaRPr b="0" i="0" sz="1750" u="none" cap="none" strike="noStrike"/>
          </a:p>
        </p:txBody>
      </p:sp>
      <p:sp>
        <p:nvSpPr>
          <p:cNvPr id="160" name="Google Shape;160;p5"/>
          <p:cNvSpPr/>
          <p:nvPr/>
        </p:nvSpPr>
        <p:spPr>
          <a:xfrm>
            <a:off x="6280190" y="6170176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Common ratios: 70-30, 80-20, 75-25, 85-15, or 90-10.</a:t>
            </a:r>
            <a:endParaRPr b="0" i="0" sz="1750" u="none" cap="none" strike="noStrike"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 title="Screenshot (338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375" y="2024392"/>
            <a:ext cx="5901001" cy="418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/>
          <p:nvPr/>
        </p:nvSpPr>
        <p:spPr>
          <a:xfrm>
            <a:off x="793790" y="772001"/>
            <a:ext cx="6762750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900"/>
              <a:buFont typeface="Platypi Medium"/>
              <a:buNone/>
            </a:pPr>
            <a:r>
              <a:rPr b="0" i="0" lang="en-US" sz="29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Purpose of Training and Testing Data</a:t>
            </a:r>
            <a:endParaRPr b="0" i="0" sz="2900" u="none" cap="none" strike="noStrike"/>
          </a:p>
        </p:txBody>
      </p:sp>
      <p:sp>
        <p:nvSpPr>
          <p:cNvPr id="169" name="Google Shape;169;p6"/>
          <p:cNvSpPr/>
          <p:nvPr/>
        </p:nvSpPr>
        <p:spPr>
          <a:xfrm>
            <a:off x="793790" y="1601272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4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Training Data</a:t>
            </a:r>
            <a:endParaRPr b="0" i="0" sz="1650" u="none" cap="none" strike="noStrike"/>
          </a:p>
        </p:txBody>
      </p:sp>
      <p:sp>
        <p:nvSpPr>
          <p:cNvPr id="170" name="Google Shape;170;p6"/>
          <p:cNvSpPr/>
          <p:nvPr/>
        </p:nvSpPr>
        <p:spPr>
          <a:xfrm>
            <a:off x="793790" y="1979057"/>
            <a:ext cx="634162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for model learning</a:t>
            </a:r>
            <a:endParaRPr b="0" i="0" sz="1350" u="none" cap="none" strike="noStrike"/>
          </a:p>
        </p:txBody>
      </p:sp>
      <p:sp>
        <p:nvSpPr>
          <p:cNvPr id="171" name="Google Shape;171;p6"/>
          <p:cNvSpPr/>
          <p:nvPr/>
        </p:nvSpPr>
        <p:spPr>
          <a:xfrm>
            <a:off x="793790" y="2266355"/>
            <a:ext cx="634162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Should be accurate to ensure good learning</a:t>
            </a:r>
            <a:endParaRPr b="0" i="0" sz="1350" u="none" cap="none" strike="noStrike"/>
          </a:p>
        </p:txBody>
      </p:sp>
      <p:sp>
        <p:nvSpPr>
          <p:cNvPr id="172" name="Google Shape;172;p6"/>
          <p:cNvSpPr/>
          <p:nvPr/>
        </p:nvSpPr>
        <p:spPr>
          <a:xfrm>
            <a:off x="793790" y="2553652"/>
            <a:ext cx="634162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model "learns" from this data</a:t>
            </a:r>
            <a:endParaRPr b="0" i="0" sz="1350" u="none" cap="none" strike="noStrike"/>
          </a:p>
        </p:txBody>
      </p:sp>
      <p:sp>
        <p:nvSpPr>
          <p:cNvPr id="173" name="Google Shape;173;p6"/>
          <p:cNvSpPr/>
          <p:nvPr/>
        </p:nvSpPr>
        <p:spPr>
          <a:xfrm>
            <a:off x="7502604" y="1601272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14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Testing Data</a:t>
            </a:r>
            <a:endParaRPr b="0" i="0" sz="1650" u="none" cap="none" strike="noStrike"/>
          </a:p>
        </p:txBody>
      </p:sp>
      <p:sp>
        <p:nvSpPr>
          <p:cNvPr id="174" name="Google Shape;174;p6"/>
          <p:cNvSpPr/>
          <p:nvPr/>
        </p:nvSpPr>
        <p:spPr>
          <a:xfrm>
            <a:off x="7502604" y="1979057"/>
            <a:ext cx="634162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to check the model's learning</a:t>
            </a:r>
            <a:endParaRPr b="0" i="0" sz="1350" u="none" cap="none" strike="noStrike"/>
          </a:p>
        </p:txBody>
      </p:sp>
      <p:sp>
        <p:nvSpPr>
          <p:cNvPr id="175" name="Google Shape;175;p6"/>
          <p:cNvSpPr/>
          <p:nvPr/>
        </p:nvSpPr>
        <p:spPr>
          <a:xfrm>
            <a:off x="7502604" y="2266355"/>
            <a:ext cx="6341626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the testing results are incorrect, it means the model has not learned well</a:t>
            </a:r>
            <a:endParaRPr b="0" i="0" sz="1350" u="none" cap="none" strike="noStrike"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 title="training vs testing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1505" y="3128250"/>
            <a:ext cx="8947401" cy="469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793790" y="718066"/>
            <a:ext cx="5837515" cy="496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100"/>
              <a:buFont typeface="Platypi Medium"/>
              <a:buNone/>
            </a:pPr>
            <a:r>
              <a:rPr b="0" i="0" lang="en-US" sz="31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Splitting with Validation</a:t>
            </a:r>
            <a:endParaRPr b="0" i="0" sz="3100" u="none" cap="none" strike="noStrike"/>
          </a:p>
        </p:txBody>
      </p:sp>
      <p:sp>
        <p:nvSpPr>
          <p:cNvPr id="184" name="Google Shape;184;p7"/>
          <p:cNvSpPr/>
          <p:nvPr/>
        </p:nvSpPr>
        <p:spPr>
          <a:xfrm>
            <a:off x="793790" y="1630918"/>
            <a:ext cx="357188" cy="35718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5" name="Google Shape;185;p7"/>
          <p:cNvSpPr/>
          <p:nvPr/>
        </p:nvSpPr>
        <p:spPr>
          <a:xfrm>
            <a:off x="853321" y="1660684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1950" u="none" cap="none" strike="noStrike"/>
          </a:p>
        </p:txBody>
      </p:sp>
      <p:sp>
        <p:nvSpPr>
          <p:cNvPr id="186" name="Google Shape;186;p7"/>
          <p:cNvSpPr/>
          <p:nvPr/>
        </p:nvSpPr>
        <p:spPr>
          <a:xfrm>
            <a:off x="1309687" y="1630918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Initial Split</a:t>
            </a:r>
            <a:endParaRPr b="0" i="0" sz="1650" u="none" cap="none" strike="noStrike"/>
          </a:p>
        </p:txBody>
      </p:sp>
      <p:sp>
        <p:nvSpPr>
          <p:cNvPr id="187" name="Google Shape;187;p7"/>
          <p:cNvSpPr/>
          <p:nvPr/>
        </p:nvSpPr>
        <p:spPr>
          <a:xfrm>
            <a:off x="1309687" y="1974175"/>
            <a:ext cx="2625804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Arial"/>
              <a:buNone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Splitting data into three parts: training, testing, and validation</a:t>
            </a:r>
            <a:endParaRPr b="0" i="0" sz="1350" u="none" cap="none" strike="noStrike"/>
          </a:p>
        </p:txBody>
      </p:sp>
      <p:sp>
        <p:nvSpPr>
          <p:cNvPr id="188" name="Google Shape;188;p7"/>
          <p:cNvSpPr/>
          <p:nvPr/>
        </p:nvSpPr>
        <p:spPr>
          <a:xfrm>
            <a:off x="4094202" y="1630918"/>
            <a:ext cx="357188" cy="35718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9" name="Google Shape;189;p7"/>
          <p:cNvSpPr/>
          <p:nvPr/>
        </p:nvSpPr>
        <p:spPr>
          <a:xfrm>
            <a:off x="4153733" y="1660684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1950" u="none" cap="none" strike="noStrike"/>
          </a:p>
        </p:txBody>
      </p:sp>
      <p:sp>
        <p:nvSpPr>
          <p:cNvPr id="190" name="Google Shape;190;p7"/>
          <p:cNvSpPr/>
          <p:nvPr/>
        </p:nvSpPr>
        <p:spPr>
          <a:xfrm>
            <a:off x="4610100" y="1630918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 Training</a:t>
            </a:r>
            <a:endParaRPr b="0" i="0" sz="1650" u="none" cap="none" strike="noStrike"/>
          </a:p>
        </p:txBody>
      </p:sp>
      <p:sp>
        <p:nvSpPr>
          <p:cNvPr id="191" name="Google Shape;191;p7"/>
          <p:cNvSpPr/>
          <p:nvPr/>
        </p:nvSpPr>
        <p:spPr>
          <a:xfrm>
            <a:off x="4610100" y="1974175"/>
            <a:ext cx="2625804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Arial"/>
              <a:buNone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model is first trained on the training data</a:t>
            </a:r>
            <a:endParaRPr b="0" i="0" sz="1350" u="none" cap="none" strike="noStrike"/>
          </a:p>
        </p:txBody>
      </p:sp>
      <p:sp>
        <p:nvSpPr>
          <p:cNvPr id="192" name="Google Shape;192;p7"/>
          <p:cNvSpPr/>
          <p:nvPr/>
        </p:nvSpPr>
        <p:spPr>
          <a:xfrm>
            <a:off x="7394615" y="1630918"/>
            <a:ext cx="357188" cy="35718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3" name="Google Shape;193;p7"/>
          <p:cNvSpPr/>
          <p:nvPr/>
        </p:nvSpPr>
        <p:spPr>
          <a:xfrm>
            <a:off x="7454146" y="1660684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1950" u="none" cap="none" strike="noStrike"/>
          </a:p>
        </p:txBody>
      </p:sp>
      <p:sp>
        <p:nvSpPr>
          <p:cNvPr id="194" name="Google Shape;194;p7"/>
          <p:cNvSpPr/>
          <p:nvPr/>
        </p:nvSpPr>
        <p:spPr>
          <a:xfrm>
            <a:off x="7910495" y="1630925"/>
            <a:ext cx="27846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Performance Testing</a:t>
            </a:r>
            <a:endParaRPr b="0" i="0" sz="1650" u="none" cap="none" strike="noStrike"/>
          </a:p>
        </p:txBody>
      </p:sp>
      <p:sp>
        <p:nvSpPr>
          <p:cNvPr id="195" name="Google Shape;195;p7"/>
          <p:cNvSpPr/>
          <p:nvPr/>
        </p:nvSpPr>
        <p:spPr>
          <a:xfrm>
            <a:off x="7910512" y="1974175"/>
            <a:ext cx="2625804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Arial"/>
              <a:buNone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performance is tested using testing data</a:t>
            </a:r>
            <a:endParaRPr b="0" i="0" sz="1350" u="none" cap="none" strike="noStrike"/>
          </a:p>
        </p:txBody>
      </p:sp>
      <p:sp>
        <p:nvSpPr>
          <p:cNvPr id="196" name="Google Shape;196;p7"/>
          <p:cNvSpPr/>
          <p:nvPr/>
        </p:nvSpPr>
        <p:spPr>
          <a:xfrm>
            <a:off x="10695027" y="1630918"/>
            <a:ext cx="357188" cy="357188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7" name="Google Shape;197;p7"/>
          <p:cNvSpPr/>
          <p:nvPr/>
        </p:nvSpPr>
        <p:spPr>
          <a:xfrm>
            <a:off x="10754558" y="1660684"/>
            <a:ext cx="238125" cy="297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1950" u="none" cap="none" strike="noStrike"/>
          </a:p>
        </p:txBody>
      </p:sp>
      <p:sp>
        <p:nvSpPr>
          <p:cNvPr id="198" name="Google Shape;198;p7"/>
          <p:cNvSpPr/>
          <p:nvPr/>
        </p:nvSpPr>
        <p:spPr>
          <a:xfrm>
            <a:off x="11210925" y="1630918"/>
            <a:ext cx="198465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Platypi Medium"/>
              <a:buNone/>
            </a:pPr>
            <a:r>
              <a:rPr b="0" i="0" lang="en-US" sz="1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Fine-Tuning</a:t>
            </a:r>
            <a:endParaRPr b="0" i="0" sz="1650" u="none" cap="none" strike="noStrike"/>
          </a:p>
        </p:txBody>
      </p:sp>
      <p:sp>
        <p:nvSpPr>
          <p:cNvPr id="199" name="Google Shape;199;p7"/>
          <p:cNvSpPr/>
          <p:nvPr/>
        </p:nvSpPr>
        <p:spPr>
          <a:xfrm>
            <a:off x="11210925" y="1974175"/>
            <a:ext cx="2625804" cy="508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Arial"/>
              <a:buNone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Validation helps fine-tune the model to prevent overfitting</a:t>
            </a:r>
            <a:endParaRPr b="0" i="0" sz="1350" u="none" cap="none" strike="noStrike"/>
          </a:p>
        </p:txBody>
      </p:sp>
      <p:sp>
        <p:nvSpPr>
          <p:cNvPr id="200" name="Google Shape;200;p7"/>
          <p:cNvSpPr/>
          <p:nvPr/>
        </p:nvSpPr>
        <p:spPr>
          <a:xfrm>
            <a:off x="793790" y="2660928"/>
            <a:ext cx="13042821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50"/>
              <a:buFont typeface="Arial"/>
              <a:buNone/>
            </a:pPr>
            <a:r>
              <a:rPr b="0" i="0" lang="en-US" sz="13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Validation data helps in evaluating model performance.</a:t>
            </a:r>
            <a:endParaRPr b="0" i="0" sz="1350" u="none" cap="none" strike="noStrike"/>
          </a:p>
        </p:txBody>
      </p:sp>
      <p:pic>
        <p:nvPicPr>
          <p:cNvPr descr="preencoded.png"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7" title="validation data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857" y="3093592"/>
            <a:ext cx="7642701" cy="48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793790" y="743903"/>
            <a:ext cx="71700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Splitting Data Using Code</a:t>
            </a:r>
            <a:endParaRPr b="0" i="0" sz="4450" u="none" cap="none" strike="noStrike"/>
          </a:p>
        </p:txBody>
      </p:sp>
      <p:sp>
        <p:nvSpPr>
          <p:cNvPr id="209" name="Google Shape;209;p8"/>
          <p:cNvSpPr/>
          <p:nvPr/>
        </p:nvSpPr>
        <p:spPr>
          <a:xfrm>
            <a:off x="793790" y="1906310"/>
            <a:ext cx="13042821" cy="2154555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82479" y="1906310"/>
            <a:ext cx="13065443" cy="2154555"/>
          </a:xfrm>
          <a:prstGeom prst="roundRect">
            <a:avLst>
              <a:gd fmla="val 1579" name="adj"/>
            </a:avLst>
          </a:prstGeom>
          <a:solidFill>
            <a:srgbClr val="F3E3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009293" y="2076331"/>
            <a:ext cx="12611814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from sklearn.model_selection import train_test_split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# For an 80-20 split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X_train, X_test, y_train, y_test = train_test_split(X, y, test_size=0.2)</a:t>
            </a:r>
            <a:br>
              <a:rPr b="0" i="0" lang="en-US" sz="175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750" u="none" cap="none" strike="noStrike"/>
          </a:p>
        </p:txBody>
      </p:sp>
      <p:sp>
        <p:nvSpPr>
          <p:cNvPr id="212" name="Google Shape;212;p8"/>
          <p:cNvSpPr/>
          <p:nvPr/>
        </p:nvSpPr>
        <p:spPr>
          <a:xfrm>
            <a:off x="793790" y="457116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78860" y="461367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14" name="Google Shape;214;p8"/>
          <p:cNvSpPr/>
          <p:nvPr/>
        </p:nvSpPr>
        <p:spPr>
          <a:xfrm>
            <a:off x="1530906" y="4571167"/>
            <a:ext cx="3211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Command for Splitting</a:t>
            </a:r>
            <a:endParaRPr b="0" i="0" sz="2200" u="none" cap="none" strike="noStrike"/>
          </a:p>
        </p:txBody>
      </p:sp>
      <p:sp>
        <p:nvSpPr>
          <p:cNvPr id="215" name="Google Shape;215;p8"/>
          <p:cNvSpPr/>
          <p:nvPr/>
        </p:nvSpPr>
        <p:spPr>
          <a:xfrm>
            <a:off x="1530906" y="506158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command used for data splitting: train_test_split</a:t>
            </a:r>
            <a:endParaRPr b="0" i="0" sz="1750" u="none" cap="none" strike="noStrike"/>
          </a:p>
        </p:txBody>
      </p:sp>
      <p:sp>
        <p:nvSpPr>
          <p:cNvPr id="216" name="Google Shape;216;p8"/>
          <p:cNvSpPr/>
          <p:nvPr/>
        </p:nvSpPr>
        <p:spPr>
          <a:xfrm>
            <a:off x="5216962" y="457116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302032" y="461367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18" name="Google Shape;218;p8"/>
          <p:cNvSpPr/>
          <p:nvPr/>
        </p:nvSpPr>
        <p:spPr>
          <a:xfrm>
            <a:off x="5954078" y="457116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Ratio Specification</a:t>
            </a:r>
            <a:endParaRPr b="0" i="0" sz="2200" u="none" cap="none" strike="noStrike"/>
          </a:p>
        </p:txBody>
      </p:sp>
      <p:sp>
        <p:nvSpPr>
          <p:cNvPr id="219" name="Google Shape;219;p8"/>
          <p:cNvSpPr/>
          <p:nvPr/>
        </p:nvSpPr>
        <p:spPr>
          <a:xfrm>
            <a:off x="5954078" y="506158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can specify the ratio of training to testing data</a:t>
            </a:r>
            <a:endParaRPr b="0" i="0" sz="1750" u="none" cap="none" strike="noStrike"/>
          </a:p>
        </p:txBody>
      </p:sp>
      <p:sp>
        <p:nvSpPr>
          <p:cNvPr id="220" name="Google Shape;220;p8"/>
          <p:cNvSpPr/>
          <p:nvPr/>
        </p:nvSpPr>
        <p:spPr>
          <a:xfrm>
            <a:off x="9640133" y="457116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9725204" y="461367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22" name="Google Shape;222;p8"/>
          <p:cNvSpPr/>
          <p:nvPr/>
        </p:nvSpPr>
        <p:spPr>
          <a:xfrm>
            <a:off x="10377249" y="457116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Usage</a:t>
            </a:r>
            <a:endParaRPr b="0" i="0" sz="2200" u="none" cap="none" strike="noStrike"/>
          </a:p>
        </p:txBody>
      </p:sp>
      <p:sp>
        <p:nvSpPr>
          <p:cNvPr id="223" name="Google Shape;223;p8"/>
          <p:cNvSpPr/>
          <p:nvPr/>
        </p:nvSpPr>
        <p:spPr>
          <a:xfrm>
            <a:off x="10377249" y="5061585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train_test_split(X, y, test_size=0.2) for an 80-20 split</a:t>
            </a:r>
            <a:endParaRPr b="0" i="0" sz="1750" u="none" cap="none" strike="noStrike"/>
          </a:p>
        </p:txBody>
      </p:sp>
      <p:sp>
        <p:nvSpPr>
          <p:cNvPr id="224" name="Google Shape;224;p8"/>
          <p:cNvSpPr/>
          <p:nvPr/>
        </p:nvSpPr>
        <p:spPr>
          <a:xfrm>
            <a:off x="793790" y="626935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878860" y="631186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/>
          </a:p>
        </p:txBody>
      </p:sp>
      <p:sp>
        <p:nvSpPr>
          <p:cNvPr id="226" name="Google Shape;226;p8"/>
          <p:cNvSpPr/>
          <p:nvPr/>
        </p:nvSpPr>
        <p:spPr>
          <a:xfrm>
            <a:off x="1530906" y="626935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Ease of Use</a:t>
            </a:r>
            <a:endParaRPr b="0" i="0" sz="2200" u="none" cap="none" strike="noStrike"/>
          </a:p>
        </p:txBody>
      </p:sp>
      <p:sp>
        <p:nvSpPr>
          <p:cNvPr id="227" name="Google Shape;227;p8"/>
          <p:cNvSpPr/>
          <p:nvPr/>
        </p:nvSpPr>
        <p:spPr>
          <a:xfrm>
            <a:off x="1530906" y="675977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command allows for easy and accurate data splitting</a:t>
            </a:r>
            <a:endParaRPr b="0" i="0" sz="1750" u="none" cap="none" strike="noStrike"/>
          </a:p>
        </p:txBody>
      </p:sp>
      <p:sp>
        <p:nvSpPr>
          <p:cNvPr id="228" name="Google Shape;228;p8"/>
          <p:cNvSpPr/>
          <p:nvPr/>
        </p:nvSpPr>
        <p:spPr>
          <a:xfrm>
            <a:off x="7428667" y="626935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7513737" y="6311860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/>
          </a:p>
        </p:txBody>
      </p:sp>
      <p:sp>
        <p:nvSpPr>
          <p:cNvPr id="230" name="Google Shape;230;p8"/>
          <p:cNvSpPr/>
          <p:nvPr/>
        </p:nvSpPr>
        <p:spPr>
          <a:xfrm>
            <a:off x="8165783" y="6269355"/>
            <a:ext cx="290060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Practical Application</a:t>
            </a:r>
            <a:endParaRPr b="0" i="0" sz="2200" u="none" cap="none" strike="noStrike"/>
          </a:p>
        </p:txBody>
      </p:sp>
      <p:sp>
        <p:nvSpPr>
          <p:cNvPr id="231" name="Google Shape;231;p8"/>
          <p:cNvSpPr/>
          <p:nvPr/>
        </p:nvSpPr>
        <p:spPr>
          <a:xfrm>
            <a:off x="8165783" y="675977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practice, you will often use this command for model evaluation</a:t>
            </a:r>
            <a:endParaRPr b="0" i="0" sz="1750" u="none" cap="none" strike="noStrike"/>
          </a:p>
        </p:txBody>
      </p:sp>
      <p:pic>
        <p:nvPicPr>
          <p:cNvPr descr="preencoded.png" id="232" name="Google Shape;2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793075" y="624364"/>
            <a:ext cx="7557849" cy="141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Target Variable in Supervised Learning</a:t>
            </a:r>
            <a:endParaRPr b="0" i="0" sz="4450" u="none" cap="none" strike="noStrike"/>
          </a:p>
        </p:txBody>
      </p:sp>
      <p:sp>
        <p:nvSpPr>
          <p:cNvPr id="239" name="Google Shape;239;p9"/>
          <p:cNvSpPr/>
          <p:nvPr/>
        </p:nvSpPr>
        <p:spPr>
          <a:xfrm>
            <a:off x="793075" y="2635329"/>
            <a:ext cx="509826" cy="5098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026" y="2677835"/>
            <a:ext cx="339923" cy="4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/>
          <p:nvPr/>
        </p:nvSpPr>
        <p:spPr>
          <a:xfrm>
            <a:off x="1529477" y="2635329"/>
            <a:ext cx="2832616" cy="353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Prediction Goal</a:t>
            </a:r>
            <a:endParaRPr b="0" i="0" sz="2200" u="none" cap="none" strike="noStrike"/>
          </a:p>
        </p:txBody>
      </p:sp>
      <p:sp>
        <p:nvSpPr>
          <p:cNvPr id="242" name="Google Shape;242;p9"/>
          <p:cNvSpPr/>
          <p:nvPr/>
        </p:nvSpPr>
        <p:spPr>
          <a:xfrm>
            <a:off x="1529477" y="3125272"/>
            <a:ext cx="2929295" cy="1087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supervised learning, the target variable is the output you are predicting</a:t>
            </a:r>
            <a:endParaRPr b="0" i="0" sz="1750" u="none" cap="none" strike="noStrike"/>
          </a:p>
        </p:txBody>
      </p:sp>
      <p:sp>
        <p:nvSpPr>
          <p:cNvPr id="243" name="Google Shape;243;p9"/>
          <p:cNvSpPr/>
          <p:nvPr/>
        </p:nvSpPr>
        <p:spPr>
          <a:xfrm>
            <a:off x="4685348" y="2635329"/>
            <a:ext cx="509826" cy="5098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299" y="2677835"/>
            <a:ext cx="339923" cy="4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5421749" y="2635329"/>
            <a:ext cx="2832616" cy="353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46" name="Google Shape;246;p9"/>
          <p:cNvSpPr/>
          <p:nvPr/>
        </p:nvSpPr>
        <p:spPr>
          <a:xfrm>
            <a:off x="5421749" y="3125272"/>
            <a:ext cx="2929295" cy="1087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Predicting whether a patient is a cancer patient or not</a:t>
            </a:r>
            <a:endParaRPr b="0" i="0" sz="1750" u="none" cap="none" strike="noStrike"/>
          </a:p>
        </p:txBody>
      </p:sp>
      <p:sp>
        <p:nvSpPr>
          <p:cNvPr id="247" name="Google Shape;247;p9"/>
          <p:cNvSpPr/>
          <p:nvPr/>
        </p:nvSpPr>
        <p:spPr>
          <a:xfrm>
            <a:off x="793075" y="4694039"/>
            <a:ext cx="509826" cy="5098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026" y="4736544"/>
            <a:ext cx="339923" cy="4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1529477" y="4694039"/>
            <a:ext cx="2832616" cy="353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Representation</a:t>
            </a:r>
            <a:endParaRPr b="0" i="0" sz="2200" u="none" cap="none" strike="noStrike"/>
          </a:p>
        </p:txBody>
      </p:sp>
      <p:sp>
        <p:nvSpPr>
          <p:cNvPr id="250" name="Google Shape;250;p9"/>
          <p:cNvSpPr/>
          <p:nvPr/>
        </p:nvSpPr>
        <p:spPr>
          <a:xfrm>
            <a:off x="1529477" y="5183981"/>
            <a:ext cx="2929295" cy="72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target variable is represented by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750" u="none" cap="none" strike="noStrike"/>
          </a:p>
        </p:txBody>
      </p:sp>
      <p:sp>
        <p:nvSpPr>
          <p:cNvPr id="251" name="Google Shape;251;p9"/>
          <p:cNvSpPr/>
          <p:nvPr/>
        </p:nvSpPr>
        <p:spPr>
          <a:xfrm>
            <a:off x="4685348" y="4694039"/>
            <a:ext cx="509826" cy="5098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0299" y="4736544"/>
            <a:ext cx="339923" cy="4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/>
          <p:nvPr/>
        </p:nvSpPr>
        <p:spPr>
          <a:xfrm>
            <a:off x="5421749" y="4694039"/>
            <a:ext cx="2832616" cy="353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Inputs</a:t>
            </a:r>
            <a:endParaRPr b="0" i="0" sz="2200" u="none" cap="none" strike="noStrike"/>
          </a:p>
        </p:txBody>
      </p:sp>
      <p:sp>
        <p:nvSpPr>
          <p:cNvPr id="254" name="Google Shape;254;p9"/>
          <p:cNvSpPr/>
          <p:nvPr/>
        </p:nvSpPr>
        <p:spPr>
          <a:xfrm>
            <a:off x="5421749" y="5183981"/>
            <a:ext cx="2929295" cy="362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Inputs are represented by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50" u="none" cap="none" strike="noStrike"/>
          </a:p>
        </p:txBody>
      </p:sp>
      <p:sp>
        <p:nvSpPr>
          <p:cNvPr id="255" name="Google Shape;255;p9"/>
          <p:cNvSpPr/>
          <p:nvPr/>
        </p:nvSpPr>
        <p:spPr>
          <a:xfrm>
            <a:off x="793075" y="6390323"/>
            <a:ext cx="509826" cy="509826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026" y="6432828"/>
            <a:ext cx="339923" cy="4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1529477" y="6390323"/>
            <a:ext cx="2832616" cy="353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Importance</a:t>
            </a:r>
            <a:endParaRPr b="0" i="0" sz="2200" u="none" cap="none" strike="noStrike"/>
          </a:p>
        </p:txBody>
      </p:sp>
      <p:sp>
        <p:nvSpPr>
          <p:cNvPr id="258" name="Google Shape;258;p9"/>
          <p:cNvSpPr/>
          <p:nvPr/>
        </p:nvSpPr>
        <p:spPr>
          <a:xfrm>
            <a:off x="1529477" y="6880265"/>
            <a:ext cx="6821448" cy="72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Knowing the target variable is crucial for classification and prediction tasks</a:t>
            </a:r>
            <a:endParaRPr b="0" i="0" sz="1750" u="none" cap="none" strike="noStrike"/>
          </a:p>
        </p:txBody>
      </p:sp>
      <p:pic>
        <p:nvPicPr>
          <p:cNvPr id="259" name="Google Shape;259;p9" title="ezgif.com-animated-gif-maker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7626" y="1943263"/>
            <a:ext cx="5790774" cy="4343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793790" y="1953101"/>
            <a:ext cx="935688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Independent Variables and Labels</a:t>
            </a:r>
            <a:endParaRPr b="0" i="0" sz="4450" u="none" cap="none" strike="noStrike"/>
          </a:p>
        </p:txBody>
      </p:sp>
      <p:sp>
        <p:nvSpPr>
          <p:cNvPr id="266" name="Google Shape;266;p10"/>
          <p:cNvSpPr/>
          <p:nvPr/>
        </p:nvSpPr>
        <p:spPr>
          <a:xfrm>
            <a:off x="793790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41316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0"/>
          <p:cNvSpPr/>
          <p:nvPr/>
        </p:nvSpPr>
        <p:spPr>
          <a:xfrm>
            <a:off x="1530906" y="3370659"/>
            <a:ext cx="345924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Independent Variables (X)</a:t>
            </a:r>
            <a:endParaRPr b="0" i="0" sz="2200" u="none" cap="none" strike="noStrike"/>
          </a:p>
        </p:txBody>
      </p:sp>
      <p:sp>
        <p:nvSpPr>
          <p:cNvPr id="269" name="Google Shape;269;p10"/>
          <p:cNvSpPr/>
          <p:nvPr/>
        </p:nvSpPr>
        <p:spPr>
          <a:xfrm>
            <a:off x="1530906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Independent variables are the input features, represented by </a:t>
            </a: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750" u="none" cap="none" strike="noStrike"/>
          </a:p>
        </p:txBody>
      </p:sp>
      <p:sp>
        <p:nvSpPr>
          <p:cNvPr id="270" name="Google Shape;270;p10"/>
          <p:cNvSpPr/>
          <p:nvPr/>
        </p:nvSpPr>
        <p:spPr>
          <a:xfrm>
            <a:off x="5216962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2032" y="341316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5954078" y="33706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Labels</a:t>
            </a:r>
            <a:endParaRPr b="0" i="0" sz="2200" u="none" cap="none" strike="noStrike"/>
          </a:p>
        </p:txBody>
      </p:sp>
      <p:sp>
        <p:nvSpPr>
          <p:cNvPr id="273" name="Google Shape;273;p10"/>
          <p:cNvSpPr/>
          <p:nvPr/>
        </p:nvSpPr>
        <p:spPr>
          <a:xfrm>
            <a:off x="5954078" y="386107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Labels refer to the known outputs that correspond to the inputs</a:t>
            </a:r>
            <a:endParaRPr b="0" i="0" sz="1750" u="none" cap="none" strike="noStrike"/>
          </a:p>
        </p:txBody>
      </p:sp>
      <p:sp>
        <p:nvSpPr>
          <p:cNvPr id="274" name="Google Shape;274;p10"/>
          <p:cNvSpPr/>
          <p:nvPr/>
        </p:nvSpPr>
        <p:spPr>
          <a:xfrm>
            <a:off x="9640133" y="337065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5204" y="341316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10377249" y="337065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Labeled Data</a:t>
            </a:r>
            <a:endParaRPr b="0" i="0" sz="2200" u="none" cap="none" strike="noStrike"/>
          </a:p>
        </p:txBody>
      </p:sp>
      <p:sp>
        <p:nvSpPr>
          <p:cNvPr id="277" name="Google Shape;277;p10"/>
          <p:cNvSpPr/>
          <p:nvPr/>
        </p:nvSpPr>
        <p:spPr>
          <a:xfrm>
            <a:off x="10377249" y="386107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labeled data, we know the expected output for a given input</a:t>
            </a:r>
            <a:endParaRPr b="0" i="0" sz="1750" u="none" cap="none" strike="noStrike"/>
          </a:p>
        </p:txBody>
      </p:sp>
      <p:sp>
        <p:nvSpPr>
          <p:cNvPr id="278" name="Google Shape;278;p10"/>
          <p:cNvSpPr/>
          <p:nvPr/>
        </p:nvSpPr>
        <p:spPr>
          <a:xfrm>
            <a:off x="793790" y="54231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8860" y="546568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/>
          <p:nvPr/>
        </p:nvSpPr>
        <p:spPr>
          <a:xfrm>
            <a:off x="1530906" y="54231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Mapping</a:t>
            </a:r>
            <a:endParaRPr b="0" i="0" sz="2200" u="none" cap="none" strike="noStrike"/>
          </a:p>
        </p:txBody>
      </p:sp>
      <p:sp>
        <p:nvSpPr>
          <p:cNvPr id="281" name="Google Shape;281;p10"/>
          <p:cNvSpPr/>
          <p:nvPr/>
        </p:nvSpPr>
        <p:spPr>
          <a:xfrm>
            <a:off x="1530906" y="5913596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The model learns to map inputs (X) to outputs (y)</a:t>
            </a:r>
            <a:endParaRPr b="0" i="0" sz="1750" u="none" cap="none" strike="noStrike"/>
          </a:p>
        </p:txBody>
      </p:sp>
      <p:sp>
        <p:nvSpPr>
          <p:cNvPr id="282" name="Google Shape;282;p10"/>
          <p:cNvSpPr/>
          <p:nvPr/>
        </p:nvSpPr>
        <p:spPr>
          <a:xfrm>
            <a:off x="7428667" y="542317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13737" y="546568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8165783" y="542317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Training Data</a:t>
            </a:r>
            <a:endParaRPr b="0" i="0" sz="2200" u="none" cap="none" strike="noStrike"/>
          </a:p>
        </p:txBody>
      </p:sp>
      <p:sp>
        <p:nvSpPr>
          <p:cNvPr id="285" name="Google Shape;285;p10"/>
          <p:cNvSpPr/>
          <p:nvPr/>
        </p:nvSpPr>
        <p:spPr>
          <a:xfrm>
            <a:off x="8165783" y="5913596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contains labeled data for model learning</a:t>
            </a:r>
            <a:endParaRPr b="0" i="0" sz="1750" u="none" cap="none" strike="noStrike"/>
          </a:p>
        </p:txBody>
      </p:sp>
      <p:pic>
        <p:nvPicPr>
          <p:cNvPr descr="preencoded.png" id="286" name="Google Shape;28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2" name="Google Shape;2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502" y="1332239"/>
            <a:ext cx="5565124" cy="556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6280190" y="79355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Cleaning</a:t>
            </a:r>
            <a:endParaRPr b="0" i="0" sz="4450" u="none" cap="none" strike="noStrike"/>
          </a:p>
        </p:txBody>
      </p:sp>
      <p:sp>
        <p:nvSpPr>
          <p:cNvPr id="294" name="Google Shape;294;p11"/>
          <p:cNvSpPr/>
          <p:nvPr/>
        </p:nvSpPr>
        <p:spPr>
          <a:xfrm>
            <a:off x="6280190" y="209764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14014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/>
          <p:nvPr/>
        </p:nvSpPr>
        <p:spPr>
          <a:xfrm>
            <a:off x="7017306" y="209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Accurate Data</a:t>
            </a:r>
            <a:endParaRPr b="0" i="0" sz="2200" u="none" cap="none" strike="noStrike"/>
          </a:p>
        </p:txBody>
      </p:sp>
      <p:sp>
        <p:nvSpPr>
          <p:cNvPr id="297" name="Google Shape;297;p11"/>
          <p:cNvSpPr/>
          <p:nvPr/>
        </p:nvSpPr>
        <p:spPr>
          <a:xfrm>
            <a:off x="7017306" y="2588062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Ensures that data is accurate and free from errors</a:t>
            </a:r>
            <a:endParaRPr b="0" i="0" sz="1750" u="none" cap="none" strike="noStrike"/>
          </a:p>
        </p:txBody>
      </p:sp>
      <p:sp>
        <p:nvSpPr>
          <p:cNvPr id="298" name="Google Shape;298;p11"/>
          <p:cNvSpPr/>
          <p:nvPr/>
        </p:nvSpPr>
        <p:spPr>
          <a:xfrm>
            <a:off x="10171867" y="209764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56937" y="214014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10908983" y="20976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Removing Issues</a:t>
            </a:r>
            <a:endParaRPr b="0" i="0" sz="2200" u="none" cap="none" strike="noStrike"/>
          </a:p>
        </p:txBody>
      </p:sp>
      <p:sp>
        <p:nvSpPr>
          <p:cNvPr id="301" name="Google Shape;301;p11"/>
          <p:cNvSpPr/>
          <p:nvPr/>
        </p:nvSpPr>
        <p:spPr>
          <a:xfrm>
            <a:off x="10908983" y="2588062"/>
            <a:ext cx="292774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cleaning removes duplicate rows, inconsistencies, and illogical values</a:t>
            </a:r>
            <a:endParaRPr b="0" i="0" sz="1750" u="none" cap="none" strike="noStrike"/>
          </a:p>
        </p:txBody>
      </p:sp>
      <p:sp>
        <p:nvSpPr>
          <p:cNvPr id="302" name="Google Shape;302;p11"/>
          <p:cNvSpPr/>
          <p:nvPr/>
        </p:nvSpPr>
        <p:spPr>
          <a:xfrm>
            <a:off x="6280190" y="452163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456414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7017306" y="45216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Standardizing</a:t>
            </a:r>
            <a:endParaRPr b="0" i="0" sz="2200" u="none" cap="none" strike="noStrike"/>
          </a:p>
        </p:txBody>
      </p:sp>
      <p:sp>
        <p:nvSpPr>
          <p:cNvPr id="305" name="Google Shape;305;p11"/>
          <p:cNvSpPr/>
          <p:nvPr/>
        </p:nvSpPr>
        <p:spPr>
          <a:xfrm>
            <a:off x="7017306" y="5012055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Standardizing the format of qualifications (e.g., "PhD")</a:t>
            </a:r>
            <a:endParaRPr b="0" i="0" sz="1750" u="none" cap="none" strike="noStrike"/>
          </a:p>
        </p:txBody>
      </p:sp>
      <p:sp>
        <p:nvSpPr>
          <p:cNvPr id="306" name="Google Shape;306;p11"/>
          <p:cNvSpPr/>
          <p:nvPr/>
        </p:nvSpPr>
        <p:spPr>
          <a:xfrm>
            <a:off x="10171867" y="452163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56937" y="456414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10908983" y="45216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Correction</a:t>
            </a:r>
            <a:endParaRPr b="0" i="0" sz="2200" u="none" cap="none" strike="noStrike"/>
          </a:p>
        </p:txBody>
      </p:sp>
      <p:sp>
        <p:nvSpPr>
          <p:cNvPr id="309" name="Google Shape;309;p11"/>
          <p:cNvSpPr/>
          <p:nvPr/>
        </p:nvSpPr>
        <p:spPr>
          <a:xfrm>
            <a:off x="10908983" y="5012055"/>
            <a:ext cx="292774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Data cleaning may involve removing or correcting incorrect data</a:t>
            </a:r>
            <a:endParaRPr b="0" i="0" sz="1750" u="none" cap="none" strike="noStrike"/>
          </a:p>
        </p:txBody>
      </p:sp>
      <p:sp>
        <p:nvSpPr>
          <p:cNvPr id="310" name="Google Shape;310;p11"/>
          <p:cNvSpPr/>
          <p:nvPr/>
        </p:nvSpPr>
        <p:spPr>
          <a:xfrm>
            <a:off x="6280190" y="658272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65260" y="662523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7017306" y="65827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Critical Step</a:t>
            </a:r>
            <a:endParaRPr b="0" i="0" sz="2200" u="none" cap="none" strike="noStrike"/>
          </a:p>
        </p:txBody>
      </p:sp>
      <p:sp>
        <p:nvSpPr>
          <p:cNvPr id="313" name="Google Shape;313;p11"/>
          <p:cNvSpPr/>
          <p:nvPr/>
        </p:nvSpPr>
        <p:spPr>
          <a:xfrm>
            <a:off x="7017306" y="707314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It's a critical step in preparing data for machine learning models</a:t>
            </a:r>
            <a:endParaRPr b="0" i="0" sz="1750" u="none" cap="none" strike="noStrike"/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"/>
          <p:cNvSpPr/>
          <p:nvPr/>
        </p:nvSpPr>
        <p:spPr>
          <a:xfrm>
            <a:off x="793790" y="1284923"/>
            <a:ext cx="682978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Missing Values</a:t>
            </a:r>
            <a:endParaRPr b="0" i="0" sz="4450" u="none" cap="none" strike="noStrike"/>
          </a:p>
        </p:txBody>
      </p:sp>
      <p:sp>
        <p:nvSpPr>
          <p:cNvPr id="321" name="Google Shape;321;p12"/>
          <p:cNvSpPr/>
          <p:nvPr/>
        </p:nvSpPr>
        <p:spPr>
          <a:xfrm>
            <a:off x="793790" y="233386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Missing values are common in datasets. Missing data could be names, cities, or numeric values like salaries. Proper handling ensures better model performance.</a:t>
            </a:r>
            <a:endParaRPr b="0" i="0" sz="1750" u="none" cap="none" strike="noStrike"/>
          </a:p>
        </p:txBody>
      </p:sp>
      <p:sp>
        <p:nvSpPr>
          <p:cNvPr id="322" name="Google Shape;322;p12"/>
          <p:cNvSpPr/>
          <p:nvPr/>
        </p:nvSpPr>
        <p:spPr>
          <a:xfrm>
            <a:off x="793790" y="3314819"/>
            <a:ext cx="13042821" cy="3629739"/>
          </a:xfrm>
          <a:prstGeom prst="roundRect">
            <a:avLst>
              <a:gd fmla="val 93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801410" y="3322439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1029653" y="346614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Issue</a:t>
            </a:r>
            <a:endParaRPr b="0" i="0" sz="1750" u="none" cap="none" strike="noStrike"/>
          </a:p>
        </p:txBody>
      </p:sp>
      <p:sp>
        <p:nvSpPr>
          <p:cNvPr id="325" name="Google Shape;325;p12"/>
          <p:cNvSpPr/>
          <p:nvPr/>
        </p:nvSpPr>
        <p:spPr>
          <a:xfrm>
            <a:off x="5375077" y="3466148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750" u="none" cap="none" strike="noStrike"/>
          </a:p>
        </p:txBody>
      </p:sp>
      <p:sp>
        <p:nvSpPr>
          <p:cNvPr id="326" name="Google Shape;326;p12"/>
          <p:cNvSpPr/>
          <p:nvPr/>
        </p:nvSpPr>
        <p:spPr>
          <a:xfrm>
            <a:off x="9716691" y="3466148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750" u="none" cap="none" strike="noStrike"/>
          </a:p>
        </p:txBody>
      </p:sp>
      <p:sp>
        <p:nvSpPr>
          <p:cNvPr id="327" name="Google Shape;327;p12"/>
          <p:cNvSpPr/>
          <p:nvPr/>
        </p:nvSpPr>
        <p:spPr>
          <a:xfrm>
            <a:off x="801410" y="3972758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"/>
          <p:cNvSpPr/>
          <p:nvPr/>
        </p:nvSpPr>
        <p:spPr>
          <a:xfrm>
            <a:off x="1029653" y="411646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Missing text data</a:t>
            </a:r>
            <a:endParaRPr b="0" i="0" sz="1750" u="none" cap="none" strike="noStrike"/>
          </a:p>
        </p:txBody>
      </p:sp>
      <p:sp>
        <p:nvSpPr>
          <p:cNvPr id="329" name="Google Shape;329;p12"/>
          <p:cNvSpPr/>
          <p:nvPr/>
        </p:nvSpPr>
        <p:spPr>
          <a:xfrm>
            <a:off x="5375077" y="4116467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 default values</a:t>
            </a:r>
            <a:endParaRPr b="0" i="0" sz="1750" u="none" cap="none" strike="noStrike"/>
          </a:p>
        </p:txBody>
      </p:sp>
      <p:sp>
        <p:nvSpPr>
          <p:cNvPr id="330" name="Google Shape;330;p12"/>
          <p:cNvSpPr/>
          <p:nvPr/>
        </p:nvSpPr>
        <p:spPr>
          <a:xfrm>
            <a:off x="9716691" y="4116467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"Unknown" for missing city</a:t>
            </a:r>
            <a:endParaRPr b="0" i="0" sz="1750" u="none" cap="none" strike="noStrike"/>
          </a:p>
        </p:txBody>
      </p:sp>
      <p:sp>
        <p:nvSpPr>
          <p:cNvPr id="331" name="Google Shape;331;p12"/>
          <p:cNvSpPr/>
          <p:nvPr/>
        </p:nvSpPr>
        <p:spPr>
          <a:xfrm>
            <a:off x="801410" y="4623078"/>
            <a:ext cx="1302627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1029653" y="476678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Missing numeric data</a:t>
            </a:r>
            <a:endParaRPr b="0" i="0" sz="1750" u="none" cap="none" strike="noStrike"/>
          </a:p>
        </p:txBody>
      </p:sp>
      <p:sp>
        <p:nvSpPr>
          <p:cNvPr id="333" name="Google Shape;333;p12"/>
          <p:cNvSpPr/>
          <p:nvPr/>
        </p:nvSpPr>
        <p:spPr>
          <a:xfrm>
            <a:off x="5375077" y="476678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 most frequent value (mode)</a:t>
            </a:r>
            <a:endParaRPr b="0" i="0" sz="1750" u="none" cap="none" strike="noStrike"/>
          </a:p>
        </p:txBody>
      </p:sp>
      <p:sp>
        <p:nvSpPr>
          <p:cNvPr id="334" name="Google Shape;334;p12"/>
          <p:cNvSpPr/>
          <p:nvPr/>
        </p:nvSpPr>
        <p:spPr>
          <a:xfrm>
            <a:off x="9716691" y="476678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Most common salary in dataset</a:t>
            </a:r>
            <a:endParaRPr b="0" i="0" sz="1750" u="none" cap="none" strike="noStrike"/>
          </a:p>
        </p:txBody>
      </p:sp>
      <p:sp>
        <p:nvSpPr>
          <p:cNvPr id="335" name="Google Shape;335;p12"/>
          <p:cNvSpPr/>
          <p:nvPr/>
        </p:nvSpPr>
        <p:spPr>
          <a:xfrm>
            <a:off x="801410" y="5273397"/>
            <a:ext cx="1302627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1029653" y="541710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Missing numeric data</a:t>
            </a:r>
            <a:endParaRPr b="0" i="0" sz="1750" u="none" cap="none" strike="noStrike"/>
          </a:p>
        </p:txBody>
      </p:sp>
      <p:sp>
        <p:nvSpPr>
          <p:cNvPr id="337" name="Google Shape;337;p12"/>
          <p:cNvSpPr/>
          <p:nvPr/>
        </p:nvSpPr>
        <p:spPr>
          <a:xfrm>
            <a:off x="5375077" y="541710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 mean/median</a:t>
            </a:r>
            <a:endParaRPr b="0" i="0" sz="1750" u="none" cap="none" strike="noStrike"/>
          </a:p>
        </p:txBody>
      </p:sp>
      <p:sp>
        <p:nvSpPr>
          <p:cNvPr id="338" name="Google Shape;338;p12"/>
          <p:cNvSpPr/>
          <p:nvPr/>
        </p:nvSpPr>
        <p:spPr>
          <a:xfrm>
            <a:off x="9716691" y="541710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Average age for missing age values</a:t>
            </a:r>
            <a:endParaRPr b="0" i="0" sz="1750" u="none" cap="none" strike="noStrike"/>
          </a:p>
        </p:txBody>
      </p:sp>
      <p:sp>
        <p:nvSpPr>
          <p:cNvPr id="339" name="Google Shape;339;p12"/>
          <p:cNvSpPr/>
          <p:nvPr/>
        </p:nvSpPr>
        <p:spPr>
          <a:xfrm>
            <a:off x="801410" y="5923717"/>
            <a:ext cx="1302627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1029653" y="606742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Excessive missing values</a:t>
            </a:r>
            <a:endParaRPr b="0" i="0" sz="1750" u="none" cap="none" strike="noStrike"/>
          </a:p>
        </p:txBody>
      </p:sp>
      <p:sp>
        <p:nvSpPr>
          <p:cNvPr id="341" name="Google Shape;341;p12"/>
          <p:cNvSpPr/>
          <p:nvPr/>
        </p:nvSpPr>
        <p:spPr>
          <a:xfrm>
            <a:off x="5375077" y="6067425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Remove rows</a:t>
            </a:r>
            <a:endParaRPr b="0" i="0" sz="1750" u="none" cap="none" strike="noStrike"/>
          </a:p>
        </p:txBody>
      </p:sp>
      <p:sp>
        <p:nvSpPr>
          <p:cNvPr id="342" name="Google Shape;342;p12"/>
          <p:cNvSpPr/>
          <p:nvPr/>
        </p:nvSpPr>
        <p:spPr>
          <a:xfrm>
            <a:off x="9716691" y="6067425"/>
            <a:ext cx="388417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Delete records with too many missing fields</a:t>
            </a:r>
            <a:endParaRPr b="0" i="0" sz="1750" u="none" cap="none" strike="noStrike"/>
          </a:p>
        </p:txBody>
      </p:sp>
      <p:pic>
        <p:nvPicPr>
          <p:cNvPr descr="preencoded.png" id="343" name="Google Shape;3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793790" y="787837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Normalization and Scaling</a:t>
            </a:r>
            <a:endParaRPr b="0" i="0" sz="4450" u="none" cap="none" strike="noStrike"/>
          </a:p>
        </p:txBody>
      </p:sp>
      <p:sp>
        <p:nvSpPr>
          <p:cNvPr id="350" name="Google Shape;350;p13"/>
          <p:cNvSpPr/>
          <p:nvPr/>
        </p:nvSpPr>
        <p:spPr>
          <a:xfrm>
            <a:off x="793790" y="2772370"/>
            <a:ext cx="25871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Normalization</a:t>
            </a:r>
            <a:endParaRPr b="0" i="0" sz="2200" u="none" cap="none" strike="noStrike"/>
          </a:p>
        </p:txBody>
      </p:sp>
      <p:sp>
        <p:nvSpPr>
          <p:cNvPr id="351" name="Google Shape;351;p13"/>
          <p:cNvSpPr/>
          <p:nvPr/>
        </p:nvSpPr>
        <p:spPr>
          <a:xfrm>
            <a:off x="793790" y="3353514"/>
            <a:ext cx="25871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Rescales data to a specific range (e.g., 0 to 1).</a:t>
            </a:r>
            <a:endParaRPr b="0" i="0" sz="1750" u="none" cap="none" strike="noStrike"/>
          </a:p>
        </p:txBody>
      </p:sp>
      <p:sp>
        <p:nvSpPr>
          <p:cNvPr id="352" name="Google Shape;352;p13"/>
          <p:cNvSpPr/>
          <p:nvPr/>
        </p:nvSpPr>
        <p:spPr>
          <a:xfrm>
            <a:off x="3941921" y="2772370"/>
            <a:ext cx="258710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Scaling</a:t>
            </a:r>
            <a:endParaRPr b="0" i="0" sz="2200" u="none" cap="none" strike="noStrike"/>
          </a:p>
        </p:txBody>
      </p:sp>
      <p:sp>
        <p:nvSpPr>
          <p:cNvPr id="353" name="Google Shape;353;p13"/>
          <p:cNvSpPr/>
          <p:nvPr/>
        </p:nvSpPr>
        <p:spPr>
          <a:xfrm>
            <a:off x="3941921" y="3353514"/>
            <a:ext cx="258710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Adjusts data to have a similar scale, preventing features with larger ranges from dominating.</a:t>
            </a:r>
            <a:endParaRPr b="0" i="0" sz="1750" u="none" cap="none" strike="noStrike"/>
          </a:p>
        </p:txBody>
      </p:sp>
      <p:sp>
        <p:nvSpPr>
          <p:cNvPr id="354" name="Google Shape;354;p13"/>
          <p:cNvSpPr/>
          <p:nvPr/>
        </p:nvSpPr>
        <p:spPr>
          <a:xfrm>
            <a:off x="793790" y="5627251"/>
            <a:ext cx="57276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For example, distances in kilometers and meters can be normalized to a common range. Normalization and scaling improve the model's ability to learn from data. These techniques are especially important for distance-based models like KNN.</a:t>
            </a:r>
            <a:endParaRPr b="0" i="0" sz="1750" u="none" cap="none" strike="noStrike"/>
          </a:p>
        </p:txBody>
      </p:sp>
      <p:pic>
        <p:nvPicPr>
          <p:cNvPr id="355" name="Google Shape;355;p13" title="rescale and normaliz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0050" y="1289113"/>
            <a:ext cx="7310550" cy="52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/>
          <p:nvPr/>
        </p:nvSpPr>
        <p:spPr>
          <a:xfrm>
            <a:off x="6280190" y="161008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Outliers</a:t>
            </a:r>
            <a:endParaRPr b="0" i="0" sz="4450" u="none" cap="none" strike="noStrike"/>
          </a:p>
        </p:txBody>
      </p:sp>
      <p:sp>
        <p:nvSpPr>
          <p:cNvPr id="362" name="Google Shape;362;p14"/>
          <p:cNvSpPr/>
          <p:nvPr/>
        </p:nvSpPr>
        <p:spPr>
          <a:xfrm>
            <a:off x="6280190" y="28858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Identifying Outliers</a:t>
            </a:r>
            <a:endParaRPr b="0" i="0" sz="2200" u="none" cap="none" strike="noStrike"/>
          </a:p>
        </p:txBody>
      </p:sp>
      <p:sp>
        <p:nvSpPr>
          <p:cNvPr id="363" name="Google Shape;363;p14"/>
          <p:cNvSpPr/>
          <p:nvPr/>
        </p:nvSpPr>
        <p:spPr>
          <a:xfrm>
            <a:off x="6280190" y="3466981"/>
            <a:ext cx="35015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Outliers are values that are significantly different from the rest of the data.</a:t>
            </a:r>
            <a:endParaRPr b="0" i="0" sz="1750" u="none" cap="none" strike="noStrike"/>
          </a:p>
        </p:txBody>
      </p:sp>
      <p:sp>
        <p:nvSpPr>
          <p:cNvPr id="364" name="Google Shape;364;p14"/>
          <p:cNvSpPr/>
          <p:nvPr/>
        </p:nvSpPr>
        <p:spPr>
          <a:xfrm>
            <a:off x="6280190" y="4759762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Outliers can distort model training and prediction accuracy.</a:t>
            </a:r>
            <a:endParaRPr b="0" i="0" sz="1750" u="none" cap="none" strike="noStrike"/>
          </a:p>
        </p:txBody>
      </p:sp>
      <p:sp>
        <p:nvSpPr>
          <p:cNvPr id="365" name="Google Shape;365;p14"/>
          <p:cNvSpPr/>
          <p:nvPr/>
        </p:nvSpPr>
        <p:spPr>
          <a:xfrm>
            <a:off x="6280190" y="5689640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Proper handling of outliers is essential for accurate modeling.</a:t>
            </a:r>
            <a:endParaRPr b="0" i="0" sz="1750" u="none" cap="none" strike="noStrike"/>
          </a:p>
        </p:txBody>
      </p:sp>
      <p:sp>
        <p:nvSpPr>
          <p:cNvPr id="366" name="Google Shape;366;p14"/>
          <p:cNvSpPr/>
          <p:nvPr/>
        </p:nvSpPr>
        <p:spPr>
          <a:xfrm>
            <a:off x="10342721" y="2885837"/>
            <a:ext cx="350150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Methods to Handle Outliers</a:t>
            </a:r>
            <a:endParaRPr b="0" i="0" sz="2200" u="none" cap="none" strike="noStrike"/>
          </a:p>
        </p:txBody>
      </p:sp>
      <p:sp>
        <p:nvSpPr>
          <p:cNvPr id="367" name="Google Shape;367;p14"/>
          <p:cNvSpPr/>
          <p:nvPr/>
        </p:nvSpPr>
        <p:spPr>
          <a:xfrm>
            <a:off x="10342721" y="3821311"/>
            <a:ext cx="35015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Removing extreme outliers</a:t>
            </a:r>
            <a:endParaRPr b="0" i="0" sz="1750" u="none" cap="none" strike="noStrike"/>
          </a:p>
        </p:txBody>
      </p:sp>
      <p:sp>
        <p:nvSpPr>
          <p:cNvPr id="368" name="Google Shape;368;p14"/>
          <p:cNvSpPr/>
          <p:nvPr/>
        </p:nvSpPr>
        <p:spPr>
          <a:xfrm>
            <a:off x="10342721" y="4263509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Capping outliers to a reasonable range</a:t>
            </a:r>
            <a:endParaRPr b="0" i="0" sz="1750" u="none" cap="none" strike="noStrike"/>
          </a:p>
        </p:txBody>
      </p:sp>
      <p:sp>
        <p:nvSpPr>
          <p:cNvPr id="369" name="Google Shape;369;p14"/>
          <p:cNvSpPr/>
          <p:nvPr/>
        </p:nvSpPr>
        <p:spPr>
          <a:xfrm>
            <a:off x="10342721" y="5068610"/>
            <a:ext cx="35015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Transforming data to reduce the impact of outliers</a:t>
            </a:r>
            <a:endParaRPr b="0" i="0" sz="1750" u="none" cap="none" strike="noStrike"/>
          </a:p>
        </p:txBody>
      </p:sp>
      <p:pic>
        <p:nvPicPr>
          <p:cNvPr descr="preencoded.png" id="370" name="Google Shape;3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4" title="data outlier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793790" y="716518"/>
            <a:ext cx="3685937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900"/>
              <a:buFont typeface="Platypi Medium"/>
              <a:buNone/>
            </a:pPr>
            <a:r>
              <a:rPr b="0" i="0" lang="en-US" sz="29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Feature Engineering</a:t>
            </a:r>
            <a:endParaRPr b="0" i="0" sz="2900" u="none" cap="none" strike="noStrike"/>
          </a:p>
        </p:txBody>
      </p:sp>
      <p:sp>
        <p:nvSpPr>
          <p:cNvPr id="378" name="Google Shape;378;p15"/>
          <p:cNvSpPr/>
          <p:nvPr/>
        </p:nvSpPr>
        <p:spPr>
          <a:xfrm>
            <a:off x="793790" y="1564243"/>
            <a:ext cx="331708" cy="33170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849094" y="1591925"/>
            <a:ext cx="221099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1700" u="none" cap="none" strike="noStrike"/>
          </a:p>
        </p:txBody>
      </p:sp>
      <p:sp>
        <p:nvSpPr>
          <p:cNvPr id="380" name="Google Shape;380;p15"/>
          <p:cNvSpPr/>
          <p:nvPr/>
        </p:nvSpPr>
        <p:spPr>
          <a:xfrm>
            <a:off x="1272897" y="1564243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Transformation</a:t>
            </a:r>
            <a:endParaRPr b="0" i="0" sz="1450" u="none" cap="none" strike="noStrike"/>
          </a:p>
        </p:txBody>
      </p:sp>
      <p:sp>
        <p:nvSpPr>
          <p:cNvPr id="381" name="Google Shape;381;p15"/>
          <p:cNvSpPr/>
          <p:nvPr/>
        </p:nvSpPr>
        <p:spPr>
          <a:xfrm>
            <a:off x="1272897" y="1882973"/>
            <a:ext cx="3770233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 engineering is the process of transforming raw data into meaningful features</a:t>
            </a:r>
            <a:endParaRPr b="0" i="0" sz="1150" u="none" cap="none" strike="noStrike"/>
          </a:p>
        </p:txBody>
      </p:sp>
      <p:sp>
        <p:nvSpPr>
          <p:cNvPr id="382" name="Google Shape;382;p15"/>
          <p:cNvSpPr/>
          <p:nvPr/>
        </p:nvSpPr>
        <p:spPr>
          <a:xfrm>
            <a:off x="5190530" y="1564243"/>
            <a:ext cx="331708" cy="33170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5245834" y="1591925"/>
            <a:ext cx="221099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1700" u="none" cap="none" strike="noStrike"/>
          </a:p>
        </p:txBody>
      </p:sp>
      <p:sp>
        <p:nvSpPr>
          <p:cNvPr id="384" name="Google Shape;384;p15"/>
          <p:cNvSpPr/>
          <p:nvPr/>
        </p:nvSpPr>
        <p:spPr>
          <a:xfrm>
            <a:off x="5669637" y="1564243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Combination</a:t>
            </a:r>
            <a:endParaRPr b="0" i="0" sz="1450" u="none" cap="none" strike="noStrike"/>
          </a:p>
        </p:txBody>
      </p:sp>
      <p:sp>
        <p:nvSpPr>
          <p:cNvPr id="385" name="Google Shape;385;p15"/>
          <p:cNvSpPr/>
          <p:nvPr/>
        </p:nvSpPr>
        <p:spPr>
          <a:xfrm>
            <a:off x="5669637" y="1882973"/>
            <a:ext cx="3770233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process includes grouping, combining, or transforming features</a:t>
            </a:r>
            <a:endParaRPr b="0" i="0" sz="1150" u="none" cap="none" strike="noStrike"/>
          </a:p>
        </p:txBody>
      </p:sp>
      <p:sp>
        <p:nvSpPr>
          <p:cNvPr id="386" name="Google Shape;386;p15"/>
          <p:cNvSpPr/>
          <p:nvPr/>
        </p:nvSpPr>
        <p:spPr>
          <a:xfrm>
            <a:off x="9587270" y="1564243"/>
            <a:ext cx="331708" cy="33170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9642574" y="1591925"/>
            <a:ext cx="221099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1700" u="none" cap="none" strike="noStrike"/>
          </a:p>
        </p:txBody>
      </p:sp>
      <p:sp>
        <p:nvSpPr>
          <p:cNvPr id="388" name="Google Shape;388;p15"/>
          <p:cNvSpPr/>
          <p:nvPr/>
        </p:nvSpPr>
        <p:spPr>
          <a:xfrm>
            <a:off x="10066377" y="1564243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Enhancement</a:t>
            </a:r>
            <a:endParaRPr b="0" i="0" sz="1450" u="none" cap="none" strike="noStrike"/>
          </a:p>
        </p:txBody>
      </p:sp>
      <p:sp>
        <p:nvSpPr>
          <p:cNvPr id="389" name="Google Shape;389;p15"/>
          <p:cNvSpPr/>
          <p:nvPr/>
        </p:nvSpPr>
        <p:spPr>
          <a:xfrm>
            <a:off x="10066377" y="1882973"/>
            <a:ext cx="3770233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 engineering can help enhance model performance by providing better input data</a:t>
            </a:r>
            <a:endParaRPr b="0" i="0" sz="1150" u="none" cap="none" strike="noStrike"/>
          </a:p>
        </p:txBody>
      </p:sp>
      <p:sp>
        <p:nvSpPr>
          <p:cNvPr id="390" name="Google Shape;390;p15"/>
          <p:cNvSpPr/>
          <p:nvPr/>
        </p:nvSpPr>
        <p:spPr>
          <a:xfrm>
            <a:off x="793790" y="2667714"/>
            <a:ext cx="331708" cy="33170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849094" y="2695396"/>
            <a:ext cx="221099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1700" u="none" cap="none" strike="noStrike"/>
          </a:p>
        </p:txBody>
      </p:sp>
      <p:sp>
        <p:nvSpPr>
          <p:cNvPr id="392" name="Google Shape;392;p15"/>
          <p:cNvSpPr/>
          <p:nvPr/>
        </p:nvSpPr>
        <p:spPr>
          <a:xfrm>
            <a:off x="1272897" y="2667714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1450" u="none" cap="none" strike="noStrike"/>
          </a:p>
        </p:txBody>
      </p:sp>
      <p:sp>
        <p:nvSpPr>
          <p:cNvPr id="393" name="Google Shape;393;p15"/>
          <p:cNvSpPr/>
          <p:nvPr/>
        </p:nvSpPr>
        <p:spPr>
          <a:xfrm>
            <a:off x="1272897" y="2986445"/>
            <a:ext cx="5968603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Combining multiple features like age and experience into a single "experience level" feature</a:t>
            </a:r>
            <a:endParaRPr b="0" i="0" sz="1150" u="none" cap="none" strike="noStrike"/>
          </a:p>
        </p:txBody>
      </p:sp>
      <p:sp>
        <p:nvSpPr>
          <p:cNvPr id="394" name="Google Shape;394;p15"/>
          <p:cNvSpPr/>
          <p:nvPr/>
        </p:nvSpPr>
        <p:spPr>
          <a:xfrm>
            <a:off x="7388900" y="2667714"/>
            <a:ext cx="331708" cy="331708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7444204" y="2695396"/>
            <a:ext cx="221099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00"/>
              <a:buFont typeface="Platypi Medium"/>
              <a:buNone/>
            </a:pPr>
            <a:r>
              <a:rPr b="0" i="0" lang="en-US" sz="1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1700" u="none" cap="none" strike="noStrike"/>
          </a:p>
        </p:txBody>
      </p:sp>
      <p:sp>
        <p:nvSpPr>
          <p:cNvPr id="396" name="Google Shape;396;p15"/>
          <p:cNvSpPr/>
          <p:nvPr/>
        </p:nvSpPr>
        <p:spPr>
          <a:xfrm>
            <a:off x="7868007" y="2667714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14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Ongoing Process</a:t>
            </a:r>
            <a:endParaRPr b="0" i="0" sz="1450" u="none" cap="none" strike="noStrike"/>
          </a:p>
        </p:txBody>
      </p:sp>
      <p:sp>
        <p:nvSpPr>
          <p:cNvPr id="397" name="Google Shape;397;p15"/>
          <p:cNvSpPr/>
          <p:nvPr/>
        </p:nvSpPr>
        <p:spPr>
          <a:xfrm>
            <a:off x="7868007" y="2986445"/>
            <a:ext cx="5968603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is an ongoing process to refine and improve the input data</a:t>
            </a:r>
            <a:endParaRPr b="0" i="0" sz="1150" u="none" cap="none" strike="noStrike"/>
          </a:p>
        </p:txBody>
      </p:sp>
      <p:pic>
        <p:nvPicPr>
          <p:cNvPr descr="preencoded.png" id="398" name="Google Shape;3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0029" y="5517469"/>
            <a:ext cx="4970341" cy="2134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15" title="feature engineering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4475" y="3669875"/>
            <a:ext cx="8041450" cy="42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6"/>
          <p:cNvSpPr/>
          <p:nvPr/>
        </p:nvSpPr>
        <p:spPr>
          <a:xfrm>
            <a:off x="793790" y="98917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Label Encoding</a:t>
            </a:r>
            <a:endParaRPr b="0" i="0" sz="4450" u="none" cap="none" strike="noStrike"/>
          </a:p>
        </p:txBody>
      </p:sp>
      <p:sp>
        <p:nvSpPr>
          <p:cNvPr id="407" name="Google Shape;407;p16"/>
          <p:cNvSpPr/>
          <p:nvPr/>
        </p:nvSpPr>
        <p:spPr>
          <a:xfrm>
            <a:off x="793790" y="215157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Label Encoding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Assigns a unique number to each category.</a:t>
            </a:r>
            <a:endParaRPr b="0" i="0" sz="1750" u="none" cap="none" strike="noStrike"/>
          </a:p>
        </p:txBody>
      </p:sp>
      <p:sp>
        <p:nvSpPr>
          <p:cNvPr id="408" name="Google Shape;408;p16"/>
          <p:cNvSpPr/>
          <p:nvPr/>
        </p:nvSpPr>
        <p:spPr>
          <a:xfrm>
            <a:off x="793790" y="276963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Assigning "red" as 0, "blue" as 1, and "green" as 2.</a:t>
            </a:r>
            <a:endParaRPr b="0" i="0" sz="1750" u="none" cap="none" strike="noStrike"/>
          </a:p>
        </p:txBody>
      </p:sp>
      <p:sp>
        <p:nvSpPr>
          <p:cNvPr id="409" name="Google Shape;409;p16"/>
          <p:cNvSpPr/>
          <p:nvPr/>
        </p:nvSpPr>
        <p:spPr>
          <a:xfrm>
            <a:off x="793790" y="3501033"/>
            <a:ext cx="4120753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0</a:t>
            </a:r>
            <a:endParaRPr b="0" i="0" sz="5850" u="none" cap="none" strike="noStrike"/>
          </a:p>
        </p:txBody>
      </p:sp>
      <p:sp>
        <p:nvSpPr>
          <p:cNvPr id="410" name="Google Shape;410;p16"/>
          <p:cNvSpPr/>
          <p:nvPr/>
        </p:nvSpPr>
        <p:spPr>
          <a:xfrm>
            <a:off x="1436489" y="45328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Red</a:t>
            </a:r>
            <a:endParaRPr b="0" i="0" sz="2200" u="none" cap="none" strike="noStrike"/>
          </a:p>
        </p:txBody>
      </p:sp>
      <p:sp>
        <p:nvSpPr>
          <p:cNvPr id="411" name="Google Shape;411;p16"/>
          <p:cNvSpPr/>
          <p:nvPr/>
        </p:nvSpPr>
        <p:spPr>
          <a:xfrm>
            <a:off x="793790" y="5023247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Assigned numerical value</a:t>
            </a:r>
            <a:endParaRPr b="0" i="0" sz="1750" u="none" cap="none" strike="noStrike"/>
          </a:p>
        </p:txBody>
      </p:sp>
      <p:sp>
        <p:nvSpPr>
          <p:cNvPr id="412" name="Google Shape;412;p16"/>
          <p:cNvSpPr/>
          <p:nvPr/>
        </p:nvSpPr>
        <p:spPr>
          <a:xfrm>
            <a:off x="5254704" y="3501033"/>
            <a:ext cx="4120872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5850" u="none" cap="none" strike="noStrike"/>
          </a:p>
        </p:txBody>
      </p:sp>
      <p:sp>
        <p:nvSpPr>
          <p:cNvPr id="413" name="Google Shape;413;p16"/>
          <p:cNvSpPr/>
          <p:nvPr/>
        </p:nvSpPr>
        <p:spPr>
          <a:xfrm>
            <a:off x="5897523" y="45328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Blue</a:t>
            </a:r>
            <a:endParaRPr b="0" i="0" sz="2200" u="none" cap="none" strike="noStrike"/>
          </a:p>
        </p:txBody>
      </p:sp>
      <p:sp>
        <p:nvSpPr>
          <p:cNvPr id="414" name="Google Shape;414;p16"/>
          <p:cNvSpPr/>
          <p:nvPr/>
        </p:nvSpPr>
        <p:spPr>
          <a:xfrm>
            <a:off x="5254704" y="5023247"/>
            <a:ext cx="412087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Assigned numerical value</a:t>
            </a:r>
            <a:endParaRPr b="0" i="0" sz="1750" u="none" cap="none" strike="noStrike"/>
          </a:p>
        </p:txBody>
      </p:sp>
      <p:sp>
        <p:nvSpPr>
          <p:cNvPr id="415" name="Google Shape;415;p16"/>
          <p:cNvSpPr/>
          <p:nvPr/>
        </p:nvSpPr>
        <p:spPr>
          <a:xfrm>
            <a:off x="9715738" y="3501033"/>
            <a:ext cx="4120753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5850"/>
              <a:buFont typeface="Platypi Medium"/>
              <a:buNone/>
            </a:pPr>
            <a:r>
              <a:rPr b="0" i="0" lang="en-US" sz="58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5850" u="none" cap="none" strike="noStrike"/>
          </a:p>
        </p:txBody>
      </p:sp>
      <p:sp>
        <p:nvSpPr>
          <p:cNvPr id="416" name="Google Shape;416;p16"/>
          <p:cNvSpPr/>
          <p:nvPr/>
        </p:nvSpPr>
        <p:spPr>
          <a:xfrm>
            <a:off x="10358438" y="45328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Green</a:t>
            </a:r>
            <a:endParaRPr b="0" i="0" sz="2200" u="none" cap="none" strike="noStrike"/>
          </a:p>
        </p:txBody>
      </p:sp>
      <p:sp>
        <p:nvSpPr>
          <p:cNvPr id="417" name="Google Shape;417;p16"/>
          <p:cNvSpPr/>
          <p:nvPr/>
        </p:nvSpPr>
        <p:spPr>
          <a:xfrm>
            <a:off x="9715738" y="5023247"/>
            <a:ext cx="41207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Assigned numerical value</a:t>
            </a:r>
            <a:endParaRPr b="0" i="0" sz="1750" u="none" cap="none" strike="noStrike"/>
          </a:p>
        </p:txBody>
      </p:sp>
      <p:sp>
        <p:nvSpPr>
          <p:cNvPr id="418" name="Google Shape;418;p16"/>
          <p:cNvSpPr/>
          <p:nvPr/>
        </p:nvSpPr>
        <p:spPr>
          <a:xfrm>
            <a:off x="793790" y="564130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when categories have no meaningful order.</a:t>
            </a:r>
            <a:endParaRPr b="0" i="0" sz="1750" u="none" cap="none" strike="noStrike"/>
          </a:p>
        </p:txBody>
      </p:sp>
      <p:sp>
        <p:nvSpPr>
          <p:cNvPr id="419" name="Google Shape;419;p16"/>
          <p:cNvSpPr/>
          <p:nvPr/>
        </p:nvSpPr>
        <p:spPr>
          <a:xfrm>
            <a:off x="793790" y="625935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Label encoding is useful for models that require numerical input.</a:t>
            </a:r>
            <a:endParaRPr b="0" i="0" sz="1750" u="none" cap="none" strike="noStrike"/>
          </a:p>
        </p:txBody>
      </p:sp>
      <p:sp>
        <p:nvSpPr>
          <p:cNvPr id="420" name="Google Shape;420;p16"/>
          <p:cNvSpPr/>
          <p:nvPr/>
        </p:nvSpPr>
        <p:spPr>
          <a:xfrm>
            <a:off x="793790" y="687740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However, it may not be suitable for ordered categories (ordinal data).</a:t>
            </a:r>
            <a:endParaRPr b="0" i="0" sz="1750" u="none" cap="none" strike="noStrike"/>
          </a:p>
        </p:txBody>
      </p:sp>
      <p:pic>
        <p:nvPicPr>
          <p:cNvPr descr="preencoded.png" id="421" name="Google Shape;4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"/>
          <p:cNvSpPr/>
          <p:nvPr/>
        </p:nvSpPr>
        <p:spPr>
          <a:xfrm>
            <a:off x="793075" y="625793"/>
            <a:ext cx="5098852" cy="637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One-Hot Encoding</a:t>
            </a:r>
            <a:endParaRPr b="0" i="0" sz="4000" u="none" cap="none" strike="noStrike"/>
          </a:p>
        </p:txBody>
      </p:sp>
      <p:sp>
        <p:nvSpPr>
          <p:cNvPr id="428" name="Google Shape;428;p17"/>
          <p:cNvSpPr/>
          <p:nvPr/>
        </p:nvSpPr>
        <p:spPr>
          <a:xfrm>
            <a:off x="793075" y="1671042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One-Hot Encoding</a:t>
            </a: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Converts categorical variables into binary columns.</a:t>
            </a:r>
            <a:endParaRPr b="0" i="0" sz="1600" u="none" cap="none" strike="noStrike"/>
          </a:p>
        </p:txBody>
      </p:sp>
      <p:sp>
        <p:nvSpPr>
          <p:cNvPr id="429" name="Google Shape;429;p17"/>
          <p:cNvSpPr/>
          <p:nvPr/>
        </p:nvSpPr>
        <p:spPr>
          <a:xfrm>
            <a:off x="793075" y="2226707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For three cities (Lahore, Karachi, Islamabad), three columns are created:</a:t>
            </a:r>
            <a:endParaRPr b="0" i="0" sz="1600" u="none" cap="none" strike="noStrike"/>
          </a:p>
        </p:txBody>
      </p:sp>
      <p:sp>
        <p:nvSpPr>
          <p:cNvPr id="430" name="Google Shape;430;p17"/>
          <p:cNvSpPr/>
          <p:nvPr/>
        </p:nvSpPr>
        <p:spPr>
          <a:xfrm>
            <a:off x="793075" y="2782372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Lahore: [1, 0, 0]</a:t>
            </a:r>
            <a:endParaRPr b="0" i="0" sz="1600" u="none" cap="none" strike="noStrike"/>
          </a:p>
        </p:txBody>
      </p:sp>
      <p:sp>
        <p:nvSpPr>
          <p:cNvPr id="431" name="Google Shape;431;p17"/>
          <p:cNvSpPr/>
          <p:nvPr/>
        </p:nvSpPr>
        <p:spPr>
          <a:xfrm>
            <a:off x="793075" y="3179921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Karachi: [0, 1, 0]</a:t>
            </a:r>
            <a:endParaRPr b="0" i="0" sz="1600" u="none" cap="none" strike="noStrike"/>
          </a:p>
        </p:txBody>
      </p:sp>
      <p:sp>
        <p:nvSpPr>
          <p:cNvPr id="432" name="Google Shape;432;p17"/>
          <p:cNvSpPr/>
          <p:nvPr/>
        </p:nvSpPr>
        <p:spPr>
          <a:xfrm>
            <a:off x="793075" y="3577471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Islamabad: [0, 0, 1]</a:t>
            </a:r>
            <a:endParaRPr b="0" i="0" sz="1600" u="none" cap="none" strike="noStrike"/>
          </a:p>
        </p:txBody>
      </p:sp>
      <p:sp>
        <p:nvSpPr>
          <p:cNvPr id="433" name="Google Shape;433;p17"/>
          <p:cNvSpPr/>
          <p:nvPr/>
        </p:nvSpPr>
        <p:spPr>
          <a:xfrm>
            <a:off x="793075" y="4133136"/>
            <a:ext cx="13044249" cy="2359343"/>
          </a:xfrm>
          <a:prstGeom prst="roundRect">
            <a:avLst>
              <a:gd fmla="val 129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800695" y="4140756"/>
            <a:ext cx="13029009" cy="58602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>
            <a:off x="1004887" y="4270653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600" u="none" cap="none" strike="noStrike"/>
          </a:p>
        </p:txBody>
      </p:sp>
      <p:sp>
        <p:nvSpPr>
          <p:cNvPr id="436" name="Google Shape;436;p17"/>
          <p:cNvSpPr/>
          <p:nvPr/>
        </p:nvSpPr>
        <p:spPr>
          <a:xfrm>
            <a:off x="4265890" y="4270653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Lahore</a:t>
            </a:r>
            <a:endParaRPr b="0" i="0" sz="1600" u="none" cap="none" strike="noStrike"/>
          </a:p>
        </p:txBody>
      </p:sp>
      <p:sp>
        <p:nvSpPr>
          <p:cNvPr id="437" name="Google Shape;437;p17"/>
          <p:cNvSpPr/>
          <p:nvPr/>
        </p:nvSpPr>
        <p:spPr>
          <a:xfrm>
            <a:off x="7523083" y="4270653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Karachi</a:t>
            </a:r>
            <a:endParaRPr b="0" i="0" sz="1600" u="none" cap="none" strike="noStrike"/>
          </a:p>
        </p:txBody>
      </p:sp>
      <p:sp>
        <p:nvSpPr>
          <p:cNvPr id="438" name="Google Shape;438;p17"/>
          <p:cNvSpPr/>
          <p:nvPr/>
        </p:nvSpPr>
        <p:spPr>
          <a:xfrm>
            <a:off x="10780276" y="4270653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Islamabad</a:t>
            </a:r>
            <a:endParaRPr b="0" i="0" sz="1600" u="none" cap="none" strike="noStrike"/>
          </a:p>
        </p:txBody>
      </p:sp>
      <p:sp>
        <p:nvSpPr>
          <p:cNvPr id="439" name="Google Shape;439;p17"/>
          <p:cNvSpPr/>
          <p:nvPr/>
        </p:nvSpPr>
        <p:spPr>
          <a:xfrm>
            <a:off x="800695" y="4726781"/>
            <a:ext cx="13029009" cy="58602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7"/>
          <p:cNvSpPr/>
          <p:nvPr/>
        </p:nvSpPr>
        <p:spPr>
          <a:xfrm>
            <a:off x="1004887" y="4856678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Lahore</a:t>
            </a:r>
            <a:endParaRPr b="0" i="0" sz="1600" u="none" cap="none" strike="noStrike"/>
          </a:p>
        </p:txBody>
      </p:sp>
      <p:sp>
        <p:nvSpPr>
          <p:cNvPr id="441" name="Google Shape;441;p17"/>
          <p:cNvSpPr/>
          <p:nvPr/>
        </p:nvSpPr>
        <p:spPr>
          <a:xfrm>
            <a:off x="4265890" y="4856678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442" name="Google Shape;442;p17"/>
          <p:cNvSpPr/>
          <p:nvPr/>
        </p:nvSpPr>
        <p:spPr>
          <a:xfrm>
            <a:off x="7523083" y="4856678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43" name="Google Shape;443;p17"/>
          <p:cNvSpPr/>
          <p:nvPr/>
        </p:nvSpPr>
        <p:spPr>
          <a:xfrm>
            <a:off x="10780276" y="4856678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44" name="Google Shape;444;p17"/>
          <p:cNvSpPr/>
          <p:nvPr/>
        </p:nvSpPr>
        <p:spPr>
          <a:xfrm>
            <a:off x="800695" y="5312807"/>
            <a:ext cx="13029009" cy="58602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1004887" y="5442704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Karachi</a:t>
            </a:r>
            <a:endParaRPr b="0" i="0" sz="1600" u="none" cap="none" strike="noStrike"/>
          </a:p>
        </p:txBody>
      </p:sp>
      <p:sp>
        <p:nvSpPr>
          <p:cNvPr id="446" name="Google Shape;446;p17"/>
          <p:cNvSpPr/>
          <p:nvPr/>
        </p:nvSpPr>
        <p:spPr>
          <a:xfrm>
            <a:off x="4265890" y="5442704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47" name="Google Shape;447;p17"/>
          <p:cNvSpPr/>
          <p:nvPr/>
        </p:nvSpPr>
        <p:spPr>
          <a:xfrm>
            <a:off x="7523083" y="5442704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448" name="Google Shape;448;p17"/>
          <p:cNvSpPr/>
          <p:nvPr/>
        </p:nvSpPr>
        <p:spPr>
          <a:xfrm>
            <a:off x="10780276" y="5442704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49" name="Google Shape;449;p17"/>
          <p:cNvSpPr/>
          <p:nvPr/>
        </p:nvSpPr>
        <p:spPr>
          <a:xfrm>
            <a:off x="800695" y="5898833"/>
            <a:ext cx="13029009" cy="58602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1004887" y="6028730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Islamabad</a:t>
            </a:r>
            <a:endParaRPr b="0" i="0" sz="1600" u="none" cap="none" strike="noStrike"/>
          </a:p>
        </p:txBody>
      </p:sp>
      <p:sp>
        <p:nvSpPr>
          <p:cNvPr id="451" name="Google Shape;451;p17"/>
          <p:cNvSpPr/>
          <p:nvPr/>
        </p:nvSpPr>
        <p:spPr>
          <a:xfrm>
            <a:off x="4265890" y="6028730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52" name="Google Shape;452;p17"/>
          <p:cNvSpPr/>
          <p:nvPr/>
        </p:nvSpPr>
        <p:spPr>
          <a:xfrm>
            <a:off x="7523083" y="6028730"/>
            <a:ext cx="284166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600" u="none" cap="none" strike="noStrike"/>
          </a:p>
        </p:txBody>
      </p:sp>
      <p:sp>
        <p:nvSpPr>
          <p:cNvPr id="453" name="Google Shape;453;p17"/>
          <p:cNvSpPr/>
          <p:nvPr/>
        </p:nvSpPr>
        <p:spPr>
          <a:xfrm>
            <a:off x="10780276" y="6028730"/>
            <a:ext cx="2845475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/>
          </a:p>
        </p:txBody>
      </p:sp>
      <p:sp>
        <p:nvSpPr>
          <p:cNvPr id="454" name="Google Shape;454;p17"/>
          <p:cNvSpPr/>
          <p:nvPr/>
        </p:nvSpPr>
        <p:spPr>
          <a:xfrm>
            <a:off x="793075" y="6721912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One-hot encoding is useful for models that can handle categorical data.</a:t>
            </a:r>
            <a:endParaRPr b="0" i="0" sz="1600" u="none" cap="none" strike="noStrike"/>
          </a:p>
        </p:txBody>
      </p:sp>
      <p:sp>
        <p:nvSpPr>
          <p:cNvPr id="455" name="Google Shape;455;p17"/>
          <p:cNvSpPr/>
          <p:nvPr/>
        </p:nvSpPr>
        <p:spPr>
          <a:xfrm>
            <a:off x="793075" y="7277576"/>
            <a:ext cx="1304424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avoids the ordinal relationship issue in label encoding.</a:t>
            </a:r>
            <a:endParaRPr b="0" i="0" sz="1600" u="none" cap="none" strike="noStrike"/>
          </a:p>
        </p:txBody>
      </p:sp>
      <p:pic>
        <p:nvPicPr>
          <p:cNvPr descr="preencoded.png"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8"/>
          <p:cNvSpPr/>
          <p:nvPr/>
        </p:nvSpPr>
        <p:spPr>
          <a:xfrm>
            <a:off x="793790" y="143422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Ordinal Encoding</a:t>
            </a:r>
            <a:endParaRPr b="0" i="0" sz="4450" u="none" cap="none" strike="noStrike"/>
          </a:p>
        </p:txBody>
      </p:sp>
      <p:sp>
        <p:nvSpPr>
          <p:cNvPr id="463" name="Google Shape;463;p18"/>
          <p:cNvSpPr/>
          <p:nvPr/>
        </p:nvSpPr>
        <p:spPr>
          <a:xfrm>
            <a:off x="793790" y="259663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1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Ordinal Encoding</a:t>
            </a: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Assigns numerical values to ordered categories.</a:t>
            </a:r>
            <a:endParaRPr b="0" i="0" sz="1750" u="none" cap="none" strike="noStrike"/>
          </a:p>
        </p:txBody>
      </p:sp>
      <p:sp>
        <p:nvSpPr>
          <p:cNvPr id="464" name="Google Shape;464;p18"/>
          <p:cNvSpPr/>
          <p:nvPr/>
        </p:nvSpPr>
        <p:spPr>
          <a:xfrm>
            <a:off x="793790" y="3214688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Low = 0, Medium = 1, High = 2.</a:t>
            </a:r>
            <a:endParaRPr b="0" i="0" sz="1750" u="none" cap="none" strike="noStrike"/>
          </a:p>
        </p:txBody>
      </p:sp>
      <p:sp>
        <p:nvSpPr>
          <p:cNvPr id="465" name="Google Shape;465;p18"/>
          <p:cNvSpPr/>
          <p:nvPr/>
        </p:nvSpPr>
        <p:spPr>
          <a:xfrm>
            <a:off x="793790" y="408789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1530906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High = 2</a:t>
            </a:r>
            <a:endParaRPr b="0" i="0" sz="2200" u="none" cap="none" strike="noStrike"/>
          </a:p>
        </p:txBody>
      </p:sp>
      <p:sp>
        <p:nvSpPr>
          <p:cNvPr id="467" name="Google Shape;467;p18"/>
          <p:cNvSpPr/>
          <p:nvPr/>
        </p:nvSpPr>
        <p:spPr>
          <a:xfrm>
            <a:off x="1530906" y="457831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Highest level in the order</a:t>
            </a:r>
            <a:endParaRPr b="0" i="0" sz="1750" u="none" cap="none" strike="noStrike"/>
          </a:p>
        </p:txBody>
      </p:sp>
      <p:sp>
        <p:nvSpPr>
          <p:cNvPr id="468" name="Google Shape;468;p18"/>
          <p:cNvSpPr/>
          <p:nvPr/>
        </p:nvSpPr>
        <p:spPr>
          <a:xfrm>
            <a:off x="5216962" y="408789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"/>
          <p:cNvSpPr/>
          <p:nvPr/>
        </p:nvSpPr>
        <p:spPr>
          <a:xfrm>
            <a:off x="5954078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Medium = 1</a:t>
            </a:r>
            <a:endParaRPr b="0" i="0" sz="2200" u="none" cap="none" strike="noStrike"/>
          </a:p>
        </p:txBody>
      </p:sp>
      <p:sp>
        <p:nvSpPr>
          <p:cNvPr id="470" name="Google Shape;470;p18"/>
          <p:cNvSpPr/>
          <p:nvPr/>
        </p:nvSpPr>
        <p:spPr>
          <a:xfrm>
            <a:off x="5954078" y="457831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Middle level in the order</a:t>
            </a:r>
            <a:endParaRPr b="0" i="0" sz="1750" u="none" cap="none" strike="noStrike"/>
          </a:p>
        </p:txBody>
      </p:sp>
      <p:sp>
        <p:nvSpPr>
          <p:cNvPr id="471" name="Google Shape;471;p18"/>
          <p:cNvSpPr/>
          <p:nvPr/>
        </p:nvSpPr>
        <p:spPr>
          <a:xfrm>
            <a:off x="9640133" y="408789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10377249" y="4087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Low = 0</a:t>
            </a:r>
            <a:endParaRPr b="0" i="0" sz="2200" u="none" cap="none" strike="noStrike"/>
          </a:p>
        </p:txBody>
      </p:sp>
      <p:sp>
        <p:nvSpPr>
          <p:cNvPr id="473" name="Google Shape;473;p18"/>
          <p:cNvSpPr/>
          <p:nvPr/>
        </p:nvSpPr>
        <p:spPr>
          <a:xfrm>
            <a:off x="10377249" y="4578310"/>
            <a:ext cx="345924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Lowest level in the order</a:t>
            </a:r>
            <a:endParaRPr b="0" i="0" sz="1750" u="none" cap="none" strike="noStrike"/>
          </a:p>
        </p:txBody>
      </p:sp>
      <p:sp>
        <p:nvSpPr>
          <p:cNvPr id="474" name="Google Shape;474;p18"/>
          <p:cNvSpPr/>
          <p:nvPr/>
        </p:nvSpPr>
        <p:spPr>
          <a:xfrm>
            <a:off x="793790" y="519636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It is used when categories have a meaningful order.</a:t>
            </a:r>
            <a:endParaRPr b="0" i="0" sz="1750" u="none" cap="none" strike="noStrike"/>
          </a:p>
        </p:txBody>
      </p:sp>
      <p:sp>
        <p:nvSpPr>
          <p:cNvPr id="475" name="Google Shape;475;p18"/>
          <p:cNvSpPr/>
          <p:nvPr/>
        </p:nvSpPr>
        <p:spPr>
          <a:xfrm>
            <a:off x="793790" y="581441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Ordinal encoding preserves the order of the categories.</a:t>
            </a:r>
            <a:endParaRPr b="0" i="0" sz="1750" u="none" cap="none" strike="noStrike"/>
          </a:p>
        </p:txBody>
      </p:sp>
      <p:sp>
        <p:nvSpPr>
          <p:cNvPr id="476" name="Google Shape;476;p18"/>
          <p:cNvSpPr/>
          <p:nvPr/>
        </p:nvSpPr>
        <p:spPr>
          <a:xfrm>
            <a:off x="793790" y="643247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This method is suitable for categorical data with inherent ranking.</a:t>
            </a:r>
            <a:endParaRPr b="0" i="0" sz="1750" u="none" cap="none" strike="noStrike"/>
          </a:p>
        </p:txBody>
      </p:sp>
      <p:pic>
        <p:nvPicPr>
          <p:cNvPr descr="preencoded.png" id="477" name="Google Shape;4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9"/>
          <p:cNvSpPr/>
          <p:nvPr/>
        </p:nvSpPr>
        <p:spPr>
          <a:xfrm>
            <a:off x="793790" y="2307431"/>
            <a:ext cx="948725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of Encoding Techniques</a:t>
            </a:r>
            <a:endParaRPr b="0" i="0" sz="4450" u="none" cap="none" strike="noStrike"/>
          </a:p>
        </p:txBody>
      </p:sp>
      <p:sp>
        <p:nvSpPr>
          <p:cNvPr id="484" name="Google Shape;484;p19"/>
          <p:cNvSpPr/>
          <p:nvPr/>
        </p:nvSpPr>
        <p:spPr>
          <a:xfrm>
            <a:off x="793790" y="372498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878860" y="376749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486" name="Google Shape;486;p19"/>
          <p:cNvSpPr/>
          <p:nvPr/>
        </p:nvSpPr>
        <p:spPr>
          <a:xfrm>
            <a:off x="1530906" y="37249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Label Encoding</a:t>
            </a:r>
            <a:endParaRPr b="0" i="0" sz="2200" u="none" cap="none" strike="noStrike"/>
          </a:p>
        </p:txBody>
      </p:sp>
      <p:sp>
        <p:nvSpPr>
          <p:cNvPr id="487" name="Google Shape;487;p19"/>
          <p:cNvSpPr/>
          <p:nvPr/>
        </p:nvSpPr>
        <p:spPr>
          <a:xfrm>
            <a:off x="1530906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Assigns numbers to categories without any order</a:t>
            </a:r>
            <a:endParaRPr b="0" i="0" sz="1750" u="none" cap="none" strike="noStrike"/>
          </a:p>
        </p:txBody>
      </p:sp>
      <p:sp>
        <p:nvSpPr>
          <p:cNvPr id="488" name="Google Shape;488;p19"/>
          <p:cNvSpPr/>
          <p:nvPr/>
        </p:nvSpPr>
        <p:spPr>
          <a:xfrm>
            <a:off x="5216962" y="372498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5302032" y="376749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490" name="Google Shape;490;p19"/>
          <p:cNvSpPr/>
          <p:nvPr/>
        </p:nvSpPr>
        <p:spPr>
          <a:xfrm>
            <a:off x="5954078" y="37249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One-Hot Encoding</a:t>
            </a:r>
            <a:endParaRPr b="0" i="0" sz="2200" u="none" cap="none" strike="noStrike"/>
          </a:p>
        </p:txBody>
      </p:sp>
      <p:sp>
        <p:nvSpPr>
          <p:cNvPr id="491" name="Google Shape;491;p19"/>
          <p:cNvSpPr/>
          <p:nvPr/>
        </p:nvSpPr>
        <p:spPr>
          <a:xfrm>
            <a:off x="5954078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Creates binary columns for each category</a:t>
            </a:r>
            <a:endParaRPr b="0" i="0" sz="1750" u="none" cap="none" strike="noStrike"/>
          </a:p>
        </p:txBody>
      </p:sp>
      <p:sp>
        <p:nvSpPr>
          <p:cNvPr id="492" name="Google Shape;492;p19"/>
          <p:cNvSpPr/>
          <p:nvPr/>
        </p:nvSpPr>
        <p:spPr>
          <a:xfrm>
            <a:off x="9640133" y="3724989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9725204" y="376749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494" name="Google Shape;494;p19"/>
          <p:cNvSpPr/>
          <p:nvPr/>
        </p:nvSpPr>
        <p:spPr>
          <a:xfrm>
            <a:off x="10377249" y="37249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Ordinal Encoding</a:t>
            </a:r>
            <a:endParaRPr b="0" i="0" sz="2200" u="none" cap="none" strike="noStrike"/>
          </a:p>
        </p:txBody>
      </p:sp>
      <p:sp>
        <p:nvSpPr>
          <p:cNvPr id="495" name="Google Shape;495;p19"/>
          <p:cNvSpPr/>
          <p:nvPr/>
        </p:nvSpPr>
        <p:spPr>
          <a:xfrm>
            <a:off x="10377249" y="4215408"/>
            <a:ext cx="345924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Assigns numbers to ordered categories</a:t>
            </a:r>
            <a:endParaRPr b="0" i="0" sz="1750" u="none" cap="none" strike="noStrike"/>
          </a:p>
        </p:txBody>
      </p:sp>
      <p:sp>
        <p:nvSpPr>
          <p:cNvPr id="496" name="Google Shape;496;p19"/>
          <p:cNvSpPr/>
          <p:nvPr/>
        </p:nvSpPr>
        <p:spPr>
          <a:xfrm>
            <a:off x="793790" y="519636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Each encoding technique serves different purposes depending on data and model requirements. Choosing the right encoding method is critical for accurate model training.</a:t>
            </a:r>
            <a:endParaRPr b="0" i="0" sz="1750" u="none" cap="none" strike="noStrike"/>
          </a:p>
        </p:txBody>
      </p:sp>
      <p:pic>
        <p:nvPicPr>
          <p:cNvPr descr="preencoded.png" id="497" name="Google Shape;4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0"/>
          <p:cNvSpPr/>
          <p:nvPr/>
        </p:nvSpPr>
        <p:spPr>
          <a:xfrm>
            <a:off x="793790" y="156888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 Concepts Recap</a:t>
            </a:r>
            <a:endParaRPr b="0" i="0" sz="4450" u="none" cap="none" strike="noStrike"/>
          </a:p>
        </p:txBody>
      </p:sp>
      <p:sp>
        <p:nvSpPr>
          <p:cNvPr id="504" name="Google Shape;504;p20"/>
          <p:cNvSpPr/>
          <p:nvPr/>
        </p:nvSpPr>
        <p:spPr>
          <a:xfrm>
            <a:off x="793790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1020604" y="29581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Splitting</a:t>
            </a:r>
            <a:endParaRPr b="0" i="0" sz="2200" u="none" cap="none" strike="noStrike"/>
          </a:p>
        </p:txBody>
      </p:sp>
      <p:sp>
        <p:nvSpPr>
          <p:cNvPr id="506" name="Google Shape;506;p20"/>
          <p:cNvSpPr/>
          <p:nvPr/>
        </p:nvSpPr>
        <p:spPr>
          <a:xfrm>
            <a:off x="1020604" y="3448526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Dividing data into training, testing, and validation sets</a:t>
            </a:r>
            <a:endParaRPr b="0" i="0" sz="1750" u="none" cap="none" strike="noStrike"/>
          </a:p>
        </p:txBody>
      </p:sp>
      <p:sp>
        <p:nvSpPr>
          <p:cNvPr id="507" name="Google Shape;507;p20"/>
          <p:cNvSpPr/>
          <p:nvPr/>
        </p:nvSpPr>
        <p:spPr>
          <a:xfrm>
            <a:off x="5216962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5443776" y="29581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Cleaning</a:t>
            </a:r>
            <a:endParaRPr b="0" i="0" sz="2200" u="none" cap="none" strike="noStrike"/>
          </a:p>
        </p:txBody>
      </p:sp>
      <p:sp>
        <p:nvSpPr>
          <p:cNvPr id="509" name="Google Shape;509;p20"/>
          <p:cNvSpPr/>
          <p:nvPr/>
        </p:nvSpPr>
        <p:spPr>
          <a:xfrm>
            <a:off x="5443776" y="3448526"/>
            <a:ext cx="374273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Removing duplicates, handling missing values, and correcting inconsistencies</a:t>
            </a:r>
            <a:endParaRPr b="0" i="0" sz="1750" u="none" cap="none" strike="noStrike"/>
          </a:p>
        </p:txBody>
      </p:sp>
      <p:sp>
        <p:nvSpPr>
          <p:cNvPr id="510" name="Google Shape;510;p20"/>
          <p:cNvSpPr/>
          <p:nvPr/>
        </p:nvSpPr>
        <p:spPr>
          <a:xfrm>
            <a:off x="9640133" y="2731294"/>
            <a:ext cx="4196358" cy="2032754"/>
          </a:xfrm>
          <a:prstGeom prst="roundRect">
            <a:avLst>
              <a:gd fmla="val 16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9866948" y="2958108"/>
            <a:ext cx="36827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Normalization and Scaling</a:t>
            </a:r>
            <a:endParaRPr b="0" i="0" sz="2200" u="none" cap="none" strike="noStrike"/>
          </a:p>
        </p:txBody>
      </p:sp>
      <p:sp>
        <p:nvSpPr>
          <p:cNvPr id="512" name="Google Shape;512;p20"/>
          <p:cNvSpPr/>
          <p:nvPr/>
        </p:nvSpPr>
        <p:spPr>
          <a:xfrm>
            <a:off x="9866948" y="3448526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Adjusting data for consistent ranges and scales</a:t>
            </a:r>
            <a:endParaRPr b="0" i="0" sz="1750" u="none" cap="none" strike="noStrike"/>
          </a:p>
        </p:txBody>
      </p:sp>
      <p:sp>
        <p:nvSpPr>
          <p:cNvPr id="513" name="Google Shape;513;p20"/>
          <p:cNvSpPr/>
          <p:nvPr/>
        </p:nvSpPr>
        <p:spPr>
          <a:xfrm>
            <a:off x="793790" y="4990862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1020604" y="5217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Feature Engineering</a:t>
            </a:r>
            <a:endParaRPr b="0" i="0" sz="2200" u="none" cap="none" strike="noStrike"/>
          </a:p>
        </p:txBody>
      </p:sp>
      <p:sp>
        <p:nvSpPr>
          <p:cNvPr id="515" name="Google Shape;515;p20"/>
          <p:cNvSpPr/>
          <p:nvPr/>
        </p:nvSpPr>
        <p:spPr>
          <a:xfrm>
            <a:off x="1020604" y="570809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Transforming raw data into meaningful features for better model performance</a:t>
            </a:r>
            <a:endParaRPr b="0" i="0" sz="1750" u="none" cap="none" strike="noStrike"/>
          </a:p>
        </p:txBody>
      </p:sp>
      <p:sp>
        <p:nvSpPr>
          <p:cNvPr id="516" name="Google Shape;516;p20"/>
          <p:cNvSpPr/>
          <p:nvPr/>
        </p:nvSpPr>
        <p:spPr>
          <a:xfrm>
            <a:off x="7428667" y="4990862"/>
            <a:ext cx="6408063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7655481" y="5217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Encoding</a:t>
            </a:r>
            <a:endParaRPr b="0" i="0" sz="2200" u="none" cap="none" strike="noStrike"/>
          </a:p>
        </p:txBody>
      </p:sp>
      <p:sp>
        <p:nvSpPr>
          <p:cNvPr id="518" name="Google Shape;518;p20"/>
          <p:cNvSpPr/>
          <p:nvPr/>
        </p:nvSpPr>
        <p:spPr>
          <a:xfrm>
            <a:off x="7655481" y="5708094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Converting categorical data into numerical formats for model use</a:t>
            </a:r>
            <a:endParaRPr b="0" i="0" sz="1750" u="none" cap="none" strike="noStrike"/>
          </a:p>
        </p:txBody>
      </p:sp>
      <p:pic>
        <p:nvPicPr>
          <p:cNvPr descr="preencoded.png" id="519" name="Google Shape;5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"/>
          <p:cNvSpPr/>
          <p:nvPr/>
        </p:nvSpPr>
        <p:spPr>
          <a:xfrm>
            <a:off x="793790" y="623768"/>
            <a:ext cx="74166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Conclusion and Next Steps</a:t>
            </a:r>
            <a:endParaRPr b="0" i="0" sz="4450" u="none" cap="none" strike="noStrike"/>
          </a:p>
        </p:txBody>
      </p:sp>
      <p:sp>
        <p:nvSpPr>
          <p:cNvPr id="526" name="Google Shape;526;p21"/>
          <p:cNvSpPr/>
          <p:nvPr/>
        </p:nvSpPr>
        <p:spPr>
          <a:xfrm>
            <a:off x="793790" y="1672709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Understanding and applying preprocessing techniques is essential for effective machine learning.</a:t>
            </a:r>
            <a:endParaRPr b="0" i="0" sz="1750" u="none" cap="none" strike="noStrike"/>
          </a:p>
        </p:txBody>
      </p:sp>
      <p:pic>
        <p:nvPicPr>
          <p:cNvPr descr="preencoded.png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9076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/>
          <p:nvPr/>
        </p:nvSpPr>
        <p:spPr>
          <a:xfrm>
            <a:off x="2268022" y="25175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Study Thoroughly</a:t>
            </a:r>
            <a:endParaRPr b="0" i="0" sz="2200" u="none" cap="none" strike="noStrike"/>
          </a:p>
        </p:txBody>
      </p:sp>
      <p:sp>
        <p:nvSpPr>
          <p:cNvPr id="529" name="Google Shape;529;p21"/>
          <p:cNvSpPr/>
          <p:nvPr/>
        </p:nvSpPr>
        <p:spPr>
          <a:xfrm>
            <a:off x="2268022" y="3007995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Study these concepts thoroughly, as they form the foundation of working with machine learning models.</a:t>
            </a:r>
            <a:endParaRPr b="0" i="0" sz="1750" u="none" cap="none" strike="noStrike"/>
          </a:p>
        </p:txBody>
      </p:sp>
      <p:pic>
        <p:nvPicPr>
          <p:cNvPr descr="preencoded.png" id="530" name="Google Shape;5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651647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1"/>
          <p:cNvSpPr/>
          <p:nvPr/>
        </p:nvSpPr>
        <p:spPr>
          <a:xfrm>
            <a:off x="2268022" y="38784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 Techniques</a:t>
            </a:r>
            <a:endParaRPr b="0" i="0" sz="2200" u="none" cap="none" strike="noStrike"/>
          </a:p>
        </p:txBody>
      </p:sp>
      <p:sp>
        <p:nvSpPr>
          <p:cNvPr id="532" name="Google Shape;532;p21"/>
          <p:cNvSpPr/>
          <p:nvPr/>
        </p:nvSpPr>
        <p:spPr>
          <a:xfrm>
            <a:off x="2268022" y="4368879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data cleaning, encoding, and splitting using sample datasets.</a:t>
            </a:r>
            <a:endParaRPr b="0" i="0" sz="1750" u="none" cap="none" strike="noStrike"/>
          </a:p>
        </p:txBody>
      </p:sp>
      <p:pic>
        <p:nvPicPr>
          <p:cNvPr descr="preencoded.png" id="533" name="Google Shape;5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012531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1"/>
          <p:cNvSpPr/>
          <p:nvPr/>
        </p:nvSpPr>
        <p:spPr>
          <a:xfrm>
            <a:off x="2268022" y="523934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Next Class</a:t>
            </a:r>
            <a:endParaRPr b="0" i="0" sz="2200" u="none" cap="none" strike="noStrike"/>
          </a:p>
        </p:txBody>
      </p:sp>
      <p:sp>
        <p:nvSpPr>
          <p:cNvPr id="535" name="Google Shape;535;p21"/>
          <p:cNvSpPr/>
          <p:nvPr/>
        </p:nvSpPr>
        <p:spPr>
          <a:xfrm>
            <a:off x="2268022" y="5729764"/>
            <a:ext cx="115685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 the next class, we will implement these concepts practically using Python.</a:t>
            </a:r>
            <a:endParaRPr b="0" i="0" sz="1750" u="none" cap="none" strike="noStrike"/>
          </a:p>
        </p:txBody>
      </p:sp>
      <p:sp>
        <p:nvSpPr>
          <p:cNvPr id="536" name="Google Shape;536;p21"/>
          <p:cNvSpPr/>
          <p:nvPr/>
        </p:nvSpPr>
        <p:spPr>
          <a:xfrm>
            <a:off x="793790" y="6628567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Looking forward to our next session!</a:t>
            </a:r>
            <a:endParaRPr b="0" i="0" sz="1750" u="none" cap="none" strike="noStrike"/>
          </a:p>
        </p:txBody>
      </p:sp>
      <p:sp>
        <p:nvSpPr>
          <p:cNvPr id="537" name="Google Shape;537;p21"/>
          <p:cNvSpPr/>
          <p:nvPr/>
        </p:nvSpPr>
        <p:spPr>
          <a:xfrm>
            <a:off x="793790" y="724662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May Allah grant you success in your learning journey.</a:t>
            </a:r>
            <a:endParaRPr b="0" i="0" sz="1750" u="none" cap="none" strike="noStrike"/>
          </a:p>
        </p:txBody>
      </p:sp>
      <p:pic>
        <p:nvPicPr>
          <p:cNvPr descr="preencoded.png" id="538" name="Google Shape;53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2025-03-24T10:05:48Z</dcterms:created>
  <dc:creator>PptxGenJS</dc:creator>
</cp:coreProperties>
</file>