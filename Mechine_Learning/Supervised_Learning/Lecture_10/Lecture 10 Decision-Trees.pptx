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8229600" cx="14630400"/>
  <p:notesSz cx="8229600" cy="14630400"/>
  <p:embeddedFontLst>
    <p:embeddedFont>
      <p:font typeface="Platypi Medium"/>
      <p:regular r:id="rId20"/>
      <p:bold r:id="rId21"/>
      <p:italic r:id="rId22"/>
      <p:boldItalic r:id="rId23"/>
    </p:embeddedFont>
    <p:embeddedFont>
      <p:font typeface="Platypi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0dJPehdORhuQ1YF5j3vWJNV6k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typiMedium-regular.fntdata"/><Relationship Id="rId22" Type="http://schemas.openxmlformats.org/officeDocument/2006/relationships/font" Target="fonts/PlatypiMedium-italic.fntdata"/><Relationship Id="rId21" Type="http://schemas.openxmlformats.org/officeDocument/2006/relationships/font" Target="fonts/PlatypiMedium-bold.fntdata"/><Relationship Id="rId24" Type="http://schemas.openxmlformats.org/officeDocument/2006/relationships/font" Target="fonts/Platypi-regular.fntdata"/><Relationship Id="rId23" Type="http://schemas.openxmlformats.org/officeDocument/2006/relationships/font" Target="fonts/Platypi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typi-italic.fntdata"/><Relationship Id="rId25" Type="http://schemas.openxmlformats.org/officeDocument/2006/relationships/font" Target="fonts/Platypi-bold.fntdata"/><Relationship Id="rId28" Type="http://customschemas.google.com/relationships/presentationmetadata" Target="metadata"/><Relationship Id="rId27" Type="http://schemas.openxmlformats.org/officeDocument/2006/relationships/font" Target="fonts/Platypi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4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/>
          <p:nvPr/>
        </p:nvSpPr>
        <p:spPr>
          <a:xfrm>
            <a:off x="6280190" y="28532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6280190" y="3902154"/>
            <a:ext cx="784524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10: Decision Trees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6280190" y="4951095"/>
            <a:ext cx="6425876" cy="480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Instructor: Dr. Shazia Saqib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825" y="1728788"/>
            <a:ext cx="5962650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3075" y="228600"/>
            <a:ext cx="1398725" cy="1095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03065" y="6684210"/>
            <a:ext cx="1398746" cy="1398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257" y="1514103"/>
            <a:ext cx="13509885" cy="5201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/>
        </p:nvSpPr>
        <p:spPr>
          <a:xfrm>
            <a:off x="786520" y="2509037"/>
            <a:ext cx="12668223" cy="77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Arial"/>
              <a:buNone/>
            </a:pPr>
            <a:r>
              <a:rPr b="0" i="0" lang="en-US" sz="4450" u="none" cap="none" strike="noStrike">
                <a:solidFill>
                  <a:schemeClr val="dk1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Parametric Machine Learning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870148" y="3702996"/>
            <a:ext cx="12668222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Nonparametric models are models that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 assume a fixed number of parameters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Instead, they allow the number of parameters to grow with the amount of training data(KNN, DT..).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Parametric models are those that assume a specific form or structure for the function that maps inputs to outputs, and they have a fixed number of parameters, regardless of the size of the dataset(Linear regression, Logistic Regression).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/>
        </p:nvSpPr>
        <p:spPr>
          <a:xfrm>
            <a:off x="1002526" y="2320940"/>
            <a:ext cx="1238558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In machine learning, entropy is a measure of the randomness in the information being processed. The higher the entropy, the harder it is to draw any conclusions from that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is a metric to measure the impurity in a given attribute. It specifies randomness in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Entropy comes from information theory. The higher the entropy the more the information content.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02526" y="1207320"/>
            <a:ext cx="12385589" cy="77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4450"/>
              <a:buFont typeface="Platypi Medium"/>
              <a:buNone/>
            </a:pPr>
            <a:r>
              <a:rPr i="0" lang="en-US" sz="4450" u="none" cap="none" strike="noStrike">
                <a:solidFill>
                  <a:srgbClr val="242424"/>
                </a:solidFill>
                <a:latin typeface="Platypi"/>
                <a:ea typeface="Platypi"/>
                <a:cs typeface="Platypi"/>
                <a:sym typeface="Platypi"/>
              </a:rPr>
              <a:t>Entropy</a:t>
            </a:r>
            <a:endParaRPr i="0" sz="4450" u="none" cap="none" strike="noStrike">
              <a:solidFill>
                <a:schemeClr val="dk1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pic>
        <p:nvPicPr>
          <p:cNvPr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6457" y="3514636"/>
            <a:ext cx="3617726" cy="120032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0" y="1181100"/>
            <a:ext cx="146304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/>
        </p:nvSpPr>
        <p:spPr>
          <a:xfrm>
            <a:off x="997527" y="1100217"/>
            <a:ext cx="12457216" cy="1054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Arial"/>
              <a:buNone/>
            </a:pPr>
            <a:r>
              <a:rPr b="0" i="0" lang="en-US" sz="4450" u="none" cap="none" strike="noStrike">
                <a:solidFill>
                  <a:schemeClr val="dk1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Information Grain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997527" y="2154352"/>
            <a:ext cx="12279086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gain can be defined as the amount of information gained about a random variable or signal from observing another random variable. It can be considered as the difference between the entropy of parent node and weighted average entropy of child nodes.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IG(S, A) = H(S) - H(S, A) 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Alternatively,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6602" y="5201340"/>
            <a:ext cx="5657196" cy="1054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6280190" y="85451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0"/>
              <a:buFont typeface="Calibri"/>
              <a:buNone/>
            </a:pPr>
            <a:r>
              <a:t/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110317" y="332928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847433" y="3406140"/>
            <a:ext cx="1146480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Organizes decision rules in hierarchical tree 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10317" y="457670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847433" y="4653558"/>
            <a:ext cx="1146480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Goal: Predict target values by learning rules from training data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110317" y="5824123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847433" y="5900976"/>
            <a:ext cx="1146480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Advantages: Easy to interpret, good for visualization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 txBox="1"/>
          <p:nvPr/>
        </p:nvSpPr>
        <p:spPr>
          <a:xfrm>
            <a:off x="1110317" y="2096538"/>
            <a:ext cx="8206938" cy="77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Arial"/>
              <a:buNone/>
            </a:pPr>
            <a:r>
              <a:rPr b="0" i="0" lang="en-US" sz="4450" u="none" cap="none" strike="noStrike">
                <a:solidFill>
                  <a:schemeClr val="dk1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Decision Trees(ID3 or Cart)</a:t>
            </a:r>
            <a:endParaRPr b="0" i="0" sz="4450" u="none" cap="none" strike="noStrike">
              <a:solidFill>
                <a:schemeClr val="dk1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566976" y="1337905"/>
            <a:ext cx="743759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Decision Tree Terminology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66976" y="264199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52046" y="268450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304092" y="26419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Root Node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304092" y="3132415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Beginning of tree (entire population)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458653" y="2641997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43723" y="2684502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195769" y="26419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Splitting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195769" y="3132415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Dividing nodes into sub-nodes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66976" y="434018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52046" y="438269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304092" y="434018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Decision Node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304092" y="4830604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Sub-node that can be further split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458653" y="4340185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43723" y="4382691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195769" y="434018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Leaf/Terminal Node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195769" y="4830604"/>
            <a:ext cx="292774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Final node with no further splits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66976" y="603837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52046" y="608087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304092" y="603837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Pruning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304092" y="6528792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Removing sub-nodes to prevent overfitting (opposite of splitting)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7818" y="2158365"/>
            <a:ext cx="6266336" cy="40880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607" y="1852851"/>
            <a:ext cx="6747986" cy="452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8108990" y="2177058"/>
            <a:ext cx="57276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Building a Decision Tree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8108990" y="3934778"/>
            <a:ext cx="318111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Inspecting the Dataset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8108990" y="4629269"/>
            <a:ext cx="57276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 with: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108990" y="5247323"/>
            <a:ext cx="57276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Features: Size (1.5, 2.5, 3.5), Color (yellow/red)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8108990" y="5689521"/>
            <a:ext cx="57276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Classes: Class1, Class2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793790" y="730091"/>
            <a:ext cx="12351901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750"/>
              <a:buFont typeface="Platypi Medium"/>
              <a:buNone/>
            </a:pPr>
            <a:r>
              <a:rPr b="0" i="0" lang="en-US" sz="37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Potential Decision Rules for Building a Decision Tree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793790" y="1621750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 size ≥ 2?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793790" y="1997512"/>
            <a:ext cx="13042821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 color yellow?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2007" y="2522696"/>
            <a:ext cx="11086386" cy="49768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4570" y="1672590"/>
            <a:ext cx="3985260" cy="48844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/>
          <p:nvPr/>
        </p:nvSpPr>
        <p:spPr>
          <a:xfrm>
            <a:off x="793790" y="641271"/>
            <a:ext cx="5873948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550"/>
              <a:buFont typeface="Platypi Medium"/>
              <a:buNone/>
            </a:pPr>
            <a:r>
              <a:rPr b="0" i="0" lang="en-US" sz="35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Tree Construction Process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1480423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/>
          <p:nvPr/>
        </p:nvSpPr>
        <p:spPr>
          <a:xfrm>
            <a:off x="1973223" y="1661874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Start at root node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2569131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1973223" y="2750582"/>
            <a:ext cx="2925961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Evaluate all possible splits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3657838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/>
          <p:nvPr/>
        </p:nvSpPr>
        <p:spPr>
          <a:xfrm>
            <a:off x="1973223" y="3839289"/>
            <a:ext cx="4849773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Choose split with highest Information Gain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4746546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1973223" y="4927997"/>
            <a:ext cx="3142297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Recursively split child nodes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790" y="5835253"/>
            <a:ext cx="907256" cy="175295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/>
          <p:nvPr/>
        </p:nvSpPr>
        <p:spPr>
          <a:xfrm>
            <a:off x="1973223" y="6016704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Stop when: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973223" y="6409015"/>
            <a:ext cx="637698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 more decision rules available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973223" y="6762750"/>
            <a:ext cx="637698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Node impurity reaches zero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973223" y="7116485"/>
            <a:ext cx="637698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Pruning/early stop conditions met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319" y="2252663"/>
            <a:ext cx="4947642" cy="372415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1"/>
          <p:cNvSpPr/>
          <p:nvPr/>
        </p:nvSpPr>
        <p:spPr>
          <a:xfrm>
            <a:off x="6280190" y="810697"/>
            <a:ext cx="5387102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b="0" i="0" lang="en-US" sz="4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Making Predictions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522601" y="1807250"/>
            <a:ext cx="30480" cy="5611535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734532" y="2276832"/>
            <a:ext cx="646390" cy="30480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280190" y="2049661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361033" y="2090083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5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599998" y="2022634"/>
            <a:ext cx="2797850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Input new data point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7599998" y="2488406"/>
            <a:ext cx="623661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Features of unseen example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6734532" y="3733562"/>
            <a:ext cx="646390" cy="30480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280190" y="3506391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361033" y="3546812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5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7599998" y="3479363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Traverse tree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7599998" y="3945136"/>
            <a:ext cx="623661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Follow decision rules based on 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734532" y="5190292"/>
            <a:ext cx="646390" cy="30480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280190" y="4963120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361033" y="5003542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5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599998" y="4936093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Reach leaf node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599998" y="5401866"/>
            <a:ext cx="623661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Shows class probabilities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734532" y="6647021"/>
            <a:ext cx="646390" cy="30480"/>
          </a:xfrm>
          <a:prstGeom prst="roundRect">
            <a:avLst>
              <a:gd fmla="val 106046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280190" y="6419850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361033" y="6460272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5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7599998" y="6392823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Platypi Medium"/>
              <a:buNone/>
            </a:pPr>
            <a:r>
              <a:rPr b="0" i="0" lang="en-US" sz="24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Make prediction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7599998" y="6858595"/>
            <a:ext cx="6236613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Example: Size ≥2 AND color yellow → 50% chance of being Class1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/>
          <p:nvPr/>
        </p:nvSpPr>
        <p:spPr>
          <a:xfrm>
            <a:off x="793790" y="2523053"/>
            <a:ext cx="727376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Advantages &amp; Limitations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Advantages: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793790" y="4379952"/>
            <a:ext cx="6244709" cy="126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Intuitive interpretation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793790" y="4822150"/>
            <a:ext cx="6244709" cy="126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Handles both numerical/categorical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793790" y="5264348"/>
            <a:ext cx="6244709" cy="126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Minimal data preparation needed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Limitations: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7599521" y="4379952"/>
            <a:ext cx="6244709" cy="126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Prone to overfitting (especially deep trees)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7599521" y="4822150"/>
            <a:ext cx="6244709" cy="1269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Can be unstable with small data changes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/>
          <p:nvPr/>
        </p:nvSpPr>
        <p:spPr>
          <a:xfrm>
            <a:off x="778669" y="612458"/>
            <a:ext cx="7087672" cy="625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900"/>
              <a:buFont typeface="Platypi Medium"/>
              <a:buNone/>
            </a:pPr>
            <a:r>
              <a:rPr b="0" i="0" lang="en-US" sz="39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Overfitting in Decision Trees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778669" y="1638657"/>
            <a:ext cx="6436519" cy="2505194"/>
          </a:xfrm>
          <a:prstGeom prst="roundRect">
            <a:avLst>
              <a:gd fmla="val 119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978813" y="1838801"/>
            <a:ext cx="2503051" cy="312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978813" y="2271713"/>
            <a:ext cx="6036231" cy="961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Overfitting occurs when a tree becomes too complex, memorizing noise/outliers in training data instead of learning general patterns.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978813" y="3302913"/>
            <a:ext cx="6036231" cy="640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 model that fits training data perfectly may fail in the real world.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7415332" y="1638657"/>
            <a:ext cx="6436519" cy="2505194"/>
          </a:xfrm>
          <a:prstGeom prst="roundRect">
            <a:avLst>
              <a:gd fmla="val 1199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615476" y="1838801"/>
            <a:ext cx="2503051" cy="312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Consequences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7615477" y="2271713"/>
            <a:ext cx="6575536" cy="531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Poor performance on unseen data (low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generalization).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7615477" y="3108067"/>
            <a:ext cx="5459848" cy="730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"Deep" trees with unnecessary splits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(e.g., one leaf per sample).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148" y="4944427"/>
            <a:ext cx="11520368" cy="2702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3"/>
          <p:cNvSpPr/>
          <p:nvPr/>
        </p:nvSpPr>
        <p:spPr>
          <a:xfrm>
            <a:off x="778669" y="7296745"/>
            <a:ext cx="13073063" cy="320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Calibri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6" name="Google Shape;2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7607" y="2512100"/>
            <a:ext cx="4919186" cy="32054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/>
          <p:nvPr/>
        </p:nvSpPr>
        <p:spPr>
          <a:xfrm>
            <a:off x="793790" y="813435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Overcoming Overfitting: Max Depth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1028224" y="2722483"/>
            <a:ext cx="350103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200"/>
              <a:buFont typeface="Platypi Medium"/>
              <a:buNone/>
            </a:pPr>
            <a:r>
              <a:rPr b="1" i="0" lang="en-US" sz="2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1. Max Depth Limitation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1028224" y="3212902"/>
            <a:ext cx="7087553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r>
              <a:rPr b="0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Restricts tree depth (e.g., max 5 levels).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1028224" y="3802499"/>
            <a:ext cx="7087553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Limit tree depth to balance bias-variance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1028224" y="4392097"/>
            <a:ext cx="7087553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1028224" y="4981694"/>
            <a:ext cx="7087553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Reduces overfitting by simplifying the tree.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028224" y="5571292"/>
            <a:ext cx="7087553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1028224" y="6160889"/>
            <a:ext cx="7087553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Increases bias (may underfit complex patterns).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028224" y="6901815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Calibri"/>
              <a:buNone/>
            </a:pPr>
            <a:r>
              <a:t/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"/>
          <p:cNvSpPr/>
          <p:nvPr/>
        </p:nvSpPr>
        <p:spPr>
          <a:xfrm>
            <a:off x="793790" y="1860947"/>
            <a:ext cx="656784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 &amp; Conclusion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793790" y="2909888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1020604" y="31367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Decision Rules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1020604" y="3627120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Decision trees organize hierarchical decision rules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7428667" y="2909888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7655481" y="313670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Optimal Splits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7655481" y="3627120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Information Gain guides optimal splits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793790" y="4443651"/>
            <a:ext cx="6408000" cy="1306800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1020604" y="46704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Node Purity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1020604" y="5160883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Gini Impurity measures node purity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7428667" y="4443651"/>
            <a:ext cx="6408063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7655481" y="46704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Advanced Methods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7655481" y="5160883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Random Forests address overfitting concerns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793790" y="600575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Decision trees are a powerful yet interpretable modeling technique.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2025-04-11T07:00:23Z</dcterms:created>
  <dc:creator>PptxGenJS</dc:creator>
</cp:coreProperties>
</file>