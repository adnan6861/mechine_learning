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8229600" cx="14630400"/>
  <p:notesSz cx="8229600" cy="14630400"/>
  <p:embeddedFontLst>
    <p:embeddedFont>
      <p:font typeface="Platypi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rlv/awJ2TMQqsH04/wwrYrJsL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typiMedium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typiMedium-italic.fntdata"/><Relationship Id="rId25" Type="http://schemas.openxmlformats.org/officeDocument/2006/relationships/font" Target="fonts/PlatypiMedium-bold.fntdata"/><Relationship Id="rId28" Type="http://customschemas.google.com/relationships/presentationmetadata" Target="metadata"/><Relationship Id="rId27" Type="http://schemas.openxmlformats.org/officeDocument/2006/relationships/font" Target="fonts/Platypi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5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23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24.jpg"/><Relationship Id="rId6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gif"/><Relationship Id="rId5" Type="http://schemas.openxmlformats.org/officeDocument/2006/relationships/image" Target="../media/image36.gif"/><Relationship Id="rId6" Type="http://schemas.openxmlformats.org/officeDocument/2006/relationships/image" Target="../media/image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png"/><Relationship Id="rId4" Type="http://schemas.openxmlformats.org/officeDocument/2006/relationships/image" Target="../media/image22.png"/><Relationship Id="rId5" Type="http://schemas.openxmlformats.org/officeDocument/2006/relationships/image" Target="../media/image53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48.png"/><Relationship Id="rId5" Type="http://schemas.openxmlformats.org/officeDocument/2006/relationships/image" Target="../media/image31.png"/><Relationship Id="rId6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4.png"/><Relationship Id="rId7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Relationship Id="rId4" Type="http://schemas.openxmlformats.org/officeDocument/2006/relationships/image" Target="../media/image51.png"/><Relationship Id="rId5" Type="http://schemas.openxmlformats.org/officeDocument/2006/relationships/image" Target="../media/image47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"/>
          <p:cNvSpPr/>
          <p:nvPr/>
        </p:nvSpPr>
        <p:spPr>
          <a:xfrm>
            <a:off x="6280190" y="228909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</a:t>
            </a:r>
            <a:endParaRPr b="0" i="0" sz="4450" u="none" cap="none" strike="noStrike"/>
          </a:p>
        </p:txBody>
      </p:sp>
      <p:sp>
        <p:nvSpPr>
          <p:cNvPr id="75" name="Google Shape;75;p1"/>
          <p:cNvSpPr/>
          <p:nvPr/>
        </p:nvSpPr>
        <p:spPr>
          <a:xfrm>
            <a:off x="6280190" y="3338036"/>
            <a:ext cx="7556421" cy="11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rPr b="0" i="0" lang="en-US" sz="35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01: Introduction to Machine Learning</a:t>
            </a:r>
            <a:endParaRPr b="0" i="0" sz="35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6280190" y="4812149"/>
            <a:ext cx="458164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Instructor: Dr. Shazia Saqib</a:t>
            </a:r>
            <a:endParaRPr b="0" i="0" sz="2650" u="none" cap="none" strike="noStrike"/>
          </a:p>
        </p:txBody>
      </p:sp>
      <p:sp>
        <p:nvSpPr>
          <p:cNvPr id="77" name="Google Shape;77;p1"/>
          <p:cNvSpPr/>
          <p:nvPr/>
        </p:nvSpPr>
        <p:spPr>
          <a:xfrm>
            <a:off x="6280190" y="5577602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78" name="Google Shape;7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3075" y="228600"/>
            <a:ext cx="1398725" cy="1095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03065" y="6684210"/>
            <a:ext cx="1398746" cy="139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/>
          <p:nvPr/>
        </p:nvSpPr>
        <p:spPr>
          <a:xfrm>
            <a:off x="793790" y="200548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Course Overview</a:t>
            </a:r>
            <a:endParaRPr b="0" i="0" sz="4450" u="none" cap="none" strike="noStrike"/>
          </a:p>
        </p:txBody>
      </p:sp>
      <p:sp>
        <p:nvSpPr>
          <p:cNvPr id="86" name="Google Shape;86;p2"/>
          <p:cNvSpPr/>
          <p:nvPr/>
        </p:nvSpPr>
        <p:spPr>
          <a:xfrm>
            <a:off x="793790" y="330958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1530906" y="33095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Module 1</a:t>
            </a:r>
            <a:endParaRPr b="0" i="0" sz="220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1530906" y="3799999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Introduction to ML, fundamental concepts, types of learning, data formatting &amp; preprocessing.</a:t>
            </a:r>
            <a:endParaRPr b="0" i="0" sz="1750" u="none" cap="none" strike="noStrike"/>
          </a:p>
        </p:txBody>
      </p:sp>
      <p:sp>
        <p:nvSpPr>
          <p:cNvPr id="89" name="Google Shape;89;p2"/>
          <p:cNvSpPr/>
          <p:nvPr/>
        </p:nvSpPr>
        <p:spPr>
          <a:xfrm>
            <a:off x="7428667" y="330958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8165783" y="33095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Module 2</a:t>
            </a:r>
            <a:endParaRPr b="0" i="0" sz="220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8165783" y="3799999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Key ML algorithms, supervised, unsupervised, and reinforcement learning.</a:t>
            </a:r>
            <a:endParaRPr b="0" i="0" sz="1750" u="none" cap="none" strike="noStrike"/>
          </a:p>
        </p:txBody>
      </p:sp>
      <p:sp>
        <p:nvSpPr>
          <p:cNvPr id="92" name="Google Shape;92;p2"/>
          <p:cNvSpPr/>
          <p:nvPr/>
        </p:nvSpPr>
        <p:spPr>
          <a:xfrm>
            <a:off x="793790" y="500776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1530906" y="50077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Module 3</a:t>
            </a:r>
            <a:endParaRPr b="0" i="0" sz="2200" u="none" cap="none" strike="noStrike"/>
          </a:p>
        </p:txBody>
      </p:sp>
      <p:sp>
        <p:nvSpPr>
          <p:cNvPr id="94" name="Google Shape;94;p2"/>
          <p:cNvSpPr/>
          <p:nvPr/>
        </p:nvSpPr>
        <p:spPr>
          <a:xfrm>
            <a:off x="1530906" y="5498187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Convolutional Neural Networks (CNNs), dimensionality reduction, evaluation m</a:t>
            </a:r>
            <a:r>
              <a:rPr lang="en-US" sz="1750">
                <a:solidFill>
                  <a:srgbClr val="504C49"/>
                </a:solidFill>
              </a:rPr>
              <a:t>at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rices.</a:t>
            </a:r>
            <a:endParaRPr b="0" i="0" sz="1750" u="none" cap="none" strike="noStrike"/>
          </a:p>
        </p:txBody>
      </p:sp>
      <p:sp>
        <p:nvSpPr>
          <p:cNvPr id="95" name="Google Shape;95;p2"/>
          <p:cNvSpPr/>
          <p:nvPr/>
        </p:nvSpPr>
        <p:spPr>
          <a:xfrm>
            <a:off x="7428667" y="500776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8165783" y="50077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Module 4</a:t>
            </a:r>
            <a:endParaRPr b="0" i="0" sz="2200" u="none" cap="none" strike="noStrike"/>
          </a:p>
        </p:txBody>
      </p:sp>
      <p:sp>
        <p:nvSpPr>
          <p:cNvPr id="97" name="Google Shape;97;p2"/>
          <p:cNvSpPr/>
          <p:nvPr/>
        </p:nvSpPr>
        <p:spPr>
          <a:xfrm>
            <a:off x="8165783" y="5498187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Advanced topics – AutoML, explainability, and model deployment.</a:t>
            </a:r>
            <a:endParaRPr b="0" i="0" sz="1750" u="none" cap="none" strike="noStrike"/>
          </a:p>
        </p:txBody>
      </p:sp>
      <p:pic>
        <p:nvPicPr>
          <p:cNvPr descr="preencoded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793790" y="1183362"/>
            <a:ext cx="762250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Course Learning Objectives</a:t>
            </a:r>
            <a:endParaRPr b="0" i="0" sz="4450" u="none" cap="none" strike="noStrike"/>
          </a:p>
        </p:txBody>
      </p:sp>
      <p:pic>
        <p:nvPicPr>
          <p:cNvPr descr="preencoded.pn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678" y="234576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1436489" y="31395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Essential Skills</a:t>
            </a:r>
            <a:endParaRPr b="0" i="0" sz="2200" u="none" cap="none" strike="noStrike"/>
          </a:p>
        </p:txBody>
      </p:sp>
      <p:sp>
        <p:nvSpPr>
          <p:cNvPr id="107" name="Google Shape;107;p3"/>
          <p:cNvSpPr/>
          <p:nvPr/>
        </p:nvSpPr>
        <p:spPr>
          <a:xfrm>
            <a:off x="793790" y="362997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Develop essential machine learning skills.</a:t>
            </a:r>
            <a:endParaRPr b="0" i="0" sz="1750" u="none" cap="none" strike="noStrike"/>
          </a:p>
        </p:txBody>
      </p:sp>
      <p:pic>
        <p:nvPicPr>
          <p:cNvPr descr="preencoded.png"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593" y="234576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/>
          <p:nvPr/>
        </p:nvSpPr>
        <p:spPr>
          <a:xfrm>
            <a:off x="5839182" y="3139559"/>
            <a:ext cx="295191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Hands-on Experience</a:t>
            </a:r>
            <a:endParaRPr b="0" i="0" sz="2200" u="none" cap="none" strike="noStrike"/>
          </a:p>
        </p:txBody>
      </p:sp>
      <p:sp>
        <p:nvSpPr>
          <p:cNvPr id="110" name="Google Shape;110;p3"/>
          <p:cNvSpPr/>
          <p:nvPr/>
        </p:nvSpPr>
        <p:spPr>
          <a:xfrm>
            <a:off x="5254704" y="3629978"/>
            <a:ext cx="412087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Gain hands-on experience with coding.</a:t>
            </a:r>
            <a:endParaRPr b="0" i="0" sz="1750" u="none" cap="none" strike="noStrike"/>
          </a:p>
        </p:txBody>
      </p:sp>
      <p:pic>
        <p:nvPicPr>
          <p:cNvPr descr="preencoded.png" id="111" name="Google Shape;1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92627" y="234576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10358438" y="31395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Critical Thinking</a:t>
            </a:r>
            <a:endParaRPr b="0" i="0" sz="2200" u="none" cap="none" strike="noStrike"/>
          </a:p>
        </p:txBody>
      </p:sp>
      <p:sp>
        <p:nvSpPr>
          <p:cNvPr id="113" name="Google Shape;113;p3"/>
          <p:cNvSpPr/>
          <p:nvPr/>
        </p:nvSpPr>
        <p:spPr>
          <a:xfrm>
            <a:off x="9715738" y="362997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Improve problem-solving and critical thinking.</a:t>
            </a:r>
            <a:endParaRPr b="0" i="0" sz="1750" u="none" cap="none" strike="noStrike"/>
          </a:p>
        </p:txBody>
      </p:sp>
      <p:pic>
        <p:nvPicPr>
          <p:cNvPr descr="preencoded.png" id="114" name="Google Shape;11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1076" y="503622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3667006" y="58300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Portfolio Building</a:t>
            </a:r>
            <a:endParaRPr b="0" i="0" sz="2200" u="none" cap="none" strike="noStrike"/>
          </a:p>
        </p:txBody>
      </p:sp>
      <p:sp>
        <p:nvSpPr>
          <p:cNvPr id="116" name="Google Shape;116;p3"/>
          <p:cNvSpPr/>
          <p:nvPr/>
        </p:nvSpPr>
        <p:spPr>
          <a:xfrm>
            <a:off x="3024188" y="6320433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Work on practical projects and build a portfolio.</a:t>
            </a:r>
            <a:endParaRPr b="0" i="0" sz="1750" u="none" cap="none" strike="noStrike"/>
          </a:p>
        </p:txBody>
      </p:sp>
      <p:pic>
        <p:nvPicPr>
          <p:cNvPr descr="preencoded.png" id="117" name="Google Shape;11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62110" y="503622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/>
          <p:nvPr/>
        </p:nvSpPr>
        <p:spPr>
          <a:xfrm>
            <a:off x="8128040" y="58300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Knowledge Sharing</a:t>
            </a:r>
            <a:endParaRPr b="0" i="0" sz="2200" u="none" cap="none" strike="noStrike"/>
          </a:p>
        </p:txBody>
      </p:sp>
      <p:sp>
        <p:nvSpPr>
          <p:cNvPr id="119" name="Google Shape;119;p3"/>
          <p:cNvSpPr/>
          <p:nvPr/>
        </p:nvSpPr>
        <p:spPr>
          <a:xfrm>
            <a:off x="7485221" y="6320433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Learn effective knowledge-sharing techniques.</a:t>
            </a:r>
            <a:endParaRPr b="0" i="0" sz="1750" u="none" cap="none" strike="noStrike"/>
          </a:p>
        </p:txBody>
      </p:sp>
      <p:pic>
        <p:nvPicPr>
          <p:cNvPr descr="preencoded.png" id="120" name="Google Shape;12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6280190" y="21699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Learning?</a:t>
            </a:r>
            <a:endParaRPr b="0" i="0" sz="4450" u="none" cap="none" strike="noStrike"/>
          </a:p>
        </p:txBody>
      </p:sp>
      <p:sp>
        <p:nvSpPr>
          <p:cNvPr id="128" name="Google Shape;128;p4"/>
          <p:cNvSpPr/>
          <p:nvPr/>
        </p:nvSpPr>
        <p:spPr>
          <a:xfrm>
            <a:off x="6280190" y="3218855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507004" y="3445669"/>
            <a:ext cx="338375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Process of Improvement</a:t>
            </a:r>
            <a:endParaRPr b="0" i="0" sz="2200" u="none" cap="none" strike="noStrike"/>
          </a:p>
        </p:txBody>
      </p:sp>
      <p:sp>
        <p:nvSpPr>
          <p:cNvPr id="130" name="Google Shape;130;p4"/>
          <p:cNvSpPr/>
          <p:nvPr/>
        </p:nvSpPr>
        <p:spPr>
          <a:xfrm>
            <a:off x="6507004" y="3936087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Process of improving performance or knowledge over time.</a:t>
            </a:r>
            <a:endParaRPr b="0" i="0" sz="175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6280190" y="4752618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507004" y="4979432"/>
            <a:ext cx="377678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Performance Enhancement</a:t>
            </a:r>
            <a:endParaRPr b="0" i="0" sz="2200" u="none" cap="none" strike="noStrike"/>
          </a:p>
        </p:txBody>
      </p:sp>
      <p:sp>
        <p:nvSpPr>
          <p:cNvPr id="133" name="Google Shape;133;p4"/>
          <p:cNvSpPr/>
          <p:nvPr/>
        </p:nvSpPr>
        <p:spPr>
          <a:xfrm>
            <a:off x="6507004" y="5469850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Performance enhancement through repeated experiments.</a:t>
            </a:r>
            <a:endParaRPr b="0" i="0" sz="1750" u="none" cap="none" strike="noStrike"/>
          </a:p>
        </p:txBody>
      </p:sp>
      <p:pic>
        <p:nvPicPr>
          <p:cNvPr descr="preencoded.png" id="134" name="Google Shape;1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793790" y="1627360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AI?</a:t>
            </a:r>
            <a:endParaRPr b="0" i="0" sz="445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787003" y="275826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200" u="none" cap="none" strike="noStrike"/>
          </a:p>
        </p:txBody>
      </p:sp>
      <p:sp>
        <p:nvSpPr>
          <p:cNvPr id="142" name="Google Shape;142;p5"/>
          <p:cNvSpPr/>
          <p:nvPr/>
        </p:nvSpPr>
        <p:spPr>
          <a:xfrm>
            <a:off x="787003" y="3339409"/>
            <a:ext cx="39780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Ability of computers to think, learn, and make decisions like humans.</a:t>
            </a:r>
            <a:endParaRPr b="0" i="0" sz="1750" u="none" cap="none" strike="noStrike"/>
          </a:p>
        </p:txBody>
      </p:sp>
      <p:sp>
        <p:nvSpPr>
          <p:cNvPr id="143" name="Google Shape;143;p5"/>
          <p:cNvSpPr/>
          <p:nvPr/>
        </p:nvSpPr>
        <p:spPr>
          <a:xfrm>
            <a:off x="5326141" y="275826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Applications</a:t>
            </a:r>
            <a:endParaRPr b="0" i="0" sz="220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5326141" y="3339409"/>
            <a:ext cx="3978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AI applications: Speech recognition, text understanding, predictions, problem-solving.</a:t>
            </a:r>
            <a:endParaRPr b="0" i="0" sz="1750" u="none" cap="none" strike="noStrike"/>
          </a:p>
        </p:txBody>
      </p:sp>
      <p:sp>
        <p:nvSpPr>
          <p:cNvPr id="145" name="Google Shape;145;p5"/>
          <p:cNvSpPr/>
          <p:nvPr/>
        </p:nvSpPr>
        <p:spPr>
          <a:xfrm>
            <a:off x="9865280" y="275826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Learning Process</a:t>
            </a:r>
            <a:endParaRPr b="0" i="0" sz="2200" u="none" cap="none" strike="noStrike"/>
          </a:p>
        </p:txBody>
      </p:sp>
      <p:sp>
        <p:nvSpPr>
          <p:cNvPr id="146" name="Google Shape;146;p5"/>
          <p:cNvSpPr/>
          <p:nvPr/>
        </p:nvSpPr>
        <p:spPr>
          <a:xfrm>
            <a:off x="9865280" y="3339409"/>
            <a:ext cx="39780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AI learns from data using machine learning and deep learning techniques.</a:t>
            </a:r>
            <a:endParaRPr b="0" i="0" sz="1750" u="none" cap="none" strike="noStrike"/>
          </a:p>
        </p:txBody>
      </p:sp>
      <p:pic>
        <p:nvPicPr>
          <p:cNvPr descr="preencoded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" title="images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00" y="4638447"/>
            <a:ext cx="3978000" cy="193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 title="Applicazioni-AI-1-fb-E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0275" y="4638450"/>
            <a:ext cx="3978000" cy="193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 title="machine-learning-vs-data-science-swipecart-blog-img-03-02-09-2022.gif"/>
          <p:cNvPicPr preferRelativeResize="0"/>
          <p:nvPr/>
        </p:nvPicPr>
        <p:blipFill rotWithShape="1">
          <a:blip r:embed="rId6">
            <a:alphaModFix/>
          </a:blip>
          <a:srcRect b="15451" l="0" r="0" t="16115"/>
          <a:stretch/>
        </p:blipFill>
        <p:spPr>
          <a:xfrm>
            <a:off x="9865275" y="4638450"/>
            <a:ext cx="3582854" cy="1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793840" y="1039694"/>
            <a:ext cx="10262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Relationship Between AI, ML, and DL</a:t>
            </a:r>
            <a:endParaRPr b="0" i="0" sz="4450" u="none" cap="none" strike="noStrike"/>
          </a:p>
        </p:txBody>
      </p:sp>
      <p:sp>
        <p:nvSpPr>
          <p:cNvPr id="157" name="Google Shape;157;p6"/>
          <p:cNvSpPr/>
          <p:nvPr/>
        </p:nvSpPr>
        <p:spPr>
          <a:xfrm>
            <a:off x="793840" y="2202102"/>
            <a:ext cx="4196400" cy="2032800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1020654" y="2428916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AI</a:t>
            </a:r>
            <a:endParaRPr b="0" i="0" sz="220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1020654" y="2919334"/>
            <a:ext cx="3742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Includes search algorithms, rule-based systems, and inference methods.</a:t>
            </a:r>
            <a:endParaRPr b="0" i="0" sz="1750" u="none" cap="none" strike="noStrike"/>
          </a:p>
        </p:txBody>
      </p:sp>
      <p:sp>
        <p:nvSpPr>
          <p:cNvPr id="160" name="Google Shape;160;p6"/>
          <p:cNvSpPr/>
          <p:nvPr/>
        </p:nvSpPr>
        <p:spPr>
          <a:xfrm>
            <a:off x="5217012" y="2202102"/>
            <a:ext cx="4196400" cy="2032800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443826" y="2428916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ML</a:t>
            </a:r>
            <a:endParaRPr b="0" i="0" sz="2200" u="none" cap="none" strike="noStrike"/>
          </a:p>
        </p:txBody>
      </p:sp>
      <p:sp>
        <p:nvSpPr>
          <p:cNvPr id="162" name="Google Shape;162;p6"/>
          <p:cNvSpPr/>
          <p:nvPr/>
        </p:nvSpPr>
        <p:spPr>
          <a:xfrm>
            <a:off x="5443826" y="2919334"/>
            <a:ext cx="3742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Subset of AI, includes supervised, unsupervised, and reinforcement learning.</a:t>
            </a:r>
            <a:endParaRPr b="0" i="0" sz="1750" u="none" cap="none" strike="noStrike"/>
          </a:p>
        </p:txBody>
      </p:sp>
      <p:sp>
        <p:nvSpPr>
          <p:cNvPr id="163" name="Google Shape;163;p6"/>
          <p:cNvSpPr/>
          <p:nvPr/>
        </p:nvSpPr>
        <p:spPr>
          <a:xfrm>
            <a:off x="9640183" y="2202102"/>
            <a:ext cx="4196400" cy="2032800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9866998" y="2428916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DL</a:t>
            </a:r>
            <a:endParaRPr b="0" i="0" sz="2200" u="none" cap="none" strike="noStrike"/>
          </a:p>
        </p:txBody>
      </p:sp>
      <p:sp>
        <p:nvSpPr>
          <p:cNvPr id="165" name="Google Shape;165;p6"/>
          <p:cNvSpPr/>
          <p:nvPr/>
        </p:nvSpPr>
        <p:spPr>
          <a:xfrm>
            <a:off x="9866998" y="2919334"/>
            <a:ext cx="3742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Subset of ML, includes CNNs, RNNs, transformers, GANs, and autoencoders.</a:t>
            </a:r>
            <a:endParaRPr b="0" i="0" sz="1750" u="none" cap="none" strike="noStrike"/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 title="12eca-machine-learning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2025" y="4688404"/>
            <a:ext cx="3546350" cy="1996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 title="20220127-event-Deep-Learning-with-Python_afternoon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8875" y="4688400"/>
            <a:ext cx="3546350" cy="19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 title="deepLearning.gif"/>
          <p:cNvPicPr preferRelativeResize="0"/>
          <p:nvPr/>
        </p:nvPicPr>
        <p:blipFill rotWithShape="1">
          <a:blip r:embed="rId6">
            <a:alphaModFix/>
          </a:blip>
          <a:srcRect b="0" l="0" r="9420" t="0"/>
          <a:stretch/>
        </p:blipFill>
        <p:spPr>
          <a:xfrm>
            <a:off x="9867000" y="4688400"/>
            <a:ext cx="3546349" cy="19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793790" y="100250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AI Categories</a:t>
            </a:r>
            <a:endParaRPr b="0" i="0" sz="4450" u="none" cap="none" strike="noStrike"/>
          </a:p>
        </p:txBody>
      </p:sp>
      <p:pic>
        <p:nvPicPr>
          <p:cNvPr descr="preencoded.png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64913"/>
            <a:ext cx="6351270" cy="392537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793790" y="6373773"/>
            <a:ext cx="476142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ANI (Artificial Narrow Intelligence)</a:t>
            </a:r>
            <a:endParaRPr b="0" i="0" sz="2200" u="none" cap="none" strike="noStrike"/>
          </a:p>
        </p:txBody>
      </p:sp>
      <p:sp>
        <p:nvSpPr>
          <p:cNvPr id="178" name="Google Shape;178;p7"/>
          <p:cNvSpPr/>
          <p:nvPr/>
        </p:nvSpPr>
        <p:spPr>
          <a:xfrm>
            <a:off x="793790" y="6864191"/>
            <a:ext cx="63512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in self-driving cars, search engines, farming, factories.</a:t>
            </a:r>
            <a:endParaRPr b="0" i="0" sz="1750" u="none" cap="none" strike="noStrike"/>
          </a:p>
        </p:txBody>
      </p:sp>
      <p:pic>
        <p:nvPicPr>
          <p:cNvPr descr="preencoded.png" id="179" name="Google Shape;1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5221" y="2164913"/>
            <a:ext cx="6351389" cy="392537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7485221" y="6373773"/>
            <a:ext cx="479714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AGI (Artificial General Intelligence)</a:t>
            </a:r>
            <a:endParaRPr b="0" i="0" sz="220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7485221" y="6864191"/>
            <a:ext cx="63513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AI capable of performing all human tasks.</a:t>
            </a:r>
            <a:endParaRPr b="0" i="0" sz="1750" u="none" cap="none" strike="noStrike"/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793790" y="2673191"/>
            <a:ext cx="1164002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 vs. Traditional Systems</a:t>
            </a:r>
            <a:endParaRPr b="0" i="0" sz="445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793790" y="397728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878860" y="401978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1530906" y="39772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Traditional Systems</a:t>
            </a:r>
            <a:endParaRPr b="0" i="0" sz="220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1530906" y="4467701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Traditional systems rely on pre-defined rules.</a:t>
            </a:r>
            <a:endParaRPr b="0" i="0" sz="1750" u="none" cap="none" strike="noStrike"/>
          </a:p>
        </p:txBody>
      </p:sp>
      <p:sp>
        <p:nvSpPr>
          <p:cNvPr id="193" name="Google Shape;193;p8"/>
          <p:cNvSpPr/>
          <p:nvPr/>
        </p:nvSpPr>
        <p:spPr>
          <a:xfrm>
            <a:off x="5216962" y="397728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5302032" y="401978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195" name="Google Shape;195;p8"/>
          <p:cNvSpPr/>
          <p:nvPr/>
        </p:nvSpPr>
        <p:spPr>
          <a:xfrm>
            <a:off x="5954078" y="39772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ML Systems</a:t>
            </a:r>
            <a:endParaRPr b="0" i="0" sz="2200" u="none" cap="none" strike="noStrike"/>
          </a:p>
        </p:txBody>
      </p:sp>
      <p:sp>
        <p:nvSpPr>
          <p:cNvPr id="196" name="Google Shape;196;p8"/>
          <p:cNvSpPr/>
          <p:nvPr/>
        </p:nvSpPr>
        <p:spPr>
          <a:xfrm>
            <a:off x="5954078" y="4467701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ML systems analyze past data to form predictive models.</a:t>
            </a:r>
            <a:endParaRPr b="0" i="0" sz="1750" u="none" cap="none" strike="noStrike"/>
          </a:p>
        </p:txBody>
      </p:sp>
      <p:sp>
        <p:nvSpPr>
          <p:cNvPr id="197" name="Google Shape;197;p8"/>
          <p:cNvSpPr/>
          <p:nvPr/>
        </p:nvSpPr>
        <p:spPr>
          <a:xfrm>
            <a:off x="9640133" y="397728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9725204" y="401978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199" name="Google Shape;199;p8"/>
          <p:cNvSpPr/>
          <p:nvPr/>
        </p:nvSpPr>
        <p:spPr>
          <a:xfrm>
            <a:off x="10377249" y="39772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Pattern Recognition</a:t>
            </a:r>
            <a:endParaRPr b="0" i="0" sz="2200" u="none" cap="none" strike="noStrike"/>
          </a:p>
        </p:txBody>
      </p:sp>
      <p:sp>
        <p:nvSpPr>
          <p:cNvPr id="200" name="Google Shape;200;p8"/>
          <p:cNvSpPr/>
          <p:nvPr/>
        </p:nvSpPr>
        <p:spPr>
          <a:xfrm>
            <a:off x="10377249" y="4467701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ML helps in pattern recognition and decision-making without explicit programming.</a:t>
            </a:r>
            <a:endParaRPr b="0" i="0" sz="1750" u="none" cap="none" strike="noStrike"/>
          </a:p>
        </p:txBody>
      </p:sp>
      <p:pic>
        <p:nvPicPr>
          <p:cNvPr descr="preencoded.png" id="201" name="Google Shape;2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8" title="aiml_2001.png"/>
          <p:cNvPicPr preferRelativeResize="0"/>
          <p:nvPr/>
        </p:nvPicPr>
        <p:blipFill rotWithShape="1">
          <a:blip r:embed="rId4">
            <a:alphaModFix/>
          </a:blip>
          <a:srcRect b="57598" l="0" r="0" t="0"/>
          <a:stretch/>
        </p:blipFill>
        <p:spPr>
          <a:xfrm>
            <a:off x="298100" y="6158753"/>
            <a:ext cx="4419825" cy="1158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8" title="aiml_2001.png"/>
          <p:cNvPicPr preferRelativeResize="0"/>
          <p:nvPr/>
        </p:nvPicPr>
        <p:blipFill rotWithShape="1">
          <a:blip r:embed="rId4">
            <a:alphaModFix/>
          </a:blip>
          <a:srcRect b="0" l="0" r="0" t="57598"/>
          <a:stretch/>
        </p:blipFill>
        <p:spPr>
          <a:xfrm>
            <a:off x="5302025" y="6158750"/>
            <a:ext cx="4419825" cy="1158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65375" y="5861200"/>
            <a:ext cx="4419825" cy="1753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793790" y="1100971"/>
            <a:ext cx="1009614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 vs. Deep Learning</a:t>
            </a:r>
            <a:endParaRPr b="0" i="0" sz="4450" u="none" cap="none" strike="noStrike"/>
          </a:p>
        </p:txBody>
      </p:sp>
      <p:pic>
        <p:nvPicPr>
          <p:cNvPr descr="preencoded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405063"/>
            <a:ext cx="3978116" cy="223158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793790" y="48918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ML</a:t>
            </a:r>
            <a:endParaRPr b="0" i="0" sz="2200" u="none" cap="none" strike="noStrike"/>
          </a:p>
        </p:txBody>
      </p:sp>
      <p:sp>
        <p:nvSpPr>
          <p:cNvPr id="213" name="Google Shape;213;p9"/>
          <p:cNvSpPr/>
          <p:nvPr/>
        </p:nvSpPr>
        <p:spPr>
          <a:xfrm>
            <a:off x="793790" y="5472946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Requires explicit feature engineering and domain expertise for effective classification and prediction.</a:t>
            </a:r>
            <a:endParaRPr b="0" i="0" sz="1750" u="none" cap="none" strike="noStrike"/>
          </a:p>
        </p:txBody>
      </p:sp>
      <p:pic>
        <p:nvPicPr>
          <p:cNvPr descr="preencoded.png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2928" y="2405063"/>
            <a:ext cx="3978116" cy="223158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5332928" y="48918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DL</a:t>
            </a:r>
            <a:endParaRPr b="0" i="0" sz="220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5332928" y="5472946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Autonomously learns hierarchical feature representations from raw data, eliminating manual feature extraction but reducing interpretability.</a:t>
            </a:r>
            <a:endParaRPr b="0" i="0" sz="1750" u="none" cap="none" strike="noStrike"/>
          </a:p>
        </p:txBody>
      </p:sp>
      <p:pic>
        <p:nvPicPr>
          <p:cNvPr descr="preencoded.png" id="217" name="Google Shape;21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72067" y="2405063"/>
            <a:ext cx="3978116" cy="223158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9872067" y="48918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DL Applications</a:t>
            </a:r>
            <a:endParaRPr b="0" i="0" sz="2200" u="none" cap="none" strike="noStrike"/>
          </a:p>
        </p:txBody>
      </p:sp>
      <p:sp>
        <p:nvSpPr>
          <p:cNvPr id="219" name="Google Shape;219;p9"/>
          <p:cNvSpPr/>
          <p:nvPr/>
        </p:nvSpPr>
        <p:spPr>
          <a:xfrm>
            <a:off x="9872067" y="5472946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Excels with large, complex datasets in areas like computer vision, natural language processing, and speech recognition.</a:t>
            </a:r>
            <a:endParaRPr b="0" i="0" sz="1750" u="none" cap="none" strike="noStrike"/>
          </a:p>
        </p:txBody>
      </p:sp>
      <p:pic>
        <p:nvPicPr>
          <p:cNvPr descr="preencoded.png" id="220" name="Google Shape;22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793790" y="1585912"/>
            <a:ext cx="1063192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Components of Machine Learning</a:t>
            </a:r>
            <a:endParaRPr b="0" i="0" sz="4450" u="none" cap="none" strike="noStrike"/>
          </a:p>
        </p:txBody>
      </p:sp>
      <p:sp>
        <p:nvSpPr>
          <p:cNvPr id="227" name="Google Shape;227;p10"/>
          <p:cNvSpPr/>
          <p:nvPr/>
        </p:nvSpPr>
        <p:spPr>
          <a:xfrm>
            <a:off x="793790" y="300347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878860" y="3045976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29" name="Google Shape;229;p10"/>
          <p:cNvSpPr/>
          <p:nvPr/>
        </p:nvSpPr>
        <p:spPr>
          <a:xfrm>
            <a:off x="1530906" y="300347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&amp; Features</a:t>
            </a:r>
            <a:endParaRPr b="0" i="0" sz="2200" u="none" cap="none" strike="noStrike"/>
          </a:p>
        </p:txBody>
      </p:sp>
      <p:sp>
        <p:nvSpPr>
          <p:cNvPr id="230" name="Google Shape;230;p10"/>
          <p:cNvSpPr/>
          <p:nvPr/>
        </p:nvSpPr>
        <p:spPr>
          <a:xfrm>
            <a:off x="1530906" y="3493889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Data: Foundation of learning. Features: Key attributes extracted from data.</a:t>
            </a:r>
            <a:endParaRPr b="0" i="0" sz="175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7428667" y="300347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7513737" y="3045976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33" name="Google Shape;233;p10"/>
          <p:cNvSpPr/>
          <p:nvPr/>
        </p:nvSpPr>
        <p:spPr>
          <a:xfrm>
            <a:off x="8165783" y="3003471"/>
            <a:ext cx="313467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Algorithms &amp; Training</a:t>
            </a:r>
            <a:endParaRPr b="0" i="0" sz="2200" u="none" cap="none" strike="noStrike"/>
          </a:p>
        </p:txBody>
      </p:sp>
      <p:sp>
        <p:nvSpPr>
          <p:cNvPr id="234" name="Google Shape;234;p10"/>
          <p:cNvSpPr/>
          <p:nvPr/>
        </p:nvSpPr>
        <p:spPr>
          <a:xfrm>
            <a:off x="8165783" y="3493889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Algorithms: Build ML models. Training &amp; Testing Data: Train model and evaluate performance.</a:t>
            </a:r>
            <a:endParaRPr b="0" i="0" sz="1750" u="none" cap="none" strike="noStrike"/>
          </a:p>
        </p:txBody>
      </p:sp>
      <p:sp>
        <p:nvSpPr>
          <p:cNvPr id="235" name="Google Shape;235;p10"/>
          <p:cNvSpPr/>
          <p:nvPr/>
        </p:nvSpPr>
        <p:spPr>
          <a:xfrm>
            <a:off x="793790" y="47016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878860" y="474416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37" name="Google Shape;237;p10"/>
          <p:cNvSpPr/>
          <p:nvPr/>
        </p:nvSpPr>
        <p:spPr>
          <a:xfrm>
            <a:off x="1530906" y="4701659"/>
            <a:ext cx="288559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Loss &amp; Optimization</a:t>
            </a:r>
            <a:endParaRPr b="0" i="0" sz="2200" u="none" cap="none" strike="noStrike"/>
          </a:p>
        </p:txBody>
      </p:sp>
      <p:sp>
        <p:nvSpPr>
          <p:cNvPr id="238" name="Google Shape;238;p10"/>
          <p:cNvSpPr/>
          <p:nvPr/>
        </p:nvSpPr>
        <p:spPr>
          <a:xfrm>
            <a:off x="1530906" y="5192078"/>
            <a:ext cx="56709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Loss Function: Measures difference between expected and actual results. Optimization: Minimizes loss function to improve accuracy.</a:t>
            </a:r>
            <a:endParaRPr b="0" i="0" sz="1750" u="none" cap="none" strike="noStrike"/>
          </a:p>
        </p:txBody>
      </p:sp>
      <p:sp>
        <p:nvSpPr>
          <p:cNvPr id="239" name="Google Shape;239;p10"/>
          <p:cNvSpPr/>
          <p:nvPr/>
        </p:nvSpPr>
        <p:spPr>
          <a:xfrm>
            <a:off x="7428667" y="47016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7513737" y="474416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241" name="Google Shape;241;p10"/>
          <p:cNvSpPr/>
          <p:nvPr/>
        </p:nvSpPr>
        <p:spPr>
          <a:xfrm>
            <a:off x="8165783" y="4701659"/>
            <a:ext cx="356366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Evaluation &amp; Deployment</a:t>
            </a:r>
            <a:endParaRPr b="0" i="0" sz="2200" u="none" cap="none" strike="noStrike"/>
          </a:p>
        </p:txBody>
      </p:sp>
      <p:sp>
        <p:nvSpPr>
          <p:cNvPr id="242" name="Google Shape;242;p10"/>
          <p:cNvSpPr/>
          <p:nvPr/>
        </p:nvSpPr>
        <p:spPr>
          <a:xfrm>
            <a:off x="8165783" y="5192078"/>
            <a:ext cx="56709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Evaluation Metrics: Assess model performance (precision, recall, accuracy). Hyperparameters: Tunable parameters like learning rate, activation functions. Deployment: Making trained models accessible.</a:t>
            </a:r>
            <a:endParaRPr b="0" i="0" sz="1750" u="none" cap="none" strike="noStrike"/>
          </a:p>
        </p:txBody>
      </p:sp>
      <p:pic>
        <p:nvPicPr>
          <p:cNvPr descr="preencoded.png"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793790" y="707588"/>
            <a:ext cx="9559290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b="0" i="0" lang="en-US" sz="4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History of Machine Learning (Part 1)</a:t>
            </a:r>
            <a:endParaRPr b="0" i="0" sz="4200" u="none" cap="none" strike="noStrike"/>
          </a:p>
        </p:txBody>
      </p:sp>
      <p:sp>
        <p:nvSpPr>
          <p:cNvPr id="250" name="Google Shape;250;p11"/>
          <p:cNvSpPr/>
          <p:nvPr/>
        </p:nvSpPr>
        <p:spPr>
          <a:xfrm>
            <a:off x="7299960" y="1811893"/>
            <a:ext cx="30480" cy="5709999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456878" y="2281476"/>
            <a:ext cx="646390" cy="30480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7072789" y="2054304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7153632" y="209472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5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500" u="none" cap="none" strike="noStrike"/>
          </a:p>
        </p:txBody>
      </p:sp>
      <p:sp>
        <p:nvSpPr>
          <p:cNvPr id="254" name="Google Shape;254;p11"/>
          <p:cNvSpPr/>
          <p:nvPr/>
        </p:nvSpPr>
        <p:spPr>
          <a:xfrm>
            <a:off x="3544253" y="2027277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1642</a:t>
            </a:r>
            <a:endParaRPr b="0" i="0" sz="2100" u="none" cap="none" strike="noStrike"/>
          </a:p>
        </p:txBody>
      </p:sp>
      <p:sp>
        <p:nvSpPr>
          <p:cNvPr id="255" name="Google Shape;255;p11"/>
          <p:cNvSpPr/>
          <p:nvPr/>
        </p:nvSpPr>
        <p:spPr>
          <a:xfrm>
            <a:off x="793790" y="2493050"/>
            <a:ext cx="54440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Pascal develops the first mechanical machine.</a:t>
            </a:r>
            <a:endParaRPr b="0" i="0" sz="1650" u="none" cap="none" strike="noStrike"/>
          </a:p>
        </p:txBody>
      </p:sp>
      <p:sp>
        <p:nvSpPr>
          <p:cNvPr id="256" name="Google Shape;256;p11"/>
          <p:cNvSpPr/>
          <p:nvPr/>
        </p:nvSpPr>
        <p:spPr>
          <a:xfrm>
            <a:off x="7527131" y="3358753"/>
            <a:ext cx="646390" cy="30480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7072789" y="3131582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7153632" y="3172004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5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500" u="none" cap="none" strike="noStrike"/>
          </a:p>
        </p:txBody>
      </p:sp>
      <p:sp>
        <p:nvSpPr>
          <p:cNvPr id="259" name="Google Shape;259;p11"/>
          <p:cNvSpPr/>
          <p:nvPr/>
        </p:nvSpPr>
        <p:spPr>
          <a:xfrm>
            <a:off x="8392597" y="3104555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1679</a:t>
            </a:r>
            <a:endParaRPr b="0" i="0" sz="2100" u="none" cap="none" strike="noStrike"/>
          </a:p>
        </p:txBody>
      </p:sp>
      <p:sp>
        <p:nvSpPr>
          <p:cNvPr id="260" name="Google Shape;260;p11"/>
          <p:cNvSpPr/>
          <p:nvPr/>
        </p:nvSpPr>
        <p:spPr>
          <a:xfrm>
            <a:off x="8392597" y="3570327"/>
            <a:ext cx="54440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Binary-coded machines emerge.</a:t>
            </a:r>
            <a:endParaRPr b="0" i="0" sz="1650" u="none" cap="none" strike="noStrike"/>
          </a:p>
        </p:txBody>
      </p:sp>
      <p:sp>
        <p:nvSpPr>
          <p:cNvPr id="261" name="Google Shape;261;p11"/>
          <p:cNvSpPr/>
          <p:nvPr/>
        </p:nvSpPr>
        <p:spPr>
          <a:xfrm>
            <a:off x="6456878" y="4328279"/>
            <a:ext cx="646390" cy="30480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7072789" y="4101108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7153632" y="4141530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5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500" u="none" cap="none" strike="noStrike"/>
          </a:p>
        </p:txBody>
      </p:sp>
      <p:sp>
        <p:nvSpPr>
          <p:cNvPr id="264" name="Google Shape;264;p11"/>
          <p:cNvSpPr/>
          <p:nvPr/>
        </p:nvSpPr>
        <p:spPr>
          <a:xfrm>
            <a:off x="3544253" y="4074081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1847</a:t>
            </a:r>
            <a:endParaRPr b="0" i="0" sz="2100" u="none" cap="none" strike="noStrike"/>
          </a:p>
        </p:txBody>
      </p:sp>
      <p:sp>
        <p:nvSpPr>
          <p:cNvPr id="265" name="Google Shape;265;p11"/>
          <p:cNvSpPr/>
          <p:nvPr/>
        </p:nvSpPr>
        <p:spPr>
          <a:xfrm>
            <a:off x="793790" y="4539853"/>
            <a:ext cx="54440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Boolean logic introduced.</a:t>
            </a:r>
            <a:endParaRPr b="0" i="0" sz="1650" u="none" cap="none" strike="noStrike"/>
          </a:p>
        </p:txBody>
      </p:sp>
      <p:sp>
        <p:nvSpPr>
          <p:cNvPr id="266" name="Google Shape;266;p11"/>
          <p:cNvSpPr/>
          <p:nvPr/>
        </p:nvSpPr>
        <p:spPr>
          <a:xfrm>
            <a:off x="7527131" y="5297924"/>
            <a:ext cx="646390" cy="30480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7072789" y="5070753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7153632" y="5111175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5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500" u="none" cap="none" strike="noStrike"/>
          </a:p>
        </p:txBody>
      </p:sp>
      <p:sp>
        <p:nvSpPr>
          <p:cNvPr id="269" name="Google Shape;269;p11"/>
          <p:cNvSpPr/>
          <p:nvPr/>
        </p:nvSpPr>
        <p:spPr>
          <a:xfrm>
            <a:off x="8392597" y="5043726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1950</a:t>
            </a:r>
            <a:endParaRPr b="0" i="0" sz="2100" u="none" cap="none" strike="noStrike"/>
          </a:p>
        </p:txBody>
      </p:sp>
      <p:sp>
        <p:nvSpPr>
          <p:cNvPr id="270" name="Google Shape;270;p11"/>
          <p:cNvSpPr/>
          <p:nvPr/>
        </p:nvSpPr>
        <p:spPr>
          <a:xfrm>
            <a:off x="8392597" y="5509498"/>
            <a:ext cx="54440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Alan Turing develops the Turing Test.</a:t>
            </a:r>
            <a:endParaRPr b="0" i="0" sz="1650" u="none" cap="none" strike="noStrike"/>
          </a:p>
        </p:txBody>
      </p:sp>
      <p:sp>
        <p:nvSpPr>
          <p:cNvPr id="271" name="Google Shape;271;p11"/>
          <p:cNvSpPr/>
          <p:nvPr/>
        </p:nvSpPr>
        <p:spPr>
          <a:xfrm>
            <a:off x="6456878" y="6267569"/>
            <a:ext cx="646390" cy="30480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7072789" y="6040398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7153632" y="6080820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5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500" u="none" cap="none" strike="noStrike"/>
          </a:p>
        </p:txBody>
      </p:sp>
      <p:sp>
        <p:nvSpPr>
          <p:cNvPr id="274" name="Google Shape;274;p11"/>
          <p:cNvSpPr/>
          <p:nvPr/>
        </p:nvSpPr>
        <p:spPr>
          <a:xfrm>
            <a:off x="3544253" y="6013371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1952</a:t>
            </a:r>
            <a:endParaRPr b="0" i="0" sz="2100" u="none" cap="none" strike="noStrike"/>
          </a:p>
        </p:txBody>
      </p:sp>
      <p:sp>
        <p:nvSpPr>
          <p:cNvPr id="275" name="Google Shape;275;p11"/>
          <p:cNvSpPr/>
          <p:nvPr/>
        </p:nvSpPr>
        <p:spPr>
          <a:xfrm>
            <a:off x="793790" y="6479143"/>
            <a:ext cx="54440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First machine learning application created.</a:t>
            </a:r>
            <a:endParaRPr b="0" i="0" sz="1650" u="none" cap="none" strike="noStrike"/>
          </a:p>
        </p:txBody>
      </p:sp>
      <p:pic>
        <p:nvPicPr>
          <p:cNvPr descr="preencoded.png" id="276" name="Google Shape;2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793790" y="1095256"/>
            <a:ext cx="1018127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History of Machine Learning (Part 2)</a:t>
            </a:r>
            <a:endParaRPr b="0" i="0" sz="4450" u="none" cap="none" strike="noStrike"/>
          </a:p>
        </p:txBody>
      </p:sp>
      <p:sp>
        <p:nvSpPr>
          <p:cNvPr id="283" name="Google Shape;283;p12"/>
          <p:cNvSpPr/>
          <p:nvPr/>
        </p:nvSpPr>
        <p:spPr>
          <a:xfrm>
            <a:off x="7299960" y="2144197"/>
            <a:ext cx="30480" cy="4990028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6410087" y="2639258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7060049" y="239934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7145119" y="244185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87" name="Google Shape;287;p12"/>
          <p:cNvSpPr/>
          <p:nvPr/>
        </p:nvSpPr>
        <p:spPr>
          <a:xfrm>
            <a:off x="3345894" y="237101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1970</a:t>
            </a:r>
            <a:endParaRPr b="0" i="0" sz="2200" u="none" cap="none" strike="noStrike"/>
          </a:p>
        </p:txBody>
      </p:sp>
      <p:sp>
        <p:nvSpPr>
          <p:cNvPr id="288" name="Google Shape;288;p12"/>
          <p:cNvSpPr/>
          <p:nvPr/>
        </p:nvSpPr>
        <p:spPr>
          <a:xfrm>
            <a:off x="793790" y="2861429"/>
            <a:ext cx="538734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Automated ML models introduced.</a:t>
            </a:r>
            <a:endParaRPr b="0" i="0" sz="1750" u="none" cap="none" strike="noStrike"/>
          </a:p>
        </p:txBody>
      </p:sp>
      <p:sp>
        <p:nvSpPr>
          <p:cNvPr id="289" name="Google Shape;289;p12"/>
          <p:cNvSpPr/>
          <p:nvPr/>
        </p:nvSpPr>
        <p:spPr>
          <a:xfrm>
            <a:off x="7539871" y="3773329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7060049" y="353341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7145119" y="357592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92" name="Google Shape;292;p12"/>
          <p:cNvSpPr/>
          <p:nvPr/>
        </p:nvSpPr>
        <p:spPr>
          <a:xfrm>
            <a:off x="8449270" y="35050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1979</a:t>
            </a:r>
            <a:endParaRPr b="0" i="0" sz="2200" u="none" cap="none" strike="noStrike"/>
          </a:p>
        </p:txBody>
      </p:sp>
      <p:sp>
        <p:nvSpPr>
          <p:cNvPr id="293" name="Google Shape;293;p12"/>
          <p:cNvSpPr/>
          <p:nvPr/>
        </p:nvSpPr>
        <p:spPr>
          <a:xfrm>
            <a:off x="8449270" y="3995499"/>
            <a:ext cx="538734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First self-driving car developed.</a:t>
            </a:r>
            <a:endParaRPr b="0" i="0" sz="1750" u="none" cap="none" strike="noStrike"/>
          </a:p>
        </p:txBody>
      </p:sp>
      <p:sp>
        <p:nvSpPr>
          <p:cNvPr id="294" name="Google Shape;294;p12"/>
          <p:cNvSpPr/>
          <p:nvPr/>
        </p:nvSpPr>
        <p:spPr>
          <a:xfrm>
            <a:off x="6410087" y="4793933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7060049" y="455402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7145119" y="459652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97" name="Google Shape;297;p12"/>
          <p:cNvSpPr/>
          <p:nvPr/>
        </p:nvSpPr>
        <p:spPr>
          <a:xfrm>
            <a:off x="3345894" y="452568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1986</a:t>
            </a:r>
            <a:endParaRPr b="0" i="0" sz="2200" u="none" cap="none" strike="noStrike"/>
          </a:p>
        </p:txBody>
      </p:sp>
      <p:sp>
        <p:nvSpPr>
          <p:cNvPr id="298" name="Google Shape;298;p12"/>
          <p:cNvSpPr/>
          <p:nvPr/>
        </p:nvSpPr>
        <p:spPr>
          <a:xfrm>
            <a:off x="793790" y="5016103"/>
            <a:ext cx="538734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Paper on neural networks published.</a:t>
            </a:r>
            <a:endParaRPr b="0" i="0" sz="1750" u="none" cap="none" strike="noStrike"/>
          </a:p>
        </p:txBody>
      </p:sp>
      <p:sp>
        <p:nvSpPr>
          <p:cNvPr id="299" name="Google Shape;299;p12"/>
          <p:cNvSpPr/>
          <p:nvPr/>
        </p:nvSpPr>
        <p:spPr>
          <a:xfrm>
            <a:off x="7539871" y="5814655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7060049" y="557474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7145119" y="561725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302" name="Google Shape;302;p12"/>
          <p:cNvSpPr/>
          <p:nvPr/>
        </p:nvSpPr>
        <p:spPr>
          <a:xfrm>
            <a:off x="8449270" y="55464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1997</a:t>
            </a:r>
            <a:endParaRPr b="0" i="0" sz="2200" u="none" cap="none" strike="noStrike"/>
          </a:p>
        </p:txBody>
      </p:sp>
      <p:sp>
        <p:nvSpPr>
          <p:cNvPr id="303" name="Google Shape;303;p12"/>
          <p:cNvSpPr/>
          <p:nvPr/>
        </p:nvSpPr>
        <p:spPr>
          <a:xfrm>
            <a:off x="8449270" y="6036826"/>
            <a:ext cx="538734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Advancements in speech recognition.</a:t>
            </a:r>
            <a:endParaRPr b="0" i="0" sz="1750" u="none" cap="none" strike="noStrike"/>
          </a:p>
        </p:txBody>
      </p:sp>
      <p:pic>
        <p:nvPicPr>
          <p:cNvPr descr="preencoded.png" id="304" name="Google Shape;3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"/>
          <p:cNvSpPr/>
          <p:nvPr/>
        </p:nvSpPr>
        <p:spPr>
          <a:xfrm>
            <a:off x="793790" y="1510308"/>
            <a:ext cx="1158442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Applications of Machine Learning</a:t>
            </a:r>
            <a:endParaRPr b="0" i="0" sz="4450" u="none" cap="none" strike="noStrike"/>
          </a:p>
        </p:txBody>
      </p:sp>
      <p:pic>
        <p:nvPicPr>
          <p:cNvPr descr="preencoded.png" id="311" name="Google Shape;3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672715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4"/>
          <p:cNvSpPr/>
          <p:nvPr/>
        </p:nvSpPr>
        <p:spPr>
          <a:xfrm>
            <a:off x="793790" y="5502950"/>
            <a:ext cx="310241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Consumer Technology</a:t>
            </a:r>
            <a:endParaRPr b="0" i="0" sz="2200" u="none" cap="none" strike="noStrike"/>
          </a:p>
        </p:txBody>
      </p:sp>
      <p:sp>
        <p:nvSpPr>
          <p:cNvPr id="313" name="Google Shape;313;p14"/>
          <p:cNvSpPr/>
          <p:nvPr/>
        </p:nvSpPr>
        <p:spPr>
          <a:xfrm>
            <a:off x="793790" y="599336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Recommendation systems for shopping, movies, books.</a:t>
            </a:r>
            <a:endParaRPr b="0" i="0" sz="1750" u="none" cap="none" strike="noStrike"/>
          </a:p>
        </p:txBody>
      </p:sp>
      <p:pic>
        <p:nvPicPr>
          <p:cNvPr descr="preencoded.png" id="314" name="Google Shape;3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672715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4"/>
          <p:cNvSpPr/>
          <p:nvPr/>
        </p:nvSpPr>
        <p:spPr>
          <a:xfrm>
            <a:off x="5254704" y="55030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Smart Cities</a:t>
            </a:r>
            <a:endParaRPr b="0" i="0" sz="2200" u="none" cap="none" strike="noStrike"/>
          </a:p>
        </p:txBody>
      </p:sp>
      <p:sp>
        <p:nvSpPr>
          <p:cNvPr id="316" name="Google Shape;316;p14"/>
          <p:cNvSpPr/>
          <p:nvPr/>
        </p:nvSpPr>
        <p:spPr>
          <a:xfrm>
            <a:off x="5254704" y="5993487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Traffic prediction, energy optimization, AI-driven governance.</a:t>
            </a:r>
            <a:endParaRPr b="0" i="0" sz="1750" u="none" cap="none" strike="noStrike"/>
          </a:p>
        </p:txBody>
      </p:sp>
      <p:pic>
        <p:nvPicPr>
          <p:cNvPr descr="preencoded.png" id="317" name="Google Shape;3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672715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4"/>
          <p:cNvSpPr/>
          <p:nvPr/>
        </p:nvSpPr>
        <p:spPr>
          <a:xfrm>
            <a:off x="9715738" y="55029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Cybersecurity</a:t>
            </a:r>
            <a:endParaRPr b="0" i="0" sz="2200" u="none" cap="none" strike="noStrike"/>
          </a:p>
        </p:txBody>
      </p:sp>
      <p:sp>
        <p:nvSpPr>
          <p:cNvPr id="319" name="Google Shape;319;p14"/>
          <p:cNvSpPr/>
          <p:nvPr/>
        </p:nvSpPr>
        <p:spPr>
          <a:xfrm>
            <a:off x="9715738" y="599336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Facial recognition, spam detection, cyberattack prevention.</a:t>
            </a:r>
            <a:endParaRPr b="0" i="0" sz="1750" u="none" cap="none" strike="noStrike"/>
          </a:p>
        </p:txBody>
      </p:sp>
      <p:pic>
        <p:nvPicPr>
          <p:cNvPr descr="preencoded.png" id="320" name="Google Shape;32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"/>
          <p:cNvSpPr/>
          <p:nvPr/>
        </p:nvSpPr>
        <p:spPr>
          <a:xfrm>
            <a:off x="793790" y="1510308"/>
            <a:ext cx="1146536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Applications of Machine Learning</a:t>
            </a:r>
            <a:endParaRPr b="0" i="0" sz="4450" u="none" cap="none" strike="noStrike"/>
          </a:p>
        </p:txBody>
      </p:sp>
      <p:pic>
        <p:nvPicPr>
          <p:cNvPr descr="preencoded.png" id="327" name="Google Shape;3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672715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3"/>
          <p:cNvSpPr/>
          <p:nvPr/>
        </p:nvSpPr>
        <p:spPr>
          <a:xfrm>
            <a:off x="793790" y="55029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Healthcare</a:t>
            </a:r>
            <a:endParaRPr b="0" i="0" sz="2200" u="none" cap="none" strike="noStrike"/>
          </a:p>
        </p:txBody>
      </p:sp>
      <p:sp>
        <p:nvSpPr>
          <p:cNvPr id="329" name="Google Shape;329;p13"/>
          <p:cNvSpPr/>
          <p:nvPr/>
        </p:nvSpPr>
        <p:spPr>
          <a:xfrm>
            <a:off x="793790" y="599336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Predicting patient readmission, diagnosis, treatment outcomes.</a:t>
            </a:r>
            <a:endParaRPr b="0" i="0" sz="1750" u="none" cap="none" strike="noStrike"/>
          </a:p>
        </p:txBody>
      </p:sp>
      <p:pic>
        <p:nvPicPr>
          <p:cNvPr descr="preencoded.png" id="330" name="Google Shape;3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672715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5254704" y="55030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Finance</a:t>
            </a:r>
            <a:endParaRPr b="0" i="0" sz="2200" u="none" cap="none" strike="noStrike"/>
          </a:p>
        </p:txBody>
      </p:sp>
      <p:sp>
        <p:nvSpPr>
          <p:cNvPr id="332" name="Google Shape;332;p13"/>
          <p:cNvSpPr/>
          <p:nvPr/>
        </p:nvSpPr>
        <p:spPr>
          <a:xfrm>
            <a:off x="5254704" y="5993487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Fraud detection, profit forecasting, customer retention prediction.</a:t>
            </a:r>
            <a:endParaRPr b="0" i="0" sz="1750" u="none" cap="none" strike="noStrike"/>
          </a:p>
        </p:txBody>
      </p:sp>
      <p:pic>
        <p:nvPicPr>
          <p:cNvPr descr="preencoded.png" id="333" name="Google Shape;33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672715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3"/>
          <p:cNvSpPr/>
          <p:nvPr/>
        </p:nvSpPr>
        <p:spPr>
          <a:xfrm>
            <a:off x="9715738" y="5502950"/>
            <a:ext cx="30431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Autonomous Systems</a:t>
            </a:r>
            <a:endParaRPr b="0" i="0" sz="2200" u="none" cap="none" strike="noStrike"/>
          </a:p>
        </p:txBody>
      </p:sp>
      <p:sp>
        <p:nvSpPr>
          <p:cNvPr id="335" name="Google Shape;335;p13"/>
          <p:cNvSpPr/>
          <p:nvPr/>
        </p:nvSpPr>
        <p:spPr>
          <a:xfrm>
            <a:off x="9715738" y="5993368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Self-driving cars, drones, robotics.</a:t>
            </a:r>
            <a:endParaRPr b="0" i="0" sz="1750" u="none" cap="none" strike="noStrike"/>
          </a:p>
        </p:txBody>
      </p:sp>
      <p:pic>
        <p:nvPicPr>
          <p:cNvPr descr="preencoded.png" id="336" name="Google Shape;33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/>
          <p:nvPr/>
        </p:nvSpPr>
        <p:spPr>
          <a:xfrm>
            <a:off x="793790" y="105548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ML in Everyday Life</a:t>
            </a:r>
            <a:endParaRPr b="0" i="0" sz="4450" u="none" cap="none" strike="noStrike"/>
          </a:p>
        </p:txBody>
      </p:sp>
      <p:sp>
        <p:nvSpPr>
          <p:cNvPr id="343" name="Google Shape;343;p15"/>
          <p:cNvSpPr/>
          <p:nvPr/>
        </p:nvSpPr>
        <p:spPr>
          <a:xfrm>
            <a:off x="793790" y="221789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Machine Learning seamlessly integrates into our daily lives through various technologies.</a:t>
            </a:r>
            <a:endParaRPr b="0" i="0" sz="1750" u="none" cap="none" strike="noStrike"/>
          </a:p>
        </p:txBody>
      </p:sp>
      <p:pic>
        <p:nvPicPr>
          <p:cNvPr descr="preencoded.png" id="344" name="Google Shape;3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35950"/>
            <a:ext cx="3005495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5"/>
          <p:cNvSpPr/>
          <p:nvPr/>
        </p:nvSpPr>
        <p:spPr>
          <a:xfrm>
            <a:off x="793790" y="49769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Mobile Technology</a:t>
            </a:r>
            <a:endParaRPr b="0" i="0" sz="2200" u="none" cap="none" strike="noStrike"/>
          </a:p>
        </p:txBody>
      </p:sp>
      <p:sp>
        <p:nvSpPr>
          <p:cNvPr id="346" name="Google Shape;346;p15"/>
          <p:cNvSpPr/>
          <p:nvPr/>
        </p:nvSpPr>
        <p:spPr>
          <a:xfrm>
            <a:off x="793790" y="5467350"/>
            <a:ext cx="30054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Facial recognition and voice assistants that learn from user interactions.</a:t>
            </a:r>
            <a:endParaRPr b="0" i="0" sz="1750" u="none" cap="none" strike="noStrike"/>
          </a:p>
        </p:txBody>
      </p:sp>
      <p:pic>
        <p:nvPicPr>
          <p:cNvPr descr="preencoded.png" id="347" name="Google Shape;34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9446" y="2835950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5"/>
          <p:cNvSpPr/>
          <p:nvPr/>
        </p:nvSpPr>
        <p:spPr>
          <a:xfrm>
            <a:off x="4139446" y="49769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Smart Homes</a:t>
            </a:r>
            <a:endParaRPr b="0" i="0" sz="2200" u="none" cap="none" strike="noStrike"/>
          </a:p>
        </p:txBody>
      </p:sp>
      <p:sp>
        <p:nvSpPr>
          <p:cNvPr id="349" name="Google Shape;349;p15"/>
          <p:cNvSpPr/>
          <p:nvPr/>
        </p:nvSpPr>
        <p:spPr>
          <a:xfrm>
            <a:off x="4139446" y="5467350"/>
            <a:ext cx="300561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Systems that learn usage patterns to adjust lighting, temperature, and settings.</a:t>
            </a:r>
            <a:endParaRPr b="0" i="0" sz="1750" u="none" cap="none" strike="noStrike"/>
          </a:p>
        </p:txBody>
      </p:sp>
      <p:pic>
        <p:nvPicPr>
          <p:cNvPr descr="preencoded.png" id="350" name="Google Shape;3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5221" y="2835950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5"/>
          <p:cNvSpPr/>
          <p:nvPr/>
        </p:nvSpPr>
        <p:spPr>
          <a:xfrm>
            <a:off x="7485221" y="49769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Online Shopping</a:t>
            </a:r>
            <a:endParaRPr b="0" i="0" sz="2200" u="none" cap="none" strike="noStrike"/>
          </a:p>
        </p:txBody>
      </p:sp>
      <p:sp>
        <p:nvSpPr>
          <p:cNvPr id="352" name="Google Shape;352;p15"/>
          <p:cNvSpPr/>
          <p:nvPr/>
        </p:nvSpPr>
        <p:spPr>
          <a:xfrm>
            <a:off x="7485221" y="5467350"/>
            <a:ext cx="300561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Analysis of browsing history to deliver personalized product recommendations.</a:t>
            </a:r>
            <a:endParaRPr b="0" i="0" sz="1750" u="none" cap="none" strike="noStrike"/>
          </a:p>
        </p:txBody>
      </p:sp>
      <p:pic>
        <p:nvPicPr>
          <p:cNvPr descr="preencoded.png" id="353" name="Google Shape;35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30997" y="2835950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5"/>
          <p:cNvSpPr/>
          <p:nvPr/>
        </p:nvSpPr>
        <p:spPr>
          <a:xfrm>
            <a:off x="10830997" y="49769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Navigation</a:t>
            </a:r>
            <a:endParaRPr b="0" i="0" sz="2200" u="none" cap="none" strike="noStrike"/>
          </a:p>
        </p:txBody>
      </p:sp>
      <p:sp>
        <p:nvSpPr>
          <p:cNvPr id="355" name="Google Shape;355;p15"/>
          <p:cNvSpPr/>
          <p:nvPr/>
        </p:nvSpPr>
        <p:spPr>
          <a:xfrm>
            <a:off x="10830997" y="5467350"/>
            <a:ext cx="300561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Processing of real-time traffic data to predict optimal routes.</a:t>
            </a:r>
            <a:endParaRPr b="0" i="0" sz="1750" u="none" cap="none" strike="noStrike"/>
          </a:p>
        </p:txBody>
      </p:sp>
      <p:sp>
        <p:nvSpPr>
          <p:cNvPr id="356" name="Google Shape;356;p15"/>
          <p:cNvSpPr/>
          <p:nvPr/>
        </p:nvSpPr>
        <p:spPr>
          <a:xfrm>
            <a:off x="793790" y="681120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ML processes data to predict preferences, automate tasks, and make intelligent decisions previously exclusive to humans.</a:t>
            </a:r>
            <a:endParaRPr b="0" i="0" sz="1750" u="none" cap="none" strike="noStrike"/>
          </a:p>
        </p:txBody>
      </p:sp>
      <p:pic>
        <p:nvPicPr>
          <p:cNvPr descr="preencoded.png" id="357" name="Google Shape;35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"/>
          <p:cNvSpPr/>
          <p:nvPr/>
        </p:nvSpPr>
        <p:spPr>
          <a:xfrm>
            <a:off x="793790" y="2616398"/>
            <a:ext cx="576107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Course Expectations</a:t>
            </a:r>
            <a:endParaRPr b="0" i="0" sz="4450" u="none" cap="none" strike="noStrike"/>
          </a:p>
        </p:txBody>
      </p:sp>
      <p:sp>
        <p:nvSpPr>
          <p:cNvPr id="364" name="Google Shape;364;p16"/>
          <p:cNvSpPr/>
          <p:nvPr/>
        </p:nvSpPr>
        <p:spPr>
          <a:xfrm>
            <a:off x="793790" y="40339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878860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366" name="Google Shape;366;p16"/>
          <p:cNvSpPr/>
          <p:nvPr/>
        </p:nvSpPr>
        <p:spPr>
          <a:xfrm>
            <a:off x="1530906" y="4033957"/>
            <a:ext cx="23535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Theory</a:t>
            </a:r>
            <a:endParaRPr b="0" i="0" sz="2200" u="none" cap="none" strike="noStrike"/>
          </a:p>
        </p:txBody>
      </p:sp>
      <p:sp>
        <p:nvSpPr>
          <p:cNvPr id="367" name="Google Shape;367;p16"/>
          <p:cNvSpPr/>
          <p:nvPr/>
        </p:nvSpPr>
        <p:spPr>
          <a:xfrm>
            <a:off x="1530906" y="4524375"/>
            <a:ext cx="235350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Engage with theoretical components.</a:t>
            </a:r>
            <a:endParaRPr b="0" i="0" sz="1750" u="none" cap="none" strike="noStrike"/>
          </a:p>
        </p:txBody>
      </p:sp>
      <p:sp>
        <p:nvSpPr>
          <p:cNvPr id="368" name="Google Shape;368;p16"/>
          <p:cNvSpPr/>
          <p:nvPr/>
        </p:nvSpPr>
        <p:spPr>
          <a:xfrm>
            <a:off x="4111228" y="40339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/>
          <p:nvPr/>
        </p:nvSpPr>
        <p:spPr>
          <a:xfrm>
            <a:off x="4196298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370" name="Google Shape;370;p16"/>
          <p:cNvSpPr/>
          <p:nvPr/>
        </p:nvSpPr>
        <p:spPr>
          <a:xfrm>
            <a:off x="4848344" y="4033957"/>
            <a:ext cx="23535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</a:t>
            </a:r>
            <a:endParaRPr b="0" i="0" sz="2200" u="none" cap="none" strike="noStrike"/>
          </a:p>
        </p:txBody>
      </p:sp>
      <p:sp>
        <p:nvSpPr>
          <p:cNvPr id="371" name="Google Shape;371;p16"/>
          <p:cNvSpPr/>
          <p:nvPr/>
        </p:nvSpPr>
        <p:spPr>
          <a:xfrm>
            <a:off x="4848344" y="4524375"/>
            <a:ext cx="235350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Engage with practical components.</a:t>
            </a:r>
            <a:endParaRPr b="0" i="0" sz="1750" u="none" cap="none" strike="noStrike"/>
          </a:p>
        </p:txBody>
      </p:sp>
      <p:sp>
        <p:nvSpPr>
          <p:cNvPr id="372" name="Google Shape;372;p16"/>
          <p:cNvSpPr/>
          <p:nvPr/>
        </p:nvSpPr>
        <p:spPr>
          <a:xfrm>
            <a:off x="7428667" y="40339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7513737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374" name="Google Shape;374;p16"/>
          <p:cNvSpPr/>
          <p:nvPr/>
        </p:nvSpPr>
        <p:spPr>
          <a:xfrm>
            <a:off x="8165783" y="4033957"/>
            <a:ext cx="23535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Skills</a:t>
            </a:r>
            <a:endParaRPr b="0" i="0" sz="2200" u="none" cap="none" strike="noStrike"/>
          </a:p>
        </p:txBody>
      </p:sp>
      <p:sp>
        <p:nvSpPr>
          <p:cNvPr id="375" name="Google Shape;375;p16"/>
          <p:cNvSpPr/>
          <p:nvPr/>
        </p:nvSpPr>
        <p:spPr>
          <a:xfrm>
            <a:off x="8165783" y="4524375"/>
            <a:ext cx="235350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Gain programming and analytical skills.</a:t>
            </a:r>
            <a:endParaRPr b="0" i="0" sz="1750" u="none" cap="none" strike="noStrike"/>
          </a:p>
        </p:txBody>
      </p:sp>
      <p:sp>
        <p:nvSpPr>
          <p:cNvPr id="376" name="Google Shape;376;p16"/>
          <p:cNvSpPr/>
          <p:nvPr/>
        </p:nvSpPr>
        <p:spPr>
          <a:xfrm>
            <a:off x="10746105" y="40339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10831175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378" name="Google Shape;378;p16"/>
          <p:cNvSpPr/>
          <p:nvPr/>
        </p:nvSpPr>
        <p:spPr>
          <a:xfrm>
            <a:off x="11483221" y="4033957"/>
            <a:ext cx="23535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Projects</a:t>
            </a:r>
            <a:endParaRPr b="0" i="0" sz="2200" u="none" cap="none" strike="noStrike"/>
          </a:p>
        </p:txBody>
      </p:sp>
      <p:sp>
        <p:nvSpPr>
          <p:cNvPr id="379" name="Google Shape;379;p16"/>
          <p:cNvSpPr/>
          <p:nvPr/>
        </p:nvSpPr>
        <p:spPr>
          <a:xfrm>
            <a:off x="11483221" y="4524375"/>
            <a:ext cx="235350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Complete projects for hands-on learning.</a:t>
            </a:r>
            <a:endParaRPr b="0" i="0" sz="1750" u="none" cap="none" strike="noStrike"/>
          </a:p>
        </p:txBody>
      </p:sp>
      <p:pic>
        <p:nvPicPr>
          <p:cNvPr descr="preencoded.png" id="380" name="Google Shape;3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"/>
          <p:cNvSpPr/>
          <p:nvPr/>
        </p:nvSpPr>
        <p:spPr>
          <a:xfrm>
            <a:off x="793790" y="2591038"/>
            <a:ext cx="884598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Learning Goals for This Session</a:t>
            </a:r>
            <a:endParaRPr b="0" i="0" sz="4450" u="none" cap="none" strike="noStrike"/>
          </a:p>
        </p:txBody>
      </p:sp>
      <p:sp>
        <p:nvSpPr>
          <p:cNvPr id="387" name="Google Shape;387;p17"/>
          <p:cNvSpPr/>
          <p:nvPr/>
        </p:nvSpPr>
        <p:spPr>
          <a:xfrm>
            <a:off x="793790" y="3753326"/>
            <a:ext cx="4120753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850"/>
              <a:buFont typeface="Platypi Medium"/>
              <a:buNone/>
            </a:pPr>
            <a:r>
              <a:rPr b="0" i="0" lang="en-US" sz="5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5850" u="none" cap="none" strike="noStrike"/>
          </a:p>
        </p:txBody>
      </p:sp>
      <p:sp>
        <p:nvSpPr>
          <p:cNvPr id="388" name="Google Shape;388;p17"/>
          <p:cNvSpPr/>
          <p:nvPr/>
        </p:nvSpPr>
        <p:spPr>
          <a:xfrm>
            <a:off x="1436489" y="47851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AI</a:t>
            </a:r>
            <a:endParaRPr b="0" i="0" sz="2200" u="none" cap="none" strike="noStrike"/>
          </a:p>
        </p:txBody>
      </p:sp>
      <p:sp>
        <p:nvSpPr>
          <p:cNvPr id="389" name="Google Shape;389;p17"/>
          <p:cNvSpPr/>
          <p:nvPr/>
        </p:nvSpPr>
        <p:spPr>
          <a:xfrm>
            <a:off x="793790" y="5275540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Understand AI, ML, and DL.</a:t>
            </a:r>
            <a:endParaRPr b="0" i="0" sz="1750" u="none" cap="none" strike="noStrike"/>
          </a:p>
        </p:txBody>
      </p:sp>
      <p:sp>
        <p:nvSpPr>
          <p:cNvPr id="390" name="Google Shape;390;p17"/>
          <p:cNvSpPr/>
          <p:nvPr/>
        </p:nvSpPr>
        <p:spPr>
          <a:xfrm>
            <a:off x="5254704" y="3753326"/>
            <a:ext cx="4120872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850"/>
              <a:buFont typeface="Platypi Medium"/>
              <a:buNone/>
            </a:pPr>
            <a:r>
              <a:rPr b="0" i="0" lang="en-US" sz="5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5850" u="none" cap="none" strike="noStrike"/>
          </a:p>
        </p:txBody>
      </p:sp>
      <p:sp>
        <p:nvSpPr>
          <p:cNvPr id="391" name="Google Shape;391;p17"/>
          <p:cNvSpPr/>
          <p:nvPr/>
        </p:nvSpPr>
        <p:spPr>
          <a:xfrm>
            <a:off x="5897523" y="47851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Components</a:t>
            </a:r>
            <a:endParaRPr b="0" i="0" sz="2200" u="none" cap="none" strike="noStrike"/>
          </a:p>
        </p:txBody>
      </p:sp>
      <p:sp>
        <p:nvSpPr>
          <p:cNvPr id="392" name="Google Shape;392;p17"/>
          <p:cNvSpPr/>
          <p:nvPr/>
        </p:nvSpPr>
        <p:spPr>
          <a:xfrm>
            <a:off x="5254704" y="5275540"/>
            <a:ext cx="412087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Recognize key components of ML.</a:t>
            </a:r>
            <a:endParaRPr b="0" i="0" sz="1750" u="none" cap="none" strike="noStrike"/>
          </a:p>
        </p:txBody>
      </p:sp>
      <p:sp>
        <p:nvSpPr>
          <p:cNvPr id="393" name="Google Shape;393;p17"/>
          <p:cNvSpPr/>
          <p:nvPr/>
        </p:nvSpPr>
        <p:spPr>
          <a:xfrm>
            <a:off x="9715738" y="3753326"/>
            <a:ext cx="4120753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850"/>
              <a:buFont typeface="Platypi Medium"/>
              <a:buNone/>
            </a:pPr>
            <a:r>
              <a:rPr b="0" i="0" lang="en-US" sz="5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5850" u="none" cap="none" strike="noStrike"/>
          </a:p>
        </p:txBody>
      </p:sp>
      <p:sp>
        <p:nvSpPr>
          <p:cNvPr id="394" name="Google Shape;394;p17"/>
          <p:cNvSpPr/>
          <p:nvPr/>
        </p:nvSpPr>
        <p:spPr>
          <a:xfrm>
            <a:off x="10117812" y="4785122"/>
            <a:ext cx="331660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Real-world Applications</a:t>
            </a:r>
            <a:endParaRPr b="0" i="0" sz="2200" u="none" cap="none" strike="noStrike"/>
          </a:p>
        </p:txBody>
      </p:sp>
      <p:sp>
        <p:nvSpPr>
          <p:cNvPr id="395" name="Google Shape;395;p17"/>
          <p:cNvSpPr/>
          <p:nvPr/>
        </p:nvSpPr>
        <p:spPr>
          <a:xfrm>
            <a:off x="9715738" y="5275540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Explore real-world applications of ML.</a:t>
            </a:r>
            <a:endParaRPr b="0" i="0" sz="1750" u="none" cap="none" strike="noStrike"/>
          </a:p>
        </p:txBody>
      </p:sp>
      <p:pic>
        <p:nvPicPr>
          <p:cNvPr descr="preencoded.png" id="396" name="Google Shape;3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"/>
          <p:cNvSpPr/>
          <p:nvPr/>
        </p:nvSpPr>
        <p:spPr>
          <a:xfrm>
            <a:off x="793790" y="2113240"/>
            <a:ext cx="570726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 of Lecture</a:t>
            </a:r>
            <a:endParaRPr b="0" i="0" sz="4450" u="none" cap="none" strike="noStrike"/>
          </a:p>
        </p:txBody>
      </p:sp>
      <p:sp>
        <p:nvSpPr>
          <p:cNvPr id="403" name="Google Shape;403;p18"/>
          <p:cNvSpPr/>
          <p:nvPr/>
        </p:nvSpPr>
        <p:spPr>
          <a:xfrm>
            <a:off x="793790" y="3275648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AI, ML, and DL</a:t>
            </a:r>
            <a:endParaRPr b="0" i="0" sz="2200" u="none" cap="none" strike="noStrike"/>
          </a:p>
        </p:txBody>
      </p:sp>
      <p:sp>
        <p:nvSpPr>
          <p:cNvPr id="405" name="Google Shape;405;p18"/>
          <p:cNvSpPr/>
          <p:nvPr/>
        </p:nvSpPr>
        <p:spPr>
          <a:xfrm>
            <a:off x="1020604" y="3992880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Introduction to AI, ML, and DL.</a:t>
            </a:r>
            <a:endParaRPr b="0" i="0" sz="1750" u="none" cap="none" strike="noStrike"/>
          </a:p>
        </p:txBody>
      </p:sp>
      <p:sp>
        <p:nvSpPr>
          <p:cNvPr id="406" name="Google Shape;406;p18"/>
          <p:cNvSpPr/>
          <p:nvPr/>
        </p:nvSpPr>
        <p:spPr>
          <a:xfrm>
            <a:off x="7428667" y="3275648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7655481" y="35024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Differences</a:t>
            </a:r>
            <a:endParaRPr b="0" i="0" sz="2200" u="none" cap="none" strike="noStrike"/>
          </a:p>
        </p:txBody>
      </p:sp>
      <p:sp>
        <p:nvSpPr>
          <p:cNvPr id="408" name="Google Shape;408;p18"/>
          <p:cNvSpPr/>
          <p:nvPr/>
        </p:nvSpPr>
        <p:spPr>
          <a:xfrm>
            <a:off x="7655481" y="3992880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Differences between ML and DL.</a:t>
            </a:r>
            <a:endParaRPr b="0" i="0" sz="1750" u="none" cap="none" strike="noStrike"/>
          </a:p>
        </p:txBody>
      </p:sp>
      <p:sp>
        <p:nvSpPr>
          <p:cNvPr id="409" name="Google Shape;409;p18"/>
          <p:cNvSpPr/>
          <p:nvPr/>
        </p:nvSpPr>
        <p:spPr>
          <a:xfrm>
            <a:off x="793790" y="4809411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Components</a:t>
            </a:r>
            <a:endParaRPr b="0" i="0" sz="2200" u="none" cap="none" strike="noStrike"/>
          </a:p>
        </p:txBody>
      </p:sp>
      <p:sp>
        <p:nvSpPr>
          <p:cNvPr id="411" name="Google Shape;411;p18"/>
          <p:cNvSpPr/>
          <p:nvPr/>
        </p:nvSpPr>
        <p:spPr>
          <a:xfrm>
            <a:off x="1020604" y="5526643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Key ML components and historical milestones.</a:t>
            </a:r>
            <a:endParaRPr b="0" i="0" sz="1750" u="none" cap="none" strike="noStrike"/>
          </a:p>
        </p:txBody>
      </p:sp>
      <p:sp>
        <p:nvSpPr>
          <p:cNvPr id="412" name="Google Shape;412;p18"/>
          <p:cNvSpPr/>
          <p:nvPr/>
        </p:nvSpPr>
        <p:spPr>
          <a:xfrm>
            <a:off x="7428667" y="4809411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7655481" y="50362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Applications</a:t>
            </a:r>
            <a:endParaRPr b="0" i="0" sz="2200" u="none" cap="none" strike="noStrike"/>
          </a:p>
        </p:txBody>
      </p:sp>
      <p:sp>
        <p:nvSpPr>
          <p:cNvPr id="414" name="Google Shape;414;p18"/>
          <p:cNvSpPr/>
          <p:nvPr/>
        </p:nvSpPr>
        <p:spPr>
          <a:xfrm>
            <a:off x="7655481" y="5526643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Applications of ML in various domains.</a:t>
            </a:r>
            <a:endParaRPr b="0" i="0" sz="1750" u="none" cap="none" strike="noStrike"/>
          </a:p>
        </p:txBody>
      </p:sp>
      <p:pic>
        <p:nvPicPr>
          <p:cNvPr descr="preencoded.png" id="415" name="Google Shape;4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"/>
          <p:cNvSpPr/>
          <p:nvPr/>
        </p:nvSpPr>
        <p:spPr>
          <a:xfrm>
            <a:off x="793790" y="1549003"/>
            <a:ext cx="593288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Next Session Preview</a:t>
            </a:r>
            <a:endParaRPr b="0" i="0" sz="4450" u="none" cap="none" strike="noStrike"/>
          </a:p>
        </p:txBody>
      </p:sp>
      <p:pic>
        <p:nvPicPr>
          <p:cNvPr descr="preencoded.png" id="422" name="Google Shape;4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9794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9"/>
          <p:cNvSpPr/>
          <p:nvPr/>
        </p:nvSpPr>
        <p:spPr>
          <a:xfrm>
            <a:off x="2268022" y="28247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Types of ML</a:t>
            </a:r>
            <a:endParaRPr b="0" i="0" sz="2200" u="none" cap="none" strike="noStrike"/>
          </a:p>
        </p:txBody>
      </p:sp>
      <p:sp>
        <p:nvSpPr>
          <p:cNvPr id="424" name="Google Shape;424;p19"/>
          <p:cNvSpPr/>
          <p:nvPr/>
        </p:nvSpPr>
        <p:spPr>
          <a:xfrm>
            <a:off x="2268022" y="3315176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 the next class, we will start with different types of Machine Learning.</a:t>
            </a:r>
            <a:endParaRPr b="0" i="0" sz="1750" u="none" cap="none" strike="noStrike"/>
          </a:p>
        </p:txBody>
      </p:sp>
      <p:pic>
        <p:nvPicPr>
          <p:cNvPr descr="preencoded.png" id="425" name="Google Shape;4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95882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9"/>
          <p:cNvSpPr/>
          <p:nvPr/>
        </p:nvSpPr>
        <p:spPr>
          <a:xfrm>
            <a:off x="2268022" y="4185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Detailed Discussion</a:t>
            </a:r>
            <a:endParaRPr b="0" i="0" sz="2200" u="none" cap="none" strike="noStrike"/>
          </a:p>
        </p:txBody>
      </p:sp>
      <p:sp>
        <p:nvSpPr>
          <p:cNvPr id="427" name="Google Shape;427;p19"/>
          <p:cNvSpPr/>
          <p:nvPr/>
        </p:nvSpPr>
        <p:spPr>
          <a:xfrm>
            <a:off x="2268022" y="4676061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Stay prepared for a detailed discussion on Supervised, Unsupervised, and Reinforcement Learning.</a:t>
            </a:r>
            <a:endParaRPr b="0" i="0" sz="1750" u="none" cap="none" strike="noStrike"/>
          </a:p>
        </p:txBody>
      </p:sp>
      <p:pic>
        <p:nvPicPr>
          <p:cNvPr descr="preencoded.png" id="428" name="Google Shape;42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31971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9"/>
          <p:cNvSpPr/>
          <p:nvPr/>
        </p:nvSpPr>
        <p:spPr>
          <a:xfrm>
            <a:off x="2268022" y="55465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Conclusion</a:t>
            </a:r>
            <a:endParaRPr b="0" i="0" sz="2200" u="none" cap="none" strike="noStrike"/>
          </a:p>
        </p:txBody>
      </p:sp>
      <p:sp>
        <p:nvSpPr>
          <p:cNvPr id="430" name="Google Shape;430;p19"/>
          <p:cNvSpPr/>
          <p:nvPr/>
        </p:nvSpPr>
        <p:spPr>
          <a:xfrm>
            <a:off x="2268022" y="6036945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Thank you, and see you in the next session!</a:t>
            </a:r>
            <a:endParaRPr b="0" i="0" sz="1750" u="none" cap="none" strike="noStrike"/>
          </a:p>
        </p:txBody>
      </p:sp>
      <p:pic>
        <p:nvPicPr>
          <p:cNvPr descr="preencoded.png" id="431" name="Google Shape;43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2025-03-14T08:18:32Z</dcterms:created>
  <dc:creator>PptxGenJS</dc:creator>
</cp:coreProperties>
</file>