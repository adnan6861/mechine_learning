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8229600" cx="14630400"/>
  <p:notesSz cx="8229600" cy="14630400"/>
  <p:embeddedFontLst>
    <p:embeddedFont>
      <p:font typeface="Platypi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RCNcsImZpO59+xNgwXgu8yYUE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bold.fntdata"/><Relationship Id="rId25" Type="http://schemas.openxmlformats.org/officeDocument/2006/relationships/font" Target="fonts/PlatypiMedium-regular.fntdata"/><Relationship Id="rId28" Type="http://schemas.openxmlformats.org/officeDocument/2006/relationships/font" Target="fonts/PlatypiMedium-boldItalic.fntdata"/><Relationship Id="rId27" Type="http://schemas.openxmlformats.org/officeDocument/2006/relationships/font" Target="fonts/Platypi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36.png"/><Relationship Id="rId7" Type="http://schemas.openxmlformats.org/officeDocument/2006/relationships/image" Target="../media/image21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gif"/><Relationship Id="rId5" Type="http://schemas.openxmlformats.org/officeDocument/2006/relationships/image" Target="../media/image3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0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43.gif"/><Relationship Id="rId6" Type="http://schemas.openxmlformats.org/officeDocument/2006/relationships/image" Target="../media/image34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9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42.gif"/><Relationship Id="rId5" Type="http://schemas.openxmlformats.org/officeDocument/2006/relationships/image" Target="../media/image44.gif"/><Relationship Id="rId6" Type="http://schemas.openxmlformats.org/officeDocument/2006/relationships/image" Target="../media/image35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6280190" y="235708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/>
          </a:p>
        </p:txBody>
      </p:sp>
      <p:sp>
        <p:nvSpPr>
          <p:cNvPr id="78" name="Google Shape;78;p1"/>
          <p:cNvSpPr/>
          <p:nvPr/>
        </p:nvSpPr>
        <p:spPr>
          <a:xfrm>
            <a:off x="6280190" y="3406021"/>
            <a:ext cx="7556421" cy="170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02: Overview of Types of Machine Learning and Basic Workflow</a:t>
            </a:r>
            <a:endParaRPr b="0" i="0" sz="3550" u="none" cap="none" strike="noStrike"/>
          </a:p>
        </p:txBody>
      </p:sp>
      <p:sp>
        <p:nvSpPr>
          <p:cNvPr id="79" name="Google Shape;79;p1"/>
          <p:cNvSpPr/>
          <p:nvPr/>
        </p:nvSpPr>
        <p:spPr>
          <a:xfrm>
            <a:off x="6280190" y="5447109"/>
            <a:ext cx="458164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/>
          </a:p>
        </p:txBody>
      </p:sp>
      <p:pic>
        <p:nvPicPr>
          <p:cNvPr descr="preencoded.png" id="80" name="Google Shape;8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/>
          <p:nvPr/>
        </p:nvSpPr>
        <p:spPr>
          <a:xfrm>
            <a:off x="793790" y="2179796"/>
            <a:ext cx="673965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Recap of the last lecture</a:t>
            </a:r>
            <a:endParaRPr b="0" i="0" sz="44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793790" y="334220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our previous session, we explored the fundamental types of machine learning approaches:</a:t>
            </a:r>
            <a:endParaRPr b="0" i="0" sz="175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793790" y="42154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878860" y="425791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1530906" y="4215408"/>
            <a:ext cx="285273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Supervised Learning</a:t>
            </a:r>
            <a:endParaRPr b="0" i="0" sz="2200" u="none" cap="none" strike="noStrike"/>
          </a:p>
        </p:txBody>
      </p:sp>
      <p:sp>
        <p:nvSpPr>
          <p:cNvPr id="92" name="Google Shape;92;p2"/>
          <p:cNvSpPr/>
          <p:nvPr/>
        </p:nvSpPr>
        <p:spPr>
          <a:xfrm>
            <a:off x="1530906" y="4705826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Uses labeled data for training</a:t>
            </a:r>
            <a:endParaRPr b="0" i="0" sz="175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5216962" y="42154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5302032" y="425791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5954078" y="4215408"/>
            <a:ext cx="3211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Unsupervised Learning</a:t>
            </a:r>
            <a:endParaRPr b="0" i="0" sz="220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5954078" y="4705826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Works with unlabeled data</a:t>
            </a:r>
            <a:endParaRPr b="0" i="0" sz="175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9640133" y="42154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9725204" y="425791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10377249" y="4215408"/>
            <a:ext cx="33585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Reinforcement Learning</a:t>
            </a:r>
            <a:endParaRPr b="0" i="0" sz="2200" u="none" cap="none" strike="noStrike"/>
          </a:p>
        </p:txBody>
      </p:sp>
      <p:sp>
        <p:nvSpPr>
          <p:cNvPr id="100" name="Google Shape;100;p2"/>
          <p:cNvSpPr/>
          <p:nvPr/>
        </p:nvSpPr>
        <p:spPr>
          <a:xfrm>
            <a:off x="10377249" y="4705826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Learns through interaction with environment</a:t>
            </a:r>
            <a:endParaRPr b="0" i="0" sz="1750" u="none" cap="none" strike="noStrike"/>
          </a:p>
        </p:txBody>
      </p:sp>
      <p:sp>
        <p:nvSpPr>
          <p:cNvPr id="101" name="Google Shape;101;p2"/>
          <p:cNvSpPr/>
          <p:nvPr/>
        </p:nvSpPr>
        <p:spPr>
          <a:xfrm>
            <a:off x="793790" y="568678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Each approach serves different purposes and has unique applications in the field of machine learning.</a:t>
            </a:r>
            <a:endParaRPr b="0" i="0" sz="1750" u="none" cap="none" strike="noStrike"/>
          </a:p>
        </p:txBody>
      </p:sp>
      <p:pic>
        <p:nvPicPr>
          <p:cNvPr descr="preencoded.pn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8108990" y="1322546"/>
            <a:ext cx="57077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Supervised Learning</a:t>
            </a:r>
            <a:endParaRPr b="0" i="0" sz="445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8108990" y="2371487"/>
            <a:ext cx="5727621" cy="1360646"/>
          </a:xfrm>
          <a:prstGeom prst="roundRect">
            <a:avLst>
              <a:gd fmla="val 250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335804" y="2598301"/>
            <a:ext cx="5273993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Uses labeled data with paired inputs and outputs</a:t>
            </a:r>
            <a:endParaRPr b="0" i="0" sz="220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8108990" y="3958947"/>
            <a:ext cx="5727621" cy="1360646"/>
          </a:xfrm>
          <a:prstGeom prst="roundRect">
            <a:avLst>
              <a:gd fmla="val 250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335804" y="4185761"/>
            <a:ext cx="5273993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Learns patterns from examples to predict results on new data</a:t>
            </a:r>
            <a:endParaRPr b="0" i="0" sz="220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8108990" y="5546408"/>
            <a:ext cx="5727621" cy="1360646"/>
          </a:xfrm>
          <a:prstGeom prst="roundRect">
            <a:avLst>
              <a:gd fmla="val 250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335804" y="5773222"/>
            <a:ext cx="5273993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Easily measured performance against expected outputs</a:t>
            </a:r>
            <a:endParaRPr b="0" i="0" sz="2200" u="none" cap="none" strike="noStrike"/>
          </a:p>
        </p:txBody>
      </p:sp>
      <p:pic>
        <p:nvPicPr>
          <p:cNvPr descr="preencoded.pn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supervised algo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825" y="1304388"/>
            <a:ext cx="7499213" cy="56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of Supervised Learning</a:t>
            </a:r>
            <a:endParaRPr b="0" i="0" sz="445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793790" y="457688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878860" y="461938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1530906" y="4576882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Training a model with labeled fruit images.</a:t>
            </a:r>
            <a:endParaRPr b="0" i="0" sz="1750" u="none" cap="none" strike="noStrike"/>
          </a:p>
        </p:txBody>
      </p:sp>
      <p:sp>
        <p:nvSpPr>
          <p:cNvPr id="127" name="Google Shape;127;p4"/>
          <p:cNvSpPr/>
          <p:nvPr/>
        </p:nvSpPr>
        <p:spPr>
          <a:xfrm>
            <a:off x="4685467" y="457688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770537" y="461938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5422583" y="4576882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After training, the model can classify new fruit images.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793790" y="634841"/>
            <a:ext cx="7569756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300"/>
              <a:buFont typeface="Platypi Medium"/>
              <a:buNone/>
            </a:pPr>
            <a:r>
              <a:rPr b="0" i="0" lang="en-US" sz="33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 of Supervised Learning</a:t>
            </a:r>
            <a:endParaRPr b="0" i="0" sz="3300" u="none" cap="none" strike="noStrike"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998" y="1506617"/>
            <a:ext cx="3133011" cy="193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1819275" y="3655576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Spam filtering</a:t>
            </a:r>
            <a:endParaRPr b="0" i="0" sz="165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793790" y="4023360"/>
            <a:ext cx="417742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Spam vs. non-spam emails</a:t>
            </a:r>
            <a:endParaRPr b="0" i="0" sz="1300" u="none" cap="none" strike="noStrike"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8576" y="1506617"/>
            <a:ext cx="3133130" cy="193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6251853" y="3655576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Speech recognition</a:t>
            </a:r>
            <a:endParaRPr b="0" i="0" sz="165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5226368" y="4023360"/>
            <a:ext cx="4177546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Audio-to-text conversion</a:t>
            </a:r>
            <a:endParaRPr b="0" i="0" sz="1300" u="none" cap="none" strike="noStrike"/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1273" y="1506617"/>
            <a:ext cx="3133011" cy="193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10684550" y="3655576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translation</a:t>
            </a:r>
            <a:endParaRPr b="0" i="0" sz="165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9659064" y="4023360"/>
            <a:ext cx="417742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Language translation</a:t>
            </a:r>
            <a:endParaRPr b="0" i="0" sz="1300" u="none" cap="none" strike="noStrike"/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5998" y="4805839"/>
            <a:ext cx="3133011" cy="193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1819275" y="6954798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Online advertising</a:t>
            </a:r>
            <a:endParaRPr b="0" i="0" sz="1650" u="none" cap="none" strike="noStrike"/>
          </a:p>
        </p:txBody>
      </p:sp>
      <p:sp>
        <p:nvSpPr>
          <p:cNvPr id="147" name="Google Shape;147;p5"/>
          <p:cNvSpPr/>
          <p:nvPr/>
        </p:nvSpPr>
        <p:spPr>
          <a:xfrm>
            <a:off x="793790" y="7322582"/>
            <a:ext cx="417742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Predicting ad clicks</a:t>
            </a:r>
            <a:endParaRPr b="0" i="0" sz="1300" u="none" cap="none" strike="noStrike"/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8576" y="4805839"/>
            <a:ext cx="3133130" cy="193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251853" y="6954798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Self-driving cars</a:t>
            </a:r>
            <a:endParaRPr b="0" i="0" sz="1650" u="none" cap="none" strike="noStrike"/>
          </a:p>
        </p:txBody>
      </p:sp>
      <p:sp>
        <p:nvSpPr>
          <p:cNvPr id="150" name="Google Shape;150;p5"/>
          <p:cNvSpPr/>
          <p:nvPr/>
        </p:nvSpPr>
        <p:spPr>
          <a:xfrm>
            <a:off x="5226368" y="7322582"/>
            <a:ext cx="4177546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Detecting vehicles using radar</a:t>
            </a:r>
            <a:endParaRPr b="0" i="0" sz="1300" u="none" cap="none" strike="noStrike"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81273" y="4805839"/>
            <a:ext cx="3133011" cy="193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10684550" y="6954798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 inspection</a:t>
            </a:r>
            <a:endParaRPr b="0" i="0" sz="1650" u="none" cap="none" strike="noStrike"/>
          </a:p>
        </p:txBody>
      </p:sp>
      <p:sp>
        <p:nvSpPr>
          <p:cNvPr id="153" name="Google Shape;153;p5"/>
          <p:cNvSpPr/>
          <p:nvPr/>
        </p:nvSpPr>
        <p:spPr>
          <a:xfrm>
            <a:off x="9659064" y="7322582"/>
            <a:ext cx="417742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Detecting product defects</a:t>
            </a:r>
            <a:endParaRPr b="0" i="0" sz="1300" u="none" cap="none" strike="noStrike"/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793790" y="921425"/>
            <a:ext cx="95938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Two Types of Supervised Learning</a:t>
            </a:r>
            <a:endParaRPr b="0" i="0" sz="445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793790" y="21971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1. Classification</a:t>
            </a:r>
            <a:endParaRPr b="0" i="0" sz="220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793790" y="2778323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Categorizing data into predefined labels (e.g., spam or not spam).</a:t>
            </a:r>
            <a:endParaRPr b="0" i="0" sz="1750" u="none" cap="none" strike="noStrike"/>
          </a:p>
        </p:txBody>
      </p:sp>
      <p:sp>
        <p:nvSpPr>
          <p:cNvPr id="163" name="Google Shape;163;p6"/>
          <p:cNvSpPr/>
          <p:nvPr/>
        </p:nvSpPr>
        <p:spPr>
          <a:xfrm>
            <a:off x="7599521" y="21971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2. Regression</a:t>
            </a:r>
            <a:endParaRPr b="0" i="0" sz="220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7599521" y="277832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Predicting continuous values (e.g., house prices, future sales).</a:t>
            </a:r>
            <a:endParaRPr b="0" i="0" sz="1750" u="none" cap="none" strike="noStrike"/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 title="Classification-Examples-ezgif.com-effects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26" y="3730949"/>
            <a:ext cx="7025501" cy="370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 title="0_0plB5_YzkViGnD3j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2186" y="3504126"/>
            <a:ext cx="5859376" cy="329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8108990" y="1634133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Types of Classification</a:t>
            </a:r>
            <a:endParaRPr b="0" i="0" sz="445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8108990" y="3391853"/>
            <a:ext cx="57276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335804" y="3618667"/>
            <a:ext cx="289833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Binary Classification</a:t>
            </a:r>
            <a:endParaRPr b="0" i="0" sz="22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8335804" y="4109085"/>
            <a:ext cx="52739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Two possible outcomes (Yes/No, Spam/Not Spam).</a:t>
            </a:r>
            <a:endParaRPr b="0" i="0" sz="175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8108990" y="4925616"/>
            <a:ext cx="5727621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335804" y="5152430"/>
            <a:ext cx="35515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Multi-Class Classification</a:t>
            </a:r>
            <a:endParaRPr b="0" i="0" sz="22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8335804" y="5642848"/>
            <a:ext cx="52739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More than two outcomes (child, young adult, elderly).</a:t>
            </a:r>
            <a:endParaRPr b="0" i="0" sz="1750" u="none" cap="none" strike="noStrike"/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 title="ezgif.com-crop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75" y="1416425"/>
            <a:ext cx="69723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780812" y="613886"/>
            <a:ext cx="11521321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350"/>
              <a:buFont typeface="Platypi Medium"/>
              <a:buNone/>
            </a:pPr>
            <a:r>
              <a:rPr b="0" i="0" lang="en-US" sz="43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Supervised Learning Algorithms</a:t>
            </a:r>
            <a:endParaRPr b="0" i="0" sz="435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780812" y="2008227"/>
            <a:ext cx="501968" cy="50196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64513" y="2050078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0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1505783" y="2008227"/>
            <a:ext cx="3677007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50"/>
              <a:buFont typeface="Platypi Medium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k-Nearest Neighbors (KNN)</a:t>
            </a:r>
            <a:endParaRPr b="0" i="0" sz="21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1505783" y="2490549"/>
            <a:ext cx="5697974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Classifies data points based on the majority class among k nearest neighbors, using distance metrics to determine similarity.</a:t>
            </a:r>
            <a:endParaRPr b="0" i="0" sz="175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7426762" y="2008227"/>
            <a:ext cx="501968" cy="50196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7510462" y="2050078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0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8151733" y="2008227"/>
            <a:ext cx="4348163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50"/>
              <a:buFont typeface="Platypi Medium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Support Vector Machines (SVM)</a:t>
            </a:r>
            <a:endParaRPr b="0" i="0" sz="215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8151733" y="2490549"/>
            <a:ext cx="5697974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Creates optimal hyperplanes to separate data classes, excelling at classification tasks with clear margins between categories.</a:t>
            </a:r>
            <a:endParaRPr b="0" i="0" sz="175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780812" y="4035385"/>
            <a:ext cx="501968" cy="50196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64513" y="4077236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0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1505783" y="4035385"/>
            <a:ext cx="2788801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50"/>
              <a:buFont typeface="Platypi Medium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Linear Regression</a:t>
            </a:r>
            <a:endParaRPr b="0" i="0" sz="215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1505783" y="4517708"/>
            <a:ext cx="5697974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Predicts continuous values by modeling relationships between features using a linear approach, finding the best-fitting line through data points.</a:t>
            </a:r>
            <a:endParaRPr b="0" i="0" sz="1750" u="none" cap="none" strike="noStrike"/>
          </a:p>
        </p:txBody>
      </p:sp>
      <p:sp>
        <p:nvSpPr>
          <p:cNvPr id="200" name="Google Shape;200;p8"/>
          <p:cNvSpPr/>
          <p:nvPr/>
        </p:nvSpPr>
        <p:spPr>
          <a:xfrm>
            <a:off x="7426762" y="4035385"/>
            <a:ext cx="501968" cy="50196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510462" y="4077236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00" u="none" cap="none" strike="noStrike"/>
          </a:p>
        </p:txBody>
      </p:sp>
      <p:sp>
        <p:nvSpPr>
          <p:cNvPr id="202" name="Google Shape;202;p8"/>
          <p:cNvSpPr/>
          <p:nvPr/>
        </p:nvSpPr>
        <p:spPr>
          <a:xfrm>
            <a:off x="8151733" y="4035385"/>
            <a:ext cx="2788801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50"/>
              <a:buFont typeface="Platypi Medium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Logistic Regression</a:t>
            </a:r>
            <a:endParaRPr b="0" i="0" sz="2150" u="none" cap="none" strike="noStrike"/>
          </a:p>
        </p:txBody>
      </p:sp>
      <p:sp>
        <p:nvSpPr>
          <p:cNvPr id="203" name="Google Shape;203;p8"/>
          <p:cNvSpPr/>
          <p:nvPr/>
        </p:nvSpPr>
        <p:spPr>
          <a:xfrm>
            <a:off x="8151733" y="4517708"/>
            <a:ext cx="5697974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Despite its name, primarily used for binary classification, modeling probability of outcomes using the logistic function.</a:t>
            </a:r>
            <a:endParaRPr b="0" i="0" sz="1750" u="none" cap="none" strike="noStrike"/>
          </a:p>
        </p:txBody>
      </p:sp>
      <p:sp>
        <p:nvSpPr>
          <p:cNvPr id="204" name="Google Shape;204;p8"/>
          <p:cNvSpPr/>
          <p:nvPr/>
        </p:nvSpPr>
        <p:spPr>
          <a:xfrm>
            <a:off x="780812" y="6062543"/>
            <a:ext cx="501968" cy="50196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64513" y="6104394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00" u="none" cap="none" strike="noStrike"/>
          </a:p>
        </p:txBody>
      </p:sp>
      <p:sp>
        <p:nvSpPr>
          <p:cNvPr id="206" name="Google Shape;206;p8"/>
          <p:cNvSpPr/>
          <p:nvPr/>
        </p:nvSpPr>
        <p:spPr>
          <a:xfrm>
            <a:off x="1505783" y="6062543"/>
            <a:ext cx="2788801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50"/>
              <a:buFont typeface="Platypi Medium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Decision Trees</a:t>
            </a:r>
            <a:endParaRPr b="0" i="0" sz="215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1505783" y="6544866"/>
            <a:ext cx="5697974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Creates a flowchart-like structure that splits data based on feature values, making decisions through a series of questions.</a:t>
            </a:r>
            <a:endParaRPr b="0" i="0" sz="175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7426762" y="6062543"/>
            <a:ext cx="501968" cy="50196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510462" y="6104394"/>
            <a:ext cx="334566" cy="41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</a:t>
            </a:r>
            <a:endParaRPr b="0" i="0" sz="2600" u="none" cap="none" strike="noStrike"/>
          </a:p>
        </p:txBody>
      </p:sp>
      <p:sp>
        <p:nvSpPr>
          <p:cNvPr id="210" name="Google Shape;210;p8"/>
          <p:cNvSpPr/>
          <p:nvPr/>
        </p:nvSpPr>
        <p:spPr>
          <a:xfrm>
            <a:off x="8151733" y="6062543"/>
            <a:ext cx="2788801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50"/>
              <a:buFont typeface="Platypi Medium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Random Forest</a:t>
            </a:r>
            <a:endParaRPr b="0" i="0" sz="2150" u="none" cap="none" strike="noStrike"/>
          </a:p>
        </p:txBody>
      </p:sp>
      <p:sp>
        <p:nvSpPr>
          <p:cNvPr id="211" name="Google Shape;211;p8"/>
          <p:cNvSpPr/>
          <p:nvPr/>
        </p:nvSpPr>
        <p:spPr>
          <a:xfrm>
            <a:off x="8151733" y="6544866"/>
            <a:ext cx="5697974" cy="107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Combines multiple decision trees to reduce overfitting and improve accuracy, using ensemble learning techniques.</a:t>
            </a:r>
            <a:endParaRPr b="0" i="0" sz="1750" u="none" cap="none" strike="noStrike"/>
          </a:p>
        </p:txBody>
      </p:sp>
      <p:pic>
        <p:nvPicPr>
          <p:cNvPr descr="preencoded.png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8108990" y="1478161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Unsupervised Learning</a:t>
            </a:r>
            <a:endParaRPr b="0" i="0" sz="445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8108990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8194060" y="353353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8846106" y="34910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 labeled data.</a:t>
            </a:r>
            <a:endParaRPr b="0" i="0" sz="220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8108990" y="473844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194060" y="478095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24" name="Google Shape;224;p9"/>
          <p:cNvSpPr/>
          <p:nvPr/>
        </p:nvSpPr>
        <p:spPr>
          <a:xfrm>
            <a:off x="8846106" y="4738449"/>
            <a:ext cx="499050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 identifies patterns and groups similar data points.</a:t>
            </a:r>
            <a:endParaRPr b="0" i="0" sz="220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8108990" y="598586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8194060" y="602837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8846106" y="5985867"/>
            <a:ext cx="39663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Primary method: Clustering.</a:t>
            </a:r>
            <a:endParaRPr b="0" i="0" sz="2200" u="none" cap="none" strike="noStrike"/>
          </a:p>
        </p:txBody>
      </p:sp>
      <p:pic>
        <p:nvPicPr>
          <p:cNvPr descr="preencoded.png"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9" title="unsupervised algo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800" y="1298962"/>
            <a:ext cx="7525524" cy="48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793790" y="1510308"/>
            <a:ext cx="1081170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 of Unsupervised Learning</a:t>
            </a:r>
            <a:endParaRPr b="0" i="0" sz="445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793778" y="608902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Clustering</a:t>
            </a:r>
            <a:endParaRPr b="0" i="0" sz="22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793778" y="6579443"/>
            <a:ext cx="4120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Grouping similar objects (customer segmentation).</a:t>
            </a:r>
            <a:endParaRPr b="0" i="0" sz="175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5254692" y="6089144"/>
            <a:ext cx="3624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Dimensionality Reduction</a:t>
            </a:r>
            <a:endParaRPr b="0" i="0" sz="220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5254692" y="6579562"/>
            <a:ext cx="4120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Removing unnecessary data while retaining key features.</a:t>
            </a:r>
            <a:endParaRPr b="0" i="0" sz="1750" u="none" cap="none" strike="noStrike"/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3241" r="0" t="0"/>
          <a:stretch/>
        </p:blipFill>
        <p:spPr>
          <a:xfrm>
            <a:off x="9849475" y="2672725"/>
            <a:ext cx="3987025" cy="25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9715726" y="608902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Anomaly Detection</a:t>
            </a:r>
            <a:endParaRPr b="0" i="0" sz="22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9715726" y="6579443"/>
            <a:ext cx="4120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Identifying unusual behavior (fraud detection).</a:t>
            </a:r>
            <a:endParaRPr b="0" i="0" sz="1750" u="none" cap="none" strike="noStrike"/>
          </a:p>
        </p:txBody>
      </p:sp>
      <p:pic>
        <p:nvPicPr>
          <p:cNvPr descr="preencoded.png" id="243" name="Google Shape;2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0" title="clustering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800" y="2504149"/>
            <a:ext cx="3883876" cy="3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0" title="pca visualization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5062" y="2537358"/>
            <a:ext cx="3883875" cy="281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793790" y="1767364"/>
            <a:ext cx="1243036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Unsupervised Learning Algorithms</a:t>
            </a:r>
            <a:endParaRPr b="0" i="0" sz="4450" u="none" cap="none" strike="noStrike"/>
          </a:p>
        </p:txBody>
      </p:sp>
      <p:sp>
        <p:nvSpPr>
          <p:cNvPr id="252" name="Google Shape;252;p11"/>
          <p:cNvSpPr/>
          <p:nvPr/>
        </p:nvSpPr>
        <p:spPr>
          <a:xfrm>
            <a:off x="793790" y="31849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78860" y="322742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54" name="Google Shape;254;p11"/>
          <p:cNvSpPr/>
          <p:nvPr/>
        </p:nvSpPr>
        <p:spPr>
          <a:xfrm>
            <a:off x="1530906" y="31849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k-Means Clustering</a:t>
            </a:r>
            <a:endParaRPr b="0" i="0" sz="2200" u="none" cap="none" strike="noStrike"/>
          </a:p>
        </p:txBody>
      </p:sp>
      <p:sp>
        <p:nvSpPr>
          <p:cNvPr id="255" name="Google Shape;255;p11"/>
          <p:cNvSpPr/>
          <p:nvPr/>
        </p:nvSpPr>
        <p:spPr>
          <a:xfrm>
            <a:off x="1530906" y="3675340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Partitions data into k clusters by minimizing distances between points and cluster centers.</a:t>
            </a:r>
            <a:endParaRPr b="0" i="0" sz="1750" u="none" cap="none" strike="noStrike"/>
          </a:p>
        </p:txBody>
      </p:sp>
      <p:sp>
        <p:nvSpPr>
          <p:cNvPr id="256" name="Google Shape;256;p11"/>
          <p:cNvSpPr/>
          <p:nvPr/>
        </p:nvSpPr>
        <p:spPr>
          <a:xfrm>
            <a:off x="5216962" y="31849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302032" y="322742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58" name="Google Shape;258;p11"/>
          <p:cNvSpPr/>
          <p:nvPr/>
        </p:nvSpPr>
        <p:spPr>
          <a:xfrm>
            <a:off x="5954078" y="31849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DBSCAN</a:t>
            </a:r>
            <a:endParaRPr b="0" i="0" sz="2200" u="none" cap="none" strike="noStrike"/>
          </a:p>
        </p:txBody>
      </p:sp>
      <p:sp>
        <p:nvSpPr>
          <p:cNvPr id="259" name="Google Shape;259;p11"/>
          <p:cNvSpPr/>
          <p:nvPr/>
        </p:nvSpPr>
        <p:spPr>
          <a:xfrm>
            <a:off x="5954078" y="3675340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Groups points based on density, identifying clusters of arbitrary shapes and detecting outliers.</a:t>
            </a:r>
            <a:endParaRPr b="0" i="0" sz="175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9640133" y="318492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725204" y="322742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62" name="Google Shape;262;p11"/>
          <p:cNvSpPr/>
          <p:nvPr/>
        </p:nvSpPr>
        <p:spPr>
          <a:xfrm>
            <a:off x="10377249" y="3184922"/>
            <a:ext cx="31942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Hierarchical Clustering</a:t>
            </a:r>
            <a:endParaRPr b="0" i="0" sz="2200" u="none" cap="none" strike="noStrike"/>
          </a:p>
        </p:txBody>
      </p:sp>
      <p:sp>
        <p:nvSpPr>
          <p:cNvPr id="263" name="Google Shape;263;p11"/>
          <p:cNvSpPr/>
          <p:nvPr/>
        </p:nvSpPr>
        <p:spPr>
          <a:xfrm>
            <a:off x="10377249" y="3675340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Creates a tree of clusters by progressively merging or splitting groups of data points.</a:t>
            </a:r>
            <a:endParaRPr b="0" i="0" sz="1750" u="none" cap="none" strike="noStrike"/>
          </a:p>
        </p:txBody>
      </p:sp>
      <p:sp>
        <p:nvSpPr>
          <p:cNvPr id="264" name="Google Shape;264;p11"/>
          <p:cNvSpPr/>
          <p:nvPr/>
        </p:nvSpPr>
        <p:spPr>
          <a:xfrm>
            <a:off x="793790" y="52460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878860" y="528851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266" name="Google Shape;266;p11"/>
          <p:cNvSpPr/>
          <p:nvPr/>
        </p:nvSpPr>
        <p:spPr>
          <a:xfrm>
            <a:off x="1530906" y="5246013"/>
            <a:ext cx="50122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Principal Component Analysis (PCA)</a:t>
            </a:r>
            <a:endParaRPr b="0" i="0" sz="2200" u="none" cap="none" strike="noStrike"/>
          </a:p>
        </p:txBody>
      </p:sp>
      <p:sp>
        <p:nvSpPr>
          <p:cNvPr id="267" name="Google Shape;267;p11"/>
          <p:cNvSpPr/>
          <p:nvPr/>
        </p:nvSpPr>
        <p:spPr>
          <a:xfrm>
            <a:off x="1530906" y="5736431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Reduces dimensionality by transforming data to a new coordinate system of uncorrelated variables.</a:t>
            </a:r>
            <a:endParaRPr b="0" i="0" sz="1750" u="none" cap="none" strike="noStrike"/>
          </a:p>
        </p:txBody>
      </p:sp>
      <p:sp>
        <p:nvSpPr>
          <p:cNvPr id="268" name="Google Shape;268;p11"/>
          <p:cNvSpPr/>
          <p:nvPr/>
        </p:nvSpPr>
        <p:spPr>
          <a:xfrm>
            <a:off x="7428667" y="52460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7513737" y="528851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270" name="Google Shape;270;p11"/>
          <p:cNvSpPr/>
          <p:nvPr/>
        </p:nvSpPr>
        <p:spPr>
          <a:xfrm>
            <a:off x="8165783" y="52460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One-Class SVM</a:t>
            </a:r>
            <a:endParaRPr b="0" i="0" sz="2200" u="none" cap="none" strike="noStrike"/>
          </a:p>
        </p:txBody>
      </p:sp>
      <p:sp>
        <p:nvSpPr>
          <p:cNvPr id="271" name="Google Shape;271;p11"/>
          <p:cNvSpPr/>
          <p:nvPr/>
        </p:nvSpPr>
        <p:spPr>
          <a:xfrm>
            <a:off x="8165783" y="5736431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Identifies anomalies by learning a boundary that encompasses normal data points.</a:t>
            </a:r>
            <a:endParaRPr b="0" i="0" sz="1750" u="none" cap="none" strike="noStrike"/>
          </a:p>
        </p:txBody>
      </p:sp>
      <p:pic>
        <p:nvPicPr>
          <p:cNvPr descr="preencoded.png" id="272" name="Google Shape;2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6280190" y="1549003"/>
            <a:ext cx="671988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Reinforcement Learning</a:t>
            </a:r>
            <a:endParaRPr b="0" i="0" sz="4450" u="none" cap="none" strike="noStrike"/>
          </a:p>
        </p:txBody>
      </p:sp>
      <p:pic>
        <p:nvPicPr>
          <p:cNvPr descr="preencoded.png" id="280" name="Google Shape;2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7754422" y="2824758"/>
            <a:ext cx="608218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model (agent) interacts with an environment.</a:t>
            </a:r>
            <a:endParaRPr b="0" i="0" sz="2200" u="none" cap="none" strike="noStrike"/>
          </a:p>
        </p:txBody>
      </p:sp>
      <p:pic>
        <p:nvPicPr>
          <p:cNvPr descr="preencoded.png" id="282" name="Google Shape;28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2"/>
          <p:cNvSpPr/>
          <p:nvPr/>
        </p:nvSpPr>
        <p:spPr>
          <a:xfrm>
            <a:off x="7754422" y="4185642"/>
            <a:ext cx="608218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Receives feedback (rewards or penalties) based on its actions.</a:t>
            </a:r>
            <a:endParaRPr b="0" i="0" sz="2200" u="none" cap="none" strike="noStrike"/>
          </a:p>
        </p:txBody>
      </p:sp>
      <p:pic>
        <p:nvPicPr>
          <p:cNvPr descr="preencoded.png" id="284" name="Google Shape;28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/>
          <p:nvPr/>
        </p:nvSpPr>
        <p:spPr>
          <a:xfrm>
            <a:off x="7754422" y="5546527"/>
            <a:ext cx="608218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goal is to maximize cumulative rewards.</a:t>
            </a:r>
            <a:endParaRPr b="0" i="0" sz="2200" u="none" cap="none" strike="noStrike"/>
          </a:p>
        </p:txBody>
      </p:sp>
      <p:pic>
        <p:nvPicPr>
          <p:cNvPr descr="preencoded.png" id="286" name="Google Shape;28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788670" y="621268"/>
            <a:ext cx="8940403" cy="633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50"/>
              <a:buFont typeface="Platypi Medium"/>
              <a:buNone/>
            </a:pPr>
            <a:r>
              <a:rPr b="0" i="0" lang="en-US" sz="3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of Reinforcement Learning</a:t>
            </a:r>
            <a:endParaRPr b="0" i="0" sz="3950" u="none" cap="none" strike="noStrike"/>
          </a:p>
        </p:txBody>
      </p:sp>
      <p:sp>
        <p:nvSpPr>
          <p:cNvPr id="293" name="Google Shape;293;p13"/>
          <p:cNvSpPr/>
          <p:nvPr/>
        </p:nvSpPr>
        <p:spPr>
          <a:xfrm>
            <a:off x="788670" y="1559243"/>
            <a:ext cx="2672477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Learning Process</a:t>
            </a:r>
            <a:endParaRPr b="0" i="0" sz="1950" u="none" cap="none" strike="noStrike"/>
          </a:p>
        </p:txBody>
      </p:sp>
      <p:sp>
        <p:nvSpPr>
          <p:cNvPr id="294" name="Google Shape;294;p13"/>
          <p:cNvSpPr/>
          <p:nvPr/>
        </p:nvSpPr>
        <p:spPr>
          <a:xfrm>
            <a:off x="788670" y="2362795"/>
            <a:ext cx="6279118" cy="32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Agent (Dog):</a:t>
            </a: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Learns by interacting with the environment.</a:t>
            </a:r>
            <a:endParaRPr b="0" i="0" sz="1550" u="none" cap="none" strike="noStrike"/>
          </a:p>
        </p:txBody>
      </p:sp>
      <p:sp>
        <p:nvSpPr>
          <p:cNvPr id="295" name="Google Shape;295;p13"/>
          <p:cNvSpPr/>
          <p:nvPr/>
        </p:nvSpPr>
        <p:spPr>
          <a:xfrm>
            <a:off x="7570232" y="2362795"/>
            <a:ext cx="6279118" cy="32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Environment (Boy):</a:t>
            </a: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Provides feedback to the agent.</a:t>
            </a:r>
            <a:endParaRPr b="0" i="0" sz="1550" u="none" cap="none" strike="noStrike"/>
          </a:p>
        </p:txBody>
      </p:sp>
      <p:pic>
        <p:nvPicPr>
          <p:cNvPr descr="preencoded.png" id="296" name="Google Shape;2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3" title="169871903627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3978" y="3009550"/>
            <a:ext cx="9622450" cy="50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/>
          <p:nvPr/>
        </p:nvSpPr>
        <p:spPr>
          <a:xfrm>
            <a:off x="793790" y="1998345"/>
            <a:ext cx="746259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Reinforcement Mechanism</a:t>
            </a:r>
            <a:endParaRPr b="0" i="0" sz="4450" u="none" cap="none" strike="noStrike"/>
          </a:p>
        </p:txBody>
      </p:sp>
      <p:sp>
        <p:nvSpPr>
          <p:cNvPr id="304" name="Google Shape;304;p14"/>
          <p:cNvSpPr/>
          <p:nvPr/>
        </p:nvSpPr>
        <p:spPr>
          <a:xfrm>
            <a:off x="793790" y="316075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reinforcement learning process works through a continuous cycle of interaction:</a:t>
            </a:r>
            <a:endParaRPr b="0" i="0" sz="1750" u="none" cap="none" strike="noStrike"/>
          </a:p>
        </p:txBody>
      </p:sp>
      <p:sp>
        <p:nvSpPr>
          <p:cNvPr id="305" name="Google Shape;305;p14"/>
          <p:cNvSpPr/>
          <p:nvPr/>
        </p:nvSpPr>
        <p:spPr>
          <a:xfrm>
            <a:off x="793790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878860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07" name="Google Shape;307;p14"/>
          <p:cNvSpPr/>
          <p:nvPr/>
        </p:nvSpPr>
        <p:spPr>
          <a:xfrm>
            <a:off x="1530906" y="40339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Actions</a:t>
            </a:r>
            <a:endParaRPr b="0" i="0" sz="2200" u="none" cap="none" strike="noStrike"/>
          </a:p>
        </p:txBody>
      </p:sp>
      <p:sp>
        <p:nvSpPr>
          <p:cNvPr id="308" name="Google Shape;308;p14"/>
          <p:cNvSpPr/>
          <p:nvPr/>
        </p:nvSpPr>
        <p:spPr>
          <a:xfrm>
            <a:off x="1530906" y="452437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agent (dog) performs actions (e.g., jumping, catching the ball)</a:t>
            </a:r>
            <a:endParaRPr b="0" i="0" sz="1750" u="none" cap="none" strike="noStrike"/>
          </a:p>
        </p:txBody>
      </p:sp>
      <p:sp>
        <p:nvSpPr>
          <p:cNvPr id="309" name="Google Shape;309;p14"/>
          <p:cNvSpPr/>
          <p:nvPr/>
        </p:nvSpPr>
        <p:spPr>
          <a:xfrm>
            <a:off x="5216962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5302032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11" name="Google Shape;311;p14"/>
          <p:cNvSpPr/>
          <p:nvPr/>
        </p:nvSpPr>
        <p:spPr>
          <a:xfrm>
            <a:off x="5954078" y="40339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Observations</a:t>
            </a:r>
            <a:endParaRPr b="0" i="0" sz="22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5954078" y="452437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agent perceives the environment (ball being thrown)</a:t>
            </a:r>
            <a:endParaRPr b="0" i="0" sz="1750" u="none" cap="none" strike="noStrike"/>
          </a:p>
        </p:txBody>
      </p:sp>
      <p:sp>
        <p:nvSpPr>
          <p:cNvPr id="313" name="Google Shape;313;p14"/>
          <p:cNvSpPr/>
          <p:nvPr/>
        </p:nvSpPr>
        <p:spPr>
          <a:xfrm>
            <a:off x="9640133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9725204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15" name="Google Shape;315;p14"/>
          <p:cNvSpPr/>
          <p:nvPr/>
        </p:nvSpPr>
        <p:spPr>
          <a:xfrm>
            <a:off x="10377249" y="40339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Rewards</a:t>
            </a:r>
            <a:endParaRPr b="0" i="0" sz="2200" u="none" cap="none" strike="noStrike"/>
          </a:p>
        </p:txBody>
      </p:sp>
      <p:sp>
        <p:nvSpPr>
          <p:cNvPr id="316" name="Google Shape;316;p14"/>
          <p:cNvSpPr/>
          <p:nvPr/>
        </p:nvSpPr>
        <p:spPr>
          <a:xfrm>
            <a:off x="10377249" y="4524375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agent receives feedback (praise, treats for catching) or no reward for incorrect actions</a:t>
            </a:r>
            <a:endParaRPr b="0" i="0" sz="1750" u="none" cap="none" strike="noStrike"/>
          </a:p>
        </p:txBody>
      </p:sp>
      <p:sp>
        <p:nvSpPr>
          <p:cNvPr id="317" name="Google Shape;317;p14"/>
          <p:cNvSpPr/>
          <p:nvPr/>
        </p:nvSpPr>
        <p:spPr>
          <a:xfrm>
            <a:off x="793790" y="58682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Learning Goal: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The agent improves decision-making by maximizing rewards over time.</a:t>
            </a:r>
            <a:endParaRPr b="0" i="0" sz="1750" u="none" cap="none" strike="noStrike"/>
          </a:p>
        </p:txBody>
      </p:sp>
      <p:pic>
        <p:nvPicPr>
          <p:cNvPr descr="preencoded.png" id="318" name="Google Shape;3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"/>
          <p:cNvSpPr/>
          <p:nvPr/>
        </p:nvSpPr>
        <p:spPr>
          <a:xfrm>
            <a:off x="793790" y="918210"/>
            <a:ext cx="1272528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Reinforcement Learning Algorithms</a:t>
            </a:r>
            <a:endParaRPr b="0" i="0" sz="4450" u="none" cap="none" strike="noStrike"/>
          </a:p>
        </p:txBody>
      </p:sp>
      <p:sp>
        <p:nvSpPr>
          <p:cNvPr id="325" name="Google Shape;325;p15"/>
          <p:cNvSpPr/>
          <p:nvPr/>
        </p:nvSpPr>
        <p:spPr>
          <a:xfrm>
            <a:off x="793790" y="233576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878860" y="237827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27" name="Google Shape;327;p15"/>
          <p:cNvSpPr/>
          <p:nvPr/>
        </p:nvSpPr>
        <p:spPr>
          <a:xfrm>
            <a:off x="1530906" y="23357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Q-Learning</a:t>
            </a:r>
            <a:endParaRPr b="0" i="0" sz="2200" u="none" cap="none" strike="noStrike"/>
          </a:p>
        </p:txBody>
      </p:sp>
      <p:sp>
        <p:nvSpPr>
          <p:cNvPr id="328" name="Google Shape;328;p15"/>
          <p:cNvSpPr/>
          <p:nvPr/>
        </p:nvSpPr>
        <p:spPr>
          <a:xfrm>
            <a:off x="1530906" y="2826187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Value-based algorithm that learns optimal action-value function without requiring a model of the environment</a:t>
            </a:r>
            <a:endParaRPr b="0" i="0" sz="1750" u="none" cap="none" strike="noStrike"/>
          </a:p>
        </p:txBody>
      </p:sp>
      <p:sp>
        <p:nvSpPr>
          <p:cNvPr id="329" name="Google Shape;329;p15"/>
          <p:cNvSpPr/>
          <p:nvPr/>
        </p:nvSpPr>
        <p:spPr>
          <a:xfrm>
            <a:off x="7428667" y="233576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7513737" y="237827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31" name="Google Shape;331;p15"/>
          <p:cNvSpPr/>
          <p:nvPr/>
        </p:nvSpPr>
        <p:spPr>
          <a:xfrm>
            <a:off x="8165783" y="23357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SARSA</a:t>
            </a:r>
            <a:endParaRPr b="0" i="0" sz="2200" u="none" cap="none" strike="noStrike"/>
          </a:p>
        </p:txBody>
      </p:sp>
      <p:sp>
        <p:nvSpPr>
          <p:cNvPr id="332" name="Google Shape;332;p15"/>
          <p:cNvSpPr/>
          <p:nvPr/>
        </p:nvSpPr>
        <p:spPr>
          <a:xfrm>
            <a:off x="8165783" y="2826187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On-policy learning algorithm that considers the current policy's action when updating Q-values</a:t>
            </a:r>
            <a:endParaRPr b="0" i="0" sz="1750" u="none" cap="none" strike="noStrike"/>
          </a:p>
        </p:txBody>
      </p:sp>
      <p:sp>
        <p:nvSpPr>
          <p:cNvPr id="333" name="Google Shape;333;p15"/>
          <p:cNvSpPr/>
          <p:nvPr/>
        </p:nvSpPr>
        <p:spPr>
          <a:xfrm>
            <a:off x="793790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878860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35" name="Google Shape;335;p15"/>
          <p:cNvSpPr/>
          <p:nvPr/>
        </p:nvSpPr>
        <p:spPr>
          <a:xfrm>
            <a:off x="1530906" y="40339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Deep Q-Networks</a:t>
            </a:r>
            <a:endParaRPr b="0" i="0" sz="2200" u="none" cap="none" strike="noStrike"/>
          </a:p>
        </p:txBody>
      </p:sp>
      <p:sp>
        <p:nvSpPr>
          <p:cNvPr id="336" name="Google Shape;336;p15"/>
          <p:cNvSpPr/>
          <p:nvPr/>
        </p:nvSpPr>
        <p:spPr>
          <a:xfrm>
            <a:off x="1530906" y="4524375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Combines Q-learning with deep neural networks to handle high-dimensional state spaces</a:t>
            </a:r>
            <a:endParaRPr b="0" i="0" sz="1750" u="none" cap="none" strike="noStrike"/>
          </a:p>
        </p:txBody>
      </p:sp>
      <p:sp>
        <p:nvSpPr>
          <p:cNvPr id="337" name="Google Shape;337;p15"/>
          <p:cNvSpPr/>
          <p:nvPr/>
        </p:nvSpPr>
        <p:spPr>
          <a:xfrm>
            <a:off x="7428667" y="403395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7513737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339" name="Google Shape;339;p15"/>
          <p:cNvSpPr/>
          <p:nvPr/>
        </p:nvSpPr>
        <p:spPr>
          <a:xfrm>
            <a:off x="8165783" y="4033957"/>
            <a:ext cx="342483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Policy Gradient Methods</a:t>
            </a:r>
            <a:endParaRPr b="0" i="0" sz="2200" u="none" cap="none" strike="noStrike"/>
          </a:p>
        </p:txBody>
      </p:sp>
      <p:sp>
        <p:nvSpPr>
          <p:cNvPr id="340" name="Google Shape;340;p15"/>
          <p:cNvSpPr/>
          <p:nvPr/>
        </p:nvSpPr>
        <p:spPr>
          <a:xfrm>
            <a:off x="8165783" y="4524375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Directly optimize policy by following the gradient of expected rewards</a:t>
            </a:r>
            <a:endParaRPr b="0" i="0" sz="1750" u="none" cap="none" strike="noStrike"/>
          </a:p>
        </p:txBody>
      </p:sp>
      <p:sp>
        <p:nvSpPr>
          <p:cNvPr id="341" name="Google Shape;341;p15"/>
          <p:cNvSpPr/>
          <p:nvPr/>
        </p:nvSpPr>
        <p:spPr>
          <a:xfrm>
            <a:off x="793790" y="573214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878860" y="577465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343" name="Google Shape;343;p15"/>
          <p:cNvSpPr/>
          <p:nvPr/>
        </p:nvSpPr>
        <p:spPr>
          <a:xfrm>
            <a:off x="1530906" y="5732145"/>
            <a:ext cx="29369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Actor-Critic Methods</a:t>
            </a:r>
            <a:endParaRPr b="0" i="0" sz="2200" u="none" cap="none" strike="noStrike"/>
          </a:p>
        </p:txBody>
      </p:sp>
      <p:sp>
        <p:nvSpPr>
          <p:cNvPr id="344" name="Google Shape;344;p15"/>
          <p:cNvSpPr/>
          <p:nvPr/>
        </p:nvSpPr>
        <p:spPr>
          <a:xfrm>
            <a:off x="1530906" y="622256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Hybrid approach using two networks: one for policy selection (actor) and one for value estimation (critic)</a:t>
            </a:r>
            <a:endParaRPr b="0" i="0" sz="1750" u="none" cap="none" strike="noStrike"/>
          </a:p>
        </p:txBody>
      </p:sp>
      <p:sp>
        <p:nvSpPr>
          <p:cNvPr id="345" name="Google Shape;345;p15"/>
          <p:cNvSpPr/>
          <p:nvPr/>
        </p:nvSpPr>
        <p:spPr>
          <a:xfrm>
            <a:off x="7428667" y="573214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7513737" y="577465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</a:t>
            </a:r>
            <a:endParaRPr b="0" i="0" sz="2650" u="none" cap="none" strike="noStrike"/>
          </a:p>
        </p:txBody>
      </p:sp>
      <p:sp>
        <p:nvSpPr>
          <p:cNvPr id="347" name="Google Shape;347;p15"/>
          <p:cNvSpPr/>
          <p:nvPr/>
        </p:nvSpPr>
        <p:spPr>
          <a:xfrm>
            <a:off x="8165783" y="5732145"/>
            <a:ext cx="347222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Markov Decision Process</a:t>
            </a:r>
            <a:endParaRPr b="0" i="0" sz="2200" u="none" cap="none" strike="noStrike"/>
          </a:p>
        </p:txBody>
      </p:sp>
      <p:sp>
        <p:nvSpPr>
          <p:cNvPr id="348" name="Google Shape;348;p15"/>
          <p:cNvSpPr/>
          <p:nvPr/>
        </p:nvSpPr>
        <p:spPr>
          <a:xfrm>
            <a:off x="8165783" y="6222563"/>
            <a:ext cx="56709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Mathematical framework for modeling decision-making in situations where outcomes are partly random and partly under control</a:t>
            </a:r>
            <a:endParaRPr b="0" i="0" sz="1750" u="none" cap="none" strike="noStrike"/>
          </a:p>
        </p:txBody>
      </p:sp>
      <p:pic>
        <p:nvPicPr>
          <p:cNvPr descr="preencoded.png" id="349" name="Google Shape;3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"/>
          <p:cNvSpPr/>
          <p:nvPr/>
        </p:nvSpPr>
        <p:spPr>
          <a:xfrm>
            <a:off x="793790" y="2311718"/>
            <a:ext cx="795587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 Workflow</a:t>
            </a:r>
            <a:endParaRPr b="0" i="0" sz="4450" u="none" cap="none" strike="noStrike"/>
          </a:p>
        </p:txBody>
      </p:sp>
      <p:sp>
        <p:nvSpPr>
          <p:cNvPr id="356" name="Google Shape;356;p16"/>
          <p:cNvSpPr/>
          <p:nvPr/>
        </p:nvSpPr>
        <p:spPr>
          <a:xfrm>
            <a:off x="793790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1530906" y="37292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1. Data Collection</a:t>
            </a:r>
            <a:endParaRPr b="0" i="0" sz="2200" u="none" cap="none" strike="noStrike"/>
          </a:p>
        </p:txBody>
      </p:sp>
      <p:sp>
        <p:nvSpPr>
          <p:cNvPr id="358" name="Google Shape;358;p16"/>
          <p:cNvSpPr/>
          <p:nvPr/>
        </p:nvSpPr>
        <p:spPr>
          <a:xfrm>
            <a:off x="1530906" y="4219694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Gather relevant data.</a:t>
            </a:r>
            <a:endParaRPr b="0" i="0" sz="1750" u="none" cap="none" strike="noStrike"/>
          </a:p>
        </p:txBody>
      </p:sp>
      <p:sp>
        <p:nvSpPr>
          <p:cNvPr id="359" name="Google Shape;359;p16"/>
          <p:cNvSpPr/>
          <p:nvPr/>
        </p:nvSpPr>
        <p:spPr>
          <a:xfrm>
            <a:off x="5216962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5954078" y="3729276"/>
            <a:ext cx="302645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2. Data Preprocessing</a:t>
            </a:r>
            <a:endParaRPr b="0" i="0" sz="2200" u="none" cap="none" strike="noStrike"/>
          </a:p>
        </p:txBody>
      </p:sp>
      <p:sp>
        <p:nvSpPr>
          <p:cNvPr id="361" name="Google Shape;361;p16"/>
          <p:cNvSpPr/>
          <p:nvPr/>
        </p:nvSpPr>
        <p:spPr>
          <a:xfrm>
            <a:off x="5954078" y="4219694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Clean and format data.</a:t>
            </a:r>
            <a:endParaRPr b="0" i="0" sz="1750" u="none" cap="none" strike="noStrike"/>
          </a:p>
        </p:txBody>
      </p:sp>
      <p:sp>
        <p:nvSpPr>
          <p:cNvPr id="362" name="Google Shape;362;p16"/>
          <p:cNvSpPr/>
          <p:nvPr/>
        </p:nvSpPr>
        <p:spPr>
          <a:xfrm>
            <a:off x="9640133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10377249" y="37292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3. Model Selection</a:t>
            </a:r>
            <a:endParaRPr b="0" i="0" sz="2200" u="none" cap="none" strike="noStrike"/>
          </a:p>
        </p:txBody>
      </p:sp>
      <p:sp>
        <p:nvSpPr>
          <p:cNvPr id="364" name="Google Shape;364;p16"/>
          <p:cNvSpPr/>
          <p:nvPr/>
        </p:nvSpPr>
        <p:spPr>
          <a:xfrm>
            <a:off x="10377249" y="4219694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Choose the best ML algorithm.</a:t>
            </a:r>
            <a:endParaRPr b="0" i="0" sz="1750" u="none" cap="none" strike="noStrike"/>
          </a:p>
        </p:txBody>
      </p:sp>
      <p:sp>
        <p:nvSpPr>
          <p:cNvPr id="365" name="Google Shape;365;p16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1530906" y="5064562"/>
            <a:ext cx="297763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4. Training the Model</a:t>
            </a:r>
            <a:endParaRPr b="0" i="0" sz="2200" u="none" cap="none" strike="noStrike"/>
          </a:p>
        </p:txBody>
      </p:sp>
      <p:sp>
        <p:nvSpPr>
          <p:cNvPr id="367" name="Google Shape;367;p16"/>
          <p:cNvSpPr/>
          <p:nvPr/>
        </p:nvSpPr>
        <p:spPr>
          <a:xfrm>
            <a:off x="1530906" y="5554980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Teach the model using data.</a:t>
            </a:r>
            <a:endParaRPr b="0" i="0" sz="1750" u="none" cap="none" strike="noStrike"/>
          </a:p>
        </p:txBody>
      </p:sp>
      <p:sp>
        <p:nvSpPr>
          <p:cNvPr id="368" name="Google Shape;368;p16"/>
          <p:cNvSpPr/>
          <p:nvPr/>
        </p:nvSpPr>
        <p:spPr>
          <a:xfrm>
            <a:off x="5216962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5954078" y="5064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5. Evaluation</a:t>
            </a:r>
            <a:endParaRPr b="0" i="0" sz="2200" u="none" cap="none" strike="noStrike"/>
          </a:p>
        </p:txBody>
      </p:sp>
      <p:sp>
        <p:nvSpPr>
          <p:cNvPr id="370" name="Google Shape;370;p16"/>
          <p:cNvSpPr/>
          <p:nvPr/>
        </p:nvSpPr>
        <p:spPr>
          <a:xfrm>
            <a:off x="5954078" y="5554980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Assess model performance.</a:t>
            </a:r>
            <a:endParaRPr b="0" i="0" sz="1750" u="none" cap="none" strike="noStrike"/>
          </a:p>
        </p:txBody>
      </p:sp>
      <p:sp>
        <p:nvSpPr>
          <p:cNvPr id="371" name="Google Shape;371;p16"/>
          <p:cNvSpPr/>
          <p:nvPr/>
        </p:nvSpPr>
        <p:spPr>
          <a:xfrm>
            <a:off x="9640133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10377249" y="5064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6. Deployment</a:t>
            </a:r>
            <a:endParaRPr b="0" i="0" sz="2200" u="none" cap="none" strike="noStrike"/>
          </a:p>
        </p:txBody>
      </p:sp>
      <p:sp>
        <p:nvSpPr>
          <p:cNvPr id="373" name="Google Shape;373;p16"/>
          <p:cNvSpPr/>
          <p:nvPr/>
        </p:nvSpPr>
        <p:spPr>
          <a:xfrm>
            <a:off x="10377249" y="5554980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Integrate into an application.</a:t>
            </a:r>
            <a:endParaRPr b="0" i="0" sz="1750" u="none" cap="none" strike="noStrike"/>
          </a:p>
        </p:txBody>
      </p:sp>
      <p:pic>
        <p:nvPicPr>
          <p:cNvPr descr="preencoded.png" id="374" name="Google Shape;3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/>
          <p:nvPr/>
        </p:nvSpPr>
        <p:spPr>
          <a:xfrm>
            <a:off x="793790" y="2874526"/>
            <a:ext cx="708838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Preprocessing Steps</a:t>
            </a:r>
            <a:endParaRPr b="0" i="0" sz="4450" u="none" cap="none" strike="noStrike"/>
          </a:p>
        </p:txBody>
      </p:sp>
      <p:sp>
        <p:nvSpPr>
          <p:cNvPr id="381" name="Google Shape;381;p17"/>
          <p:cNvSpPr/>
          <p:nvPr/>
        </p:nvSpPr>
        <p:spPr>
          <a:xfrm>
            <a:off x="793790" y="42920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878860" y="433458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83" name="Google Shape;383;p17"/>
          <p:cNvSpPr/>
          <p:nvPr/>
        </p:nvSpPr>
        <p:spPr>
          <a:xfrm>
            <a:off x="1530906" y="4292084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Removing missing values</a:t>
            </a:r>
            <a:endParaRPr b="0" i="0" sz="2200" u="none" cap="none" strike="noStrike"/>
          </a:p>
        </p:txBody>
      </p:sp>
      <p:sp>
        <p:nvSpPr>
          <p:cNvPr id="384" name="Google Shape;384;p17"/>
          <p:cNvSpPr/>
          <p:nvPr/>
        </p:nvSpPr>
        <p:spPr>
          <a:xfrm>
            <a:off x="5216962" y="42920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5302032" y="433458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86" name="Google Shape;386;p17"/>
          <p:cNvSpPr/>
          <p:nvPr/>
        </p:nvSpPr>
        <p:spPr>
          <a:xfrm>
            <a:off x="5954078" y="4292084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Scaling different attributes</a:t>
            </a:r>
            <a:endParaRPr b="0" i="0" sz="2200" u="none" cap="none" strike="noStrike"/>
          </a:p>
        </p:txBody>
      </p:sp>
      <p:sp>
        <p:nvSpPr>
          <p:cNvPr id="387" name="Google Shape;387;p17"/>
          <p:cNvSpPr/>
          <p:nvPr/>
        </p:nvSpPr>
        <p:spPr>
          <a:xfrm>
            <a:off x="9640133" y="42920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9725204" y="433458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89" name="Google Shape;389;p17"/>
          <p:cNvSpPr/>
          <p:nvPr/>
        </p:nvSpPr>
        <p:spPr>
          <a:xfrm>
            <a:off x="10377249" y="4292084"/>
            <a:ext cx="3459242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Converting categorical data into numerical form</a:t>
            </a:r>
            <a:endParaRPr b="0" i="0" sz="2200" u="none" cap="none" strike="noStrike"/>
          </a:p>
        </p:txBody>
      </p:sp>
      <p:pic>
        <p:nvPicPr>
          <p:cNvPr descr="preencoded.png" id="390" name="Google Shape;3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"/>
          <p:cNvSpPr/>
          <p:nvPr/>
        </p:nvSpPr>
        <p:spPr>
          <a:xfrm>
            <a:off x="793790" y="1510308"/>
            <a:ext cx="88759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Challenges in Machine Learning</a:t>
            </a:r>
            <a:endParaRPr b="0" i="0" sz="4450" u="none" cap="none" strike="noStrike"/>
          </a:p>
        </p:txBody>
      </p:sp>
      <p:sp>
        <p:nvSpPr>
          <p:cNvPr id="397" name="Google Shape;397;p18"/>
          <p:cNvSpPr/>
          <p:nvPr/>
        </p:nvSpPr>
        <p:spPr>
          <a:xfrm>
            <a:off x="793790" y="55029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Imbalance</a:t>
            </a:r>
            <a:endParaRPr b="0" i="0" sz="2200" u="none" cap="none" strike="noStrike"/>
          </a:p>
        </p:txBody>
      </p:sp>
      <p:sp>
        <p:nvSpPr>
          <p:cNvPr id="398" name="Google Shape;398;p18"/>
          <p:cNvSpPr/>
          <p:nvPr/>
        </p:nvSpPr>
        <p:spPr>
          <a:xfrm>
            <a:off x="793790" y="599336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Some classes have much more data than others.</a:t>
            </a:r>
            <a:endParaRPr b="0" i="0" sz="1750" u="none" cap="none" strike="noStrike"/>
          </a:p>
        </p:txBody>
      </p:sp>
      <p:sp>
        <p:nvSpPr>
          <p:cNvPr id="399" name="Google Shape;399;p18"/>
          <p:cNvSpPr/>
          <p:nvPr/>
        </p:nvSpPr>
        <p:spPr>
          <a:xfrm>
            <a:off x="5254704" y="5503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Feature Selection</a:t>
            </a:r>
            <a:endParaRPr b="0" i="0" sz="2200" u="none" cap="none" strike="noStrike"/>
          </a:p>
        </p:txBody>
      </p:sp>
      <p:sp>
        <p:nvSpPr>
          <p:cNvPr id="400" name="Google Shape;400;p18"/>
          <p:cNvSpPr/>
          <p:nvPr/>
        </p:nvSpPr>
        <p:spPr>
          <a:xfrm>
            <a:off x="5254704" y="5993487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Identifying relevant features and removing redundant ones.</a:t>
            </a:r>
            <a:endParaRPr b="0" i="0" sz="1750" u="none" cap="none" strike="noStrike"/>
          </a:p>
        </p:txBody>
      </p:sp>
      <p:sp>
        <p:nvSpPr>
          <p:cNvPr id="401" name="Google Shape;401;p18"/>
          <p:cNvSpPr/>
          <p:nvPr/>
        </p:nvSpPr>
        <p:spPr>
          <a:xfrm>
            <a:off x="9715738" y="55029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Overfitting</a:t>
            </a:r>
            <a:endParaRPr b="0" i="0" sz="2200" u="none" cap="none" strike="noStrike"/>
          </a:p>
        </p:txBody>
      </p:sp>
      <p:sp>
        <p:nvSpPr>
          <p:cNvPr id="402" name="Google Shape;402;p18"/>
          <p:cNvSpPr/>
          <p:nvPr/>
        </p:nvSpPr>
        <p:spPr>
          <a:xfrm>
            <a:off x="9715738" y="599336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Model works well on training data but poorly on new data.</a:t>
            </a:r>
            <a:endParaRPr b="0" i="0" sz="1750" u="none" cap="none" strike="noStrike"/>
          </a:p>
        </p:txBody>
      </p:sp>
      <p:pic>
        <p:nvPicPr>
          <p:cNvPr descr="preencoded.png" id="403" name="Google Shape;4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8" title="fetures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705" y="2677113"/>
            <a:ext cx="3283154" cy="236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8" title="Overfitting-and-Underfitting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755" y="2710800"/>
            <a:ext cx="3649981" cy="2300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8" title="class imbalance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3299437"/>
            <a:ext cx="4949906" cy="185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"/>
          <p:cNvSpPr/>
          <p:nvPr/>
        </p:nvSpPr>
        <p:spPr>
          <a:xfrm>
            <a:off x="793790" y="19191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Recap of Key Topics</a:t>
            </a:r>
            <a:endParaRPr b="0" i="0" sz="4450" u="none" cap="none" strike="noStrike"/>
          </a:p>
        </p:txBody>
      </p:sp>
      <p:sp>
        <p:nvSpPr>
          <p:cNvPr id="413" name="Google Shape;413;p19"/>
          <p:cNvSpPr/>
          <p:nvPr/>
        </p:nvSpPr>
        <p:spPr>
          <a:xfrm>
            <a:off x="793790" y="2968109"/>
            <a:ext cx="13042821" cy="3342322"/>
          </a:xfrm>
          <a:prstGeom prst="roundRect">
            <a:avLst>
              <a:gd fmla="val 101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"/>
          <p:cNvSpPr/>
          <p:nvPr/>
        </p:nvSpPr>
        <p:spPr>
          <a:xfrm>
            <a:off x="801410" y="2975729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1029653" y="311943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Learning Type</a:t>
            </a:r>
            <a:endParaRPr b="0" i="0" sz="1750" u="none" cap="none" strike="noStrike"/>
          </a:p>
        </p:txBody>
      </p:sp>
      <p:sp>
        <p:nvSpPr>
          <p:cNvPr id="416" name="Google Shape;416;p19"/>
          <p:cNvSpPr/>
          <p:nvPr/>
        </p:nvSpPr>
        <p:spPr>
          <a:xfrm>
            <a:off x="5375077" y="311943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 Type</a:t>
            </a:r>
            <a:endParaRPr b="0" i="0" sz="1750" u="none" cap="none" strike="noStrike"/>
          </a:p>
        </p:txBody>
      </p:sp>
      <p:sp>
        <p:nvSpPr>
          <p:cNvPr id="417" name="Google Shape;417;p19"/>
          <p:cNvSpPr/>
          <p:nvPr/>
        </p:nvSpPr>
        <p:spPr>
          <a:xfrm>
            <a:off x="9716691" y="311943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Key Characteristic</a:t>
            </a:r>
            <a:endParaRPr b="0" i="0" sz="1750" u="none" cap="none" strike="noStrike"/>
          </a:p>
        </p:txBody>
      </p:sp>
      <p:sp>
        <p:nvSpPr>
          <p:cNvPr id="418" name="Google Shape;418;p19"/>
          <p:cNvSpPr/>
          <p:nvPr/>
        </p:nvSpPr>
        <p:spPr>
          <a:xfrm>
            <a:off x="801410" y="3626048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1029653" y="376975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Supervised Learning</a:t>
            </a:r>
            <a:endParaRPr b="0" i="0" sz="1750" u="none" cap="none" strike="noStrike"/>
          </a:p>
        </p:txBody>
      </p:sp>
      <p:sp>
        <p:nvSpPr>
          <p:cNvPr id="420" name="Google Shape;420;p19"/>
          <p:cNvSpPr/>
          <p:nvPr/>
        </p:nvSpPr>
        <p:spPr>
          <a:xfrm>
            <a:off x="5375077" y="3769757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Labeled data</a:t>
            </a:r>
            <a:endParaRPr b="0" i="0" sz="1750" u="none" cap="none" strike="noStrike"/>
          </a:p>
        </p:txBody>
      </p:sp>
      <p:sp>
        <p:nvSpPr>
          <p:cNvPr id="421" name="Google Shape;421;p19"/>
          <p:cNvSpPr/>
          <p:nvPr/>
        </p:nvSpPr>
        <p:spPr>
          <a:xfrm>
            <a:off x="9716691" y="376975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Uses labeled data</a:t>
            </a:r>
            <a:endParaRPr b="0" i="0" sz="1750" u="none" cap="none" strike="noStrike"/>
          </a:p>
        </p:txBody>
      </p:sp>
      <p:sp>
        <p:nvSpPr>
          <p:cNvPr id="422" name="Google Shape;422;p19"/>
          <p:cNvSpPr/>
          <p:nvPr/>
        </p:nvSpPr>
        <p:spPr>
          <a:xfrm>
            <a:off x="801410" y="4276368"/>
            <a:ext cx="1302627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1029653" y="442007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Unsupervised Learning</a:t>
            </a:r>
            <a:endParaRPr b="0" i="0" sz="1750" u="none" cap="none" strike="noStrike"/>
          </a:p>
        </p:txBody>
      </p:sp>
      <p:sp>
        <p:nvSpPr>
          <p:cNvPr id="424" name="Google Shape;424;p19"/>
          <p:cNvSpPr/>
          <p:nvPr/>
        </p:nvSpPr>
        <p:spPr>
          <a:xfrm>
            <a:off x="5375077" y="442007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Unlabeled data</a:t>
            </a:r>
            <a:endParaRPr b="0" i="0" sz="1750" u="none" cap="none" strike="noStrike"/>
          </a:p>
        </p:txBody>
      </p:sp>
      <p:sp>
        <p:nvSpPr>
          <p:cNvPr id="425" name="Google Shape;425;p19"/>
          <p:cNvSpPr/>
          <p:nvPr/>
        </p:nvSpPr>
        <p:spPr>
          <a:xfrm>
            <a:off x="9716691" y="4420076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Uses unlabeled data to identify patterns</a:t>
            </a:r>
            <a:endParaRPr b="0" i="0" sz="1750" u="none" cap="none" strike="noStrike"/>
          </a:p>
        </p:txBody>
      </p:sp>
      <p:sp>
        <p:nvSpPr>
          <p:cNvPr id="426" name="Google Shape;426;p19"/>
          <p:cNvSpPr/>
          <p:nvPr/>
        </p:nvSpPr>
        <p:spPr>
          <a:xfrm>
            <a:off x="801410" y="5289590"/>
            <a:ext cx="1302627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1029653" y="543329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Reinforcement Learning</a:t>
            </a:r>
            <a:endParaRPr b="0" i="0" sz="1750" u="none" cap="none" strike="noStrike"/>
          </a:p>
        </p:txBody>
      </p:sp>
      <p:sp>
        <p:nvSpPr>
          <p:cNvPr id="428" name="Google Shape;428;p19"/>
          <p:cNvSpPr/>
          <p:nvPr/>
        </p:nvSpPr>
        <p:spPr>
          <a:xfrm>
            <a:off x="5375077" y="543329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Feedback data</a:t>
            </a:r>
            <a:endParaRPr b="0" i="0" sz="1750" u="none" cap="none" strike="noStrike"/>
          </a:p>
        </p:txBody>
      </p:sp>
      <p:sp>
        <p:nvSpPr>
          <p:cNvPr id="429" name="Google Shape;429;p19"/>
          <p:cNvSpPr/>
          <p:nvPr/>
        </p:nvSpPr>
        <p:spPr>
          <a:xfrm>
            <a:off x="9716691" y="5433298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Optimizes rewards through interaction</a:t>
            </a:r>
            <a:endParaRPr b="0" i="0" sz="1750" u="none" cap="none" strike="noStrike"/>
          </a:p>
        </p:txBody>
      </p:sp>
      <p:pic>
        <p:nvPicPr>
          <p:cNvPr descr="preencoded.png" id="430" name="Google Shape;4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"/>
          <p:cNvSpPr/>
          <p:nvPr/>
        </p:nvSpPr>
        <p:spPr>
          <a:xfrm>
            <a:off x="793790" y="2452092"/>
            <a:ext cx="593288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Session Preview</a:t>
            </a:r>
            <a:endParaRPr b="0" i="0" sz="4450" u="none" cap="none" strike="noStrike"/>
          </a:p>
        </p:txBody>
      </p:sp>
      <p:sp>
        <p:nvSpPr>
          <p:cNvPr id="437" name="Google Shape;437;p20"/>
          <p:cNvSpPr/>
          <p:nvPr/>
        </p:nvSpPr>
        <p:spPr>
          <a:xfrm>
            <a:off x="793790" y="37561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0"/>
          <p:cNvSpPr/>
          <p:nvPr/>
        </p:nvSpPr>
        <p:spPr>
          <a:xfrm>
            <a:off x="878860" y="379868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439" name="Google Shape;439;p20"/>
          <p:cNvSpPr/>
          <p:nvPr/>
        </p:nvSpPr>
        <p:spPr>
          <a:xfrm>
            <a:off x="1530906" y="3756184"/>
            <a:ext cx="345924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 the next lecture, we will continue our exploration of machine learning.</a:t>
            </a:r>
            <a:endParaRPr b="0" i="0" sz="2200" u="none" cap="none" strike="noStrike"/>
          </a:p>
        </p:txBody>
      </p:sp>
      <p:sp>
        <p:nvSpPr>
          <p:cNvPr id="440" name="Google Shape;440;p20"/>
          <p:cNvSpPr/>
          <p:nvPr/>
        </p:nvSpPr>
        <p:spPr>
          <a:xfrm>
            <a:off x="5216962" y="37561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/>
          <p:cNvSpPr/>
          <p:nvPr/>
        </p:nvSpPr>
        <p:spPr>
          <a:xfrm>
            <a:off x="5302032" y="379868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442" name="Google Shape;442;p20"/>
          <p:cNvSpPr/>
          <p:nvPr/>
        </p:nvSpPr>
        <p:spPr>
          <a:xfrm>
            <a:off x="5954078" y="3756184"/>
            <a:ext cx="3459242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Wishing all of you success in your learning journey!</a:t>
            </a:r>
            <a:endParaRPr b="0" i="0" sz="2200" u="none" cap="none" strike="noStrike"/>
          </a:p>
        </p:txBody>
      </p:sp>
      <p:sp>
        <p:nvSpPr>
          <p:cNvPr id="443" name="Google Shape;443;p20"/>
          <p:cNvSpPr/>
          <p:nvPr/>
        </p:nvSpPr>
        <p:spPr>
          <a:xfrm>
            <a:off x="9640133" y="37561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/>
          <p:cNvSpPr/>
          <p:nvPr/>
        </p:nvSpPr>
        <p:spPr>
          <a:xfrm>
            <a:off x="9725204" y="379868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445" name="Google Shape;445;p20"/>
          <p:cNvSpPr/>
          <p:nvPr/>
        </p:nvSpPr>
        <p:spPr>
          <a:xfrm>
            <a:off x="10377249" y="37561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Closing Statement</a:t>
            </a:r>
            <a:endParaRPr b="0" i="0" sz="2200" u="none" cap="none" strike="noStrike"/>
          </a:p>
        </p:txBody>
      </p:sp>
      <p:sp>
        <p:nvSpPr>
          <p:cNvPr id="446" name="Google Shape;446;p20"/>
          <p:cNvSpPr/>
          <p:nvPr/>
        </p:nvSpPr>
        <p:spPr>
          <a:xfrm>
            <a:off x="10065237" y="4266478"/>
            <a:ext cx="3459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May you excel and transform your lives through this course!</a:t>
            </a:r>
            <a:endParaRPr b="0" i="0" sz="1750" u="none" cap="none" strike="noStrike"/>
          </a:p>
        </p:txBody>
      </p:sp>
      <p:pic>
        <p:nvPicPr>
          <p:cNvPr descr="preencoded.png" id="447" name="Google Shape;4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2025-03-14T10:51:33Z</dcterms:created>
  <dc:creator>PptxGenJS</dc:creator>
</cp:coreProperties>
</file>