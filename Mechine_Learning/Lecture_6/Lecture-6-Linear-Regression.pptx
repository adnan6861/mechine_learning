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8229600" cx="14630400"/>
  <p:notesSz cx="8229600" cy="14630400"/>
  <p:embeddedFontLst>
    <p:embeddedFont>
      <p:font typeface="Platypi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iNL2dLl5EoN3TZ0PAaDbAHq9Uz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typiMedium-bold.fntdata"/><Relationship Id="rId25" Type="http://schemas.openxmlformats.org/officeDocument/2006/relationships/font" Target="fonts/PlatypiMedium-regular.fntdata"/><Relationship Id="rId28" Type="http://schemas.openxmlformats.org/officeDocument/2006/relationships/font" Target="fonts/PlatypiMedium-boldItalic.fntdata"/><Relationship Id="rId27" Type="http://schemas.openxmlformats.org/officeDocument/2006/relationships/font" Target="fonts/PlatypiMedium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change image</a:t>
            </a:r>
            <a:br>
              <a:rPr lang="en-US"/>
            </a:br>
            <a:br>
              <a:rPr lang="en-US"/>
            </a:br>
            <a:r>
              <a:rPr lang="en-US"/>
              <a:t>add image related to the content of the slide</a:t>
            </a:r>
            <a:endParaRPr/>
          </a:p>
        </p:txBody>
      </p:sp>
      <p:sp>
        <p:nvSpPr>
          <p:cNvPr id="94" name="Google Shape;9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align equations to center</a:t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dont copy paste add in text form</a:t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remove image</a:t>
            </a:r>
            <a:br>
              <a:rPr lang="en-US"/>
            </a:br>
            <a:br>
              <a:rPr lang="en-US"/>
            </a:br>
            <a:r>
              <a:rPr lang="en-US"/>
              <a:t>add image related to the content of the slide</a:t>
            </a:r>
            <a:endParaRPr/>
          </a:p>
        </p:txBody>
      </p:sp>
      <p:sp>
        <p:nvSpPr>
          <p:cNvPr id="159" name="Google Shape;1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grammatical errors</a:t>
            </a:r>
            <a:endParaRPr/>
          </a:p>
        </p:txBody>
      </p:sp>
      <p:sp>
        <p:nvSpPr>
          <p:cNvPr id="222" name="Google Shape;2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improve this slide</a:t>
            </a:r>
            <a:endParaRPr/>
          </a:p>
        </p:txBody>
      </p:sp>
      <p:sp>
        <p:nvSpPr>
          <p:cNvPr id="241" name="Google Shape;2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convert in two slides add columns</a:t>
            </a:r>
            <a:endParaRPr/>
          </a:p>
        </p:txBody>
      </p:sp>
      <p:sp>
        <p:nvSpPr>
          <p:cNvPr id="264" name="Google Shape;26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remove image</a:t>
            </a:r>
            <a:endParaRPr/>
          </a:p>
        </p:txBody>
      </p:sp>
      <p:sp>
        <p:nvSpPr>
          <p:cNvPr id="307" name="Google Shape;30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4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2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9" Type="http://schemas.openxmlformats.org/officeDocument/2006/relationships/image" Target="../media/image9.png"/><Relationship Id="rId5" Type="http://schemas.openxmlformats.org/officeDocument/2006/relationships/image" Target="../media/image32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Relationship Id="rId8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"/>
          <p:cNvSpPr/>
          <p:nvPr/>
        </p:nvSpPr>
        <p:spPr>
          <a:xfrm>
            <a:off x="6280190" y="249876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Machine Learning</a:t>
            </a:r>
            <a:endParaRPr b="0" i="0" sz="4450" u="none" cap="none" strike="noStrike"/>
          </a:p>
        </p:txBody>
      </p:sp>
      <p:sp>
        <p:nvSpPr>
          <p:cNvPr id="78" name="Google Shape;78;p1"/>
          <p:cNvSpPr/>
          <p:nvPr/>
        </p:nvSpPr>
        <p:spPr>
          <a:xfrm>
            <a:off x="6280190" y="3547705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Lecture 6: Linear Regression </a:t>
            </a:r>
            <a:endParaRPr b="0" i="0" sz="4450" u="none" cap="none" strike="noStrike"/>
          </a:p>
        </p:txBody>
      </p:sp>
      <p:sp>
        <p:nvSpPr>
          <p:cNvPr id="79" name="Google Shape;79;p1"/>
          <p:cNvSpPr/>
          <p:nvPr/>
        </p:nvSpPr>
        <p:spPr>
          <a:xfrm>
            <a:off x="6280190" y="5305425"/>
            <a:ext cx="4581644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Instructor: Dr. Shazia Saqib</a:t>
            </a:r>
            <a:endParaRPr b="0" i="0" sz="2650" u="none" cap="none" strike="noStrike"/>
          </a:p>
        </p:txBody>
      </p:sp>
      <p:pic>
        <p:nvPicPr>
          <p:cNvPr descr="preencoded.png" id="80" name="Google Shape;8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03075" y="228600"/>
            <a:ext cx="1398725" cy="1095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" name="Google Shape;8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03065" y="6684210"/>
            <a:ext cx="1398746" cy="1398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7" name="Google Shape;8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0202" y="2156734"/>
            <a:ext cx="6241649" cy="39161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Introduction to Linear Regression</a:t>
            </a:r>
            <a:endParaRPr b="0" i="0" sz="4450" u="none" cap="none" strike="noStrike"/>
          </a:p>
        </p:txBody>
      </p:sp>
      <p:sp>
        <p:nvSpPr>
          <p:cNvPr id="89" name="Google Shape;89;p2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Linear Regression is a method to find a relationship between a dependent variable and one or more independent variables using a straight line.</a:t>
            </a:r>
            <a:endParaRPr b="0" i="0" sz="1750" u="none" cap="none" strike="noStrike"/>
          </a:p>
        </p:txBody>
      </p:sp>
      <p:pic>
        <p:nvPicPr>
          <p:cNvPr descr="preencoded.png" id="90" name="Google Shape;9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/>
          <p:nvPr/>
        </p:nvSpPr>
        <p:spPr>
          <a:xfrm>
            <a:off x="6225540" y="749617"/>
            <a:ext cx="6986588" cy="659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96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150"/>
              <a:buFont typeface="Platypi Medium"/>
              <a:buNone/>
            </a:pPr>
            <a:r>
              <a:rPr b="0" i="0" lang="en-US" sz="41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Types of Linear Regression</a:t>
            </a:r>
            <a:endParaRPr b="0" i="0" sz="4150" u="none" cap="none" strike="noStrike"/>
          </a:p>
        </p:txBody>
      </p:sp>
      <p:sp>
        <p:nvSpPr>
          <p:cNvPr id="97" name="Google Shape;97;p3"/>
          <p:cNvSpPr/>
          <p:nvPr/>
        </p:nvSpPr>
        <p:spPr>
          <a:xfrm>
            <a:off x="6225540" y="1726168"/>
            <a:ext cx="3727371" cy="1884521"/>
          </a:xfrm>
          <a:prstGeom prst="roundRect">
            <a:avLst>
              <a:gd fmla="val 1681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6436638" y="1937266"/>
            <a:ext cx="3264575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50"/>
              <a:buFont typeface="Platypi Medium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Simple Linear Regression</a:t>
            </a:r>
            <a:endParaRPr b="0" i="0" sz="2050" u="none" cap="none" strike="noStrike"/>
          </a:p>
        </p:txBody>
      </p:sp>
      <p:sp>
        <p:nvSpPr>
          <p:cNvPr id="99" name="Google Shape;99;p3"/>
          <p:cNvSpPr/>
          <p:nvPr/>
        </p:nvSpPr>
        <p:spPr>
          <a:xfrm>
            <a:off x="6436638" y="2393871"/>
            <a:ext cx="3305175" cy="675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One independent variable X and one dependent variable Y.</a:t>
            </a:r>
            <a:endParaRPr b="0" i="0" sz="1650" u="none" cap="none" strike="noStrike"/>
          </a:p>
        </p:txBody>
      </p:sp>
      <p:sp>
        <p:nvSpPr>
          <p:cNvPr id="100" name="Google Shape;100;p3"/>
          <p:cNvSpPr/>
          <p:nvPr/>
        </p:nvSpPr>
        <p:spPr>
          <a:xfrm>
            <a:off x="10164008" y="1726168"/>
            <a:ext cx="3727371" cy="1884521"/>
          </a:xfrm>
          <a:prstGeom prst="roundRect">
            <a:avLst>
              <a:gd fmla="val 1681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10375106" y="1937266"/>
            <a:ext cx="3305175" cy="659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50"/>
              <a:buFont typeface="Platypi Medium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Multiple Linear Regression</a:t>
            </a:r>
            <a:endParaRPr b="0" i="0" sz="2050" u="none" cap="none" strike="noStrike"/>
          </a:p>
        </p:txBody>
      </p:sp>
      <p:sp>
        <p:nvSpPr>
          <p:cNvPr id="102" name="Google Shape;102;p3"/>
          <p:cNvSpPr/>
          <p:nvPr/>
        </p:nvSpPr>
        <p:spPr>
          <a:xfrm>
            <a:off x="10375106" y="2723793"/>
            <a:ext cx="3305175" cy="675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More than one independent variable (predictors).</a:t>
            </a:r>
            <a:endParaRPr b="0" i="0" sz="1650" u="none" cap="none" strike="noStrike"/>
          </a:p>
        </p:txBody>
      </p:sp>
      <p:sp>
        <p:nvSpPr>
          <p:cNvPr id="103" name="Google Shape;103;p3"/>
          <p:cNvSpPr/>
          <p:nvPr/>
        </p:nvSpPr>
        <p:spPr>
          <a:xfrm>
            <a:off x="6225540" y="3821787"/>
            <a:ext cx="3727371" cy="1892498"/>
          </a:xfrm>
          <a:prstGeom prst="roundRect">
            <a:avLst>
              <a:gd fmla="val 16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6436638" y="4032885"/>
            <a:ext cx="2933224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50"/>
              <a:buFont typeface="Platypi Medium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Polynomial Regression</a:t>
            </a:r>
            <a:endParaRPr b="0" i="0" sz="2050" u="none" cap="none" strike="noStrike"/>
          </a:p>
        </p:txBody>
      </p:sp>
      <p:sp>
        <p:nvSpPr>
          <p:cNvPr id="105" name="Google Shape;105;p3"/>
          <p:cNvSpPr/>
          <p:nvPr/>
        </p:nvSpPr>
        <p:spPr>
          <a:xfrm>
            <a:off x="6436638" y="4489490"/>
            <a:ext cx="3305175" cy="1013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 type of linear regression where the relationship is modeled as a polynomial (non-linear in nature).</a:t>
            </a:r>
            <a:endParaRPr b="0" i="0" sz="1650" u="none" cap="none" strike="noStrike"/>
          </a:p>
        </p:txBody>
      </p:sp>
      <p:sp>
        <p:nvSpPr>
          <p:cNvPr id="106" name="Google Shape;106;p3"/>
          <p:cNvSpPr/>
          <p:nvPr/>
        </p:nvSpPr>
        <p:spPr>
          <a:xfrm>
            <a:off x="10164008" y="3821787"/>
            <a:ext cx="3727371" cy="1892498"/>
          </a:xfrm>
          <a:prstGeom prst="roundRect">
            <a:avLst>
              <a:gd fmla="val 16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10375106" y="4032885"/>
            <a:ext cx="2639735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50"/>
              <a:buFont typeface="Platypi Medium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Ridge Regression</a:t>
            </a:r>
            <a:endParaRPr b="0" i="0" sz="2050" u="none" cap="none" strike="noStrike"/>
          </a:p>
        </p:txBody>
      </p:sp>
      <p:sp>
        <p:nvSpPr>
          <p:cNvPr id="108" name="Google Shape;108;p3"/>
          <p:cNvSpPr/>
          <p:nvPr/>
        </p:nvSpPr>
        <p:spPr>
          <a:xfrm>
            <a:off x="10375106" y="4489490"/>
            <a:ext cx="3305175" cy="1013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 variant of linear regression that adds a penalty (regularization) term to prevent overfitting.</a:t>
            </a:r>
            <a:endParaRPr b="0" i="0" sz="1650" u="none" cap="none" strike="noStrike"/>
          </a:p>
        </p:txBody>
      </p:sp>
      <p:sp>
        <p:nvSpPr>
          <p:cNvPr id="109" name="Google Shape;109;p3"/>
          <p:cNvSpPr/>
          <p:nvPr/>
        </p:nvSpPr>
        <p:spPr>
          <a:xfrm>
            <a:off x="6225540" y="5925383"/>
            <a:ext cx="7665720" cy="1554599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6436638" y="6136481"/>
            <a:ext cx="2639735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50"/>
              <a:buFont typeface="Platypi Medium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Lasso Regression</a:t>
            </a:r>
            <a:endParaRPr b="0" i="0" sz="2050" u="none" cap="none" strike="noStrike"/>
          </a:p>
        </p:txBody>
      </p:sp>
      <p:sp>
        <p:nvSpPr>
          <p:cNvPr id="111" name="Google Shape;111;p3"/>
          <p:cNvSpPr/>
          <p:nvPr/>
        </p:nvSpPr>
        <p:spPr>
          <a:xfrm>
            <a:off x="6436638" y="6593086"/>
            <a:ext cx="7243524" cy="675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Another regularized version of linear regression, using L1 penalty to induce sparsity.</a:t>
            </a:r>
            <a:endParaRPr b="0" i="0" sz="1650" u="none" cap="none" strike="noStrike"/>
          </a:p>
        </p:txBody>
      </p:sp>
      <p:pic>
        <p:nvPicPr>
          <p:cNvPr descr="preencoded.png" id="112" name="Google Shape;1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 title="linearregression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798138"/>
            <a:ext cx="6177776" cy="4633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793790" y="651034"/>
            <a:ext cx="701528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Simple Linear Regression</a:t>
            </a:r>
            <a:endParaRPr b="0" i="0" sz="4450" u="none" cap="none" strike="noStrike"/>
          </a:p>
        </p:txBody>
      </p:sp>
      <p:sp>
        <p:nvSpPr>
          <p:cNvPr id="120" name="Google Shape;120;p4"/>
          <p:cNvSpPr/>
          <p:nvPr/>
        </p:nvSpPr>
        <p:spPr>
          <a:xfrm>
            <a:off x="793790" y="181344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Linear relationship between a dependent variable Y and a single independent variable X.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Equation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750" u="none" cap="none" strike="noStrike"/>
          </a:p>
        </p:txBody>
      </p:sp>
      <p:pic>
        <p:nvPicPr>
          <p:cNvPr descr="preencoded.png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1092" y="2431494"/>
            <a:ext cx="8588216" cy="5146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793790" y="1057037"/>
            <a:ext cx="1073908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The Mathematics of Linear Regression</a:t>
            </a:r>
            <a:endParaRPr b="0" i="0" sz="4450" u="none" cap="none" strike="noStrike"/>
          </a:p>
        </p:txBody>
      </p:sp>
      <p:sp>
        <p:nvSpPr>
          <p:cNvPr id="129" name="Google Shape;129;p5"/>
          <p:cNvSpPr/>
          <p:nvPr/>
        </p:nvSpPr>
        <p:spPr>
          <a:xfrm>
            <a:off x="793790" y="2219444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Least Squares Method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750" u="none" cap="none" strike="noStrike"/>
          </a:p>
        </p:txBody>
      </p:sp>
      <p:pic>
        <p:nvPicPr>
          <p:cNvPr descr="preencoded.png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6800" y="2777976"/>
            <a:ext cx="3876804" cy="60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793790" y="395739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Minimize SSE to find optimal values for β0​ and β1.</a:t>
            </a:r>
            <a:endParaRPr b="0" i="0" sz="1750" u="none" cap="none" strike="noStrike"/>
          </a:p>
        </p:txBody>
      </p:sp>
      <p:sp>
        <p:nvSpPr>
          <p:cNvPr id="132" name="Google Shape;132;p5"/>
          <p:cNvSpPr/>
          <p:nvPr/>
        </p:nvSpPr>
        <p:spPr>
          <a:xfrm>
            <a:off x="793790" y="4399598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Normal Equation</a:t>
            </a:r>
            <a:endParaRPr b="0" i="0" sz="1750" u="none" cap="none" strike="noStrike"/>
          </a:p>
        </p:txBody>
      </p:sp>
      <p:pic>
        <p:nvPicPr>
          <p:cNvPr descr="preencoded.png" id="133" name="Google Shape;13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2484" y="5017650"/>
            <a:ext cx="3585425" cy="153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4" name="Google Shape;13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793790" y="2180273"/>
            <a:ext cx="74256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Multiple Linear Regression</a:t>
            </a:r>
            <a:endParaRPr b="0" i="0" sz="4450" u="none" cap="none" strike="noStrike"/>
          </a:p>
        </p:txBody>
      </p:sp>
      <p:sp>
        <p:nvSpPr>
          <p:cNvPr id="141" name="Google Shape;141;p6"/>
          <p:cNvSpPr/>
          <p:nvPr/>
        </p:nvSpPr>
        <p:spPr>
          <a:xfrm>
            <a:off x="793790" y="3342680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Multiple Linear Regression (MLR) is a statistical method used to predict an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outcome (dependent variable)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based on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two or more input features (independent variables)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50" u="none" cap="none" strike="noStrike"/>
          </a:p>
        </p:txBody>
      </p:sp>
      <p:sp>
        <p:nvSpPr>
          <p:cNvPr id="142" name="Google Shape;142;p6"/>
          <p:cNvSpPr/>
          <p:nvPr/>
        </p:nvSpPr>
        <p:spPr>
          <a:xfrm>
            <a:off x="793790" y="4686538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Formula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750" u="none" cap="none" strike="noStrike"/>
          </a:p>
        </p:txBody>
      </p:sp>
      <p:pic>
        <p:nvPicPr>
          <p:cNvPr descr="preencoded.png" id="143" name="Google Shape;1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4838" y="5304599"/>
            <a:ext cx="5720714" cy="70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793790" y="2582466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Mathematics Behind Linear Regression</a:t>
            </a:r>
            <a:endParaRPr b="0" i="0" sz="4450" u="none" cap="none" strike="noStrike"/>
          </a:p>
        </p:txBody>
      </p:sp>
      <p:sp>
        <p:nvSpPr>
          <p:cNvPr id="152" name="Google Shape;152;p7"/>
          <p:cNvSpPr/>
          <p:nvPr/>
        </p:nvSpPr>
        <p:spPr>
          <a:xfrm>
            <a:off x="793790" y="4340185"/>
            <a:ext cx="7556421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1020604" y="456699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y = mx + b</a:t>
            </a:r>
            <a:endParaRPr b="0" i="0" sz="2200" u="none" cap="none" strike="noStrike"/>
          </a:p>
        </p:txBody>
      </p:sp>
      <p:sp>
        <p:nvSpPr>
          <p:cNvPr id="154" name="Google Shape;154;p7"/>
          <p:cNvSpPr/>
          <p:nvPr/>
        </p:nvSpPr>
        <p:spPr>
          <a:xfrm>
            <a:off x="1020604" y="5057418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y: dependent variable, x: independent variable, m: slope, b: intercept</a:t>
            </a:r>
            <a:endParaRPr b="0" i="0" sz="1750" u="none" cap="none" strike="noStrike"/>
          </a:p>
        </p:txBody>
      </p:sp>
      <p:pic>
        <p:nvPicPr>
          <p:cNvPr descr="preencoded.png" id="155" name="Google Shape;15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793728" y="1313890"/>
            <a:ext cx="1023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Evaluating Linear Regression Models</a:t>
            </a:r>
            <a:endParaRPr b="0" i="0" sz="4450" u="none" cap="none" strike="noStrike"/>
          </a:p>
        </p:txBody>
      </p:sp>
      <p:sp>
        <p:nvSpPr>
          <p:cNvPr id="162" name="Google Shape;162;p8"/>
          <p:cNvSpPr/>
          <p:nvPr/>
        </p:nvSpPr>
        <p:spPr>
          <a:xfrm>
            <a:off x="793727" y="2476297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Common metrics to assess model performance:</a:t>
            </a:r>
            <a:endParaRPr b="0" i="0" sz="1750" u="none" cap="none" strike="noStrike"/>
          </a:p>
        </p:txBody>
      </p:sp>
      <p:sp>
        <p:nvSpPr>
          <p:cNvPr id="163" name="Google Shape;163;p8"/>
          <p:cNvSpPr/>
          <p:nvPr/>
        </p:nvSpPr>
        <p:spPr>
          <a:xfrm>
            <a:off x="793728" y="3349502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1530843" y="3349502"/>
            <a:ext cx="23535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Mean Absolute Error (MAE)</a:t>
            </a:r>
            <a:endParaRPr b="0" i="0" sz="2200" u="none" cap="none" strike="noStrike"/>
          </a:p>
        </p:txBody>
      </p:sp>
      <p:sp>
        <p:nvSpPr>
          <p:cNvPr id="165" name="Google Shape;165;p8"/>
          <p:cNvSpPr/>
          <p:nvPr/>
        </p:nvSpPr>
        <p:spPr>
          <a:xfrm>
            <a:off x="1530843" y="4194250"/>
            <a:ext cx="23535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Average of absolute differences between predictions and actual values</a:t>
            </a:r>
            <a:endParaRPr b="0" i="0" sz="1750" u="none" cap="none" strike="noStrike"/>
          </a:p>
        </p:txBody>
      </p:sp>
      <p:sp>
        <p:nvSpPr>
          <p:cNvPr id="166" name="Google Shape;166;p8"/>
          <p:cNvSpPr/>
          <p:nvPr/>
        </p:nvSpPr>
        <p:spPr>
          <a:xfrm>
            <a:off x="4111166" y="3349502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4848282" y="3349502"/>
            <a:ext cx="23535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Mean Squared Error (MSE)</a:t>
            </a:r>
            <a:endParaRPr b="0" i="0" sz="2200" u="none" cap="none" strike="noStrike"/>
          </a:p>
        </p:txBody>
      </p:sp>
      <p:sp>
        <p:nvSpPr>
          <p:cNvPr id="168" name="Google Shape;168;p8"/>
          <p:cNvSpPr/>
          <p:nvPr/>
        </p:nvSpPr>
        <p:spPr>
          <a:xfrm>
            <a:off x="4848282" y="4194250"/>
            <a:ext cx="23535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Average of squared differences between predictions and actual values</a:t>
            </a:r>
            <a:endParaRPr b="0" i="0" sz="1750" u="none" cap="none" strike="noStrike"/>
          </a:p>
        </p:txBody>
      </p:sp>
      <p:sp>
        <p:nvSpPr>
          <p:cNvPr id="169" name="Google Shape;169;p8"/>
          <p:cNvSpPr/>
          <p:nvPr/>
        </p:nvSpPr>
        <p:spPr>
          <a:xfrm>
            <a:off x="7428605" y="3349502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8165721" y="3349502"/>
            <a:ext cx="2353500" cy="10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Root Mean Squared Error (RMSE)</a:t>
            </a:r>
            <a:endParaRPr b="0" i="0" sz="2200" u="none" cap="none" strike="noStrike"/>
          </a:p>
        </p:txBody>
      </p:sp>
      <p:sp>
        <p:nvSpPr>
          <p:cNvPr id="171" name="Google Shape;171;p8"/>
          <p:cNvSpPr/>
          <p:nvPr/>
        </p:nvSpPr>
        <p:spPr>
          <a:xfrm>
            <a:off x="8165721" y="4548580"/>
            <a:ext cx="23535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Square root of MSE, provides error in original units</a:t>
            </a:r>
            <a:endParaRPr b="0" i="0" sz="1750" u="none" cap="none" strike="noStrike"/>
          </a:p>
        </p:txBody>
      </p:sp>
      <p:sp>
        <p:nvSpPr>
          <p:cNvPr id="172" name="Google Shape;172;p8"/>
          <p:cNvSpPr/>
          <p:nvPr/>
        </p:nvSpPr>
        <p:spPr>
          <a:xfrm>
            <a:off x="10746043" y="3349502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11483159" y="3349502"/>
            <a:ext cx="2353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R-squared (R²)</a:t>
            </a:r>
            <a:endParaRPr b="0" i="0" sz="2200" u="none" cap="none" strike="noStrike"/>
          </a:p>
        </p:txBody>
      </p:sp>
      <p:sp>
        <p:nvSpPr>
          <p:cNvPr id="174" name="Google Shape;174;p8"/>
          <p:cNvSpPr/>
          <p:nvPr/>
        </p:nvSpPr>
        <p:spPr>
          <a:xfrm>
            <a:off x="11483159" y="3839920"/>
            <a:ext cx="23535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Proportion of variance explained by the model</a:t>
            </a:r>
            <a:endParaRPr b="0" i="0" sz="1750" u="none" cap="none" strike="noStrike"/>
          </a:p>
        </p:txBody>
      </p:sp>
      <p:pic>
        <p:nvPicPr>
          <p:cNvPr descr="preencoded.png" id="175" name="Google Shape;1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3512" y="6271475"/>
            <a:ext cx="3168174" cy="80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9293" y="6175890"/>
            <a:ext cx="3020196" cy="99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65713" y="6155238"/>
            <a:ext cx="3168176" cy="1040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793790" y="972145"/>
            <a:ext cx="848082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Overview of Linear Regression</a:t>
            </a:r>
            <a:endParaRPr b="0" i="0" sz="4450" u="none" cap="none" strike="noStrike"/>
          </a:p>
        </p:txBody>
      </p:sp>
      <p:sp>
        <p:nvSpPr>
          <p:cNvPr id="185" name="Google Shape;185;p9"/>
          <p:cNvSpPr/>
          <p:nvPr/>
        </p:nvSpPr>
        <p:spPr>
          <a:xfrm>
            <a:off x="793790" y="213455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linear regression workflow follows these key steps:</a:t>
            </a:r>
            <a:endParaRPr b="0" i="0" sz="1750" u="none" cap="none" strike="noStrike"/>
          </a:p>
        </p:txBody>
      </p:sp>
      <p:sp>
        <p:nvSpPr>
          <p:cNvPr id="186" name="Google Shape;186;p9"/>
          <p:cNvSpPr/>
          <p:nvPr/>
        </p:nvSpPr>
        <p:spPr>
          <a:xfrm>
            <a:off x="793790" y="300775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878860" y="305026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188" name="Google Shape;188;p9"/>
          <p:cNvSpPr/>
          <p:nvPr/>
        </p:nvSpPr>
        <p:spPr>
          <a:xfrm>
            <a:off x="1530906" y="300775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Define the Problem</a:t>
            </a:r>
            <a:endParaRPr b="0" i="0" sz="2200" u="none" cap="none" strike="noStrike"/>
          </a:p>
        </p:txBody>
      </p:sp>
      <p:sp>
        <p:nvSpPr>
          <p:cNvPr id="189" name="Google Shape;189;p9"/>
          <p:cNvSpPr/>
          <p:nvPr/>
        </p:nvSpPr>
        <p:spPr>
          <a:xfrm>
            <a:off x="1530906" y="3498175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Identify dependent and independent variables.</a:t>
            </a:r>
            <a:endParaRPr b="0" i="0" sz="1750" u="none" cap="none" strike="noStrike"/>
          </a:p>
        </p:txBody>
      </p:sp>
      <p:sp>
        <p:nvSpPr>
          <p:cNvPr id="190" name="Google Shape;190;p9"/>
          <p:cNvSpPr/>
          <p:nvPr/>
        </p:nvSpPr>
        <p:spPr>
          <a:xfrm>
            <a:off x="5216962" y="300775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5302032" y="305026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192" name="Google Shape;192;p9"/>
          <p:cNvSpPr/>
          <p:nvPr/>
        </p:nvSpPr>
        <p:spPr>
          <a:xfrm>
            <a:off x="5954078" y="3007757"/>
            <a:ext cx="343245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Collect and Prepare Data</a:t>
            </a:r>
            <a:endParaRPr b="0" i="0" sz="2200" u="none" cap="none" strike="noStrike"/>
          </a:p>
        </p:txBody>
      </p:sp>
      <p:sp>
        <p:nvSpPr>
          <p:cNvPr id="193" name="Google Shape;193;p9"/>
          <p:cNvSpPr/>
          <p:nvPr/>
        </p:nvSpPr>
        <p:spPr>
          <a:xfrm>
            <a:off x="5954078" y="3498175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Clean, preprocess, and handle missing values.</a:t>
            </a:r>
            <a:endParaRPr b="0" i="0" sz="1750" u="none" cap="none" strike="noStrike"/>
          </a:p>
        </p:txBody>
      </p:sp>
      <p:sp>
        <p:nvSpPr>
          <p:cNvPr id="194" name="Google Shape;194;p9"/>
          <p:cNvSpPr/>
          <p:nvPr/>
        </p:nvSpPr>
        <p:spPr>
          <a:xfrm>
            <a:off x="9640133" y="300775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9725204" y="305026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196" name="Google Shape;196;p9"/>
          <p:cNvSpPr/>
          <p:nvPr/>
        </p:nvSpPr>
        <p:spPr>
          <a:xfrm>
            <a:off x="10377249" y="300775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Split Data</a:t>
            </a:r>
            <a:endParaRPr b="0" i="0" sz="2200" u="none" cap="none" strike="noStrike"/>
          </a:p>
        </p:txBody>
      </p:sp>
      <p:sp>
        <p:nvSpPr>
          <p:cNvPr id="197" name="Google Shape;197;p9"/>
          <p:cNvSpPr/>
          <p:nvPr/>
        </p:nvSpPr>
        <p:spPr>
          <a:xfrm>
            <a:off x="10377249" y="3498175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Divide into training and testing sets.</a:t>
            </a:r>
            <a:endParaRPr b="0" i="0" sz="1750" u="none" cap="none" strike="noStrike"/>
          </a:p>
        </p:txBody>
      </p:sp>
      <p:sp>
        <p:nvSpPr>
          <p:cNvPr id="198" name="Google Shape;198;p9"/>
          <p:cNvSpPr/>
          <p:nvPr/>
        </p:nvSpPr>
        <p:spPr>
          <a:xfrm>
            <a:off x="793790" y="470594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878860" y="4748451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650" u="none" cap="none" strike="noStrike"/>
          </a:p>
        </p:txBody>
      </p:sp>
      <p:sp>
        <p:nvSpPr>
          <p:cNvPr id="200" name="Google Shape;200;p9"/>
          <p:cNvSpPr/>
          <p:nvPr/>
        </p:nvSpPr>
        <p:spPr>
          <a:xfrm>
            <a:off x="1530906" y="470594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Fit the Model</a:t>
            </a:r>
            <a:endParaRPr b="0" i="0" sz="2200" u="none" cap="none" strike="noStrike"/>
          </a:p>
        </p:txBody>
      </p:sp>
      <p:sp>
        <p:nvSpPr>
          <p:cNvPr id="201" name="Google Shape;201;p9"/>
          <p:cNvSpPr/>
          <p:nvPr/>
        </p:nvSpPr>
        <p:spPr>
          <a:xfrm>
            <a:off x="1530906" y="5196364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the linear regression equation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Y= b0 + b1X +ϵ</a:t>
            </a:r>
            <a:endParaRPr b="0" i="0" sz="1750" u="none" cap="none" strike="noStrike"/>
          </a:p>
        </p:txBody>
      </p:sp>
      <p:sp>
        <p:nvSpPr>
          <p:cNvPr id="202" name="Google Shape;202;p9"/>
          <p:cNvSpPr/>
          <p:nvPr/>
        </p:nvSpPr>
        <p:spPr>
          <a:xfrm>
            <a:off x="5216962" y="470594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5302032" y="4748451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5</a:t>
            </a:r>
            <a:endParaRPr b="0" i="0" sz="2650" u="none" cap="none" strike="noStrike"/>
          </a:p>
        </p:txBody>
      </p:sp>
      <p:sp>
        <p:nvSpPr>
          <p:cNvPr id="204" name="Google Shape;204;p9"/>
          <p:cNvSpPr/>
          <p:nvPr/>
        </p:nvSpPr>
        <p:spPr>
          <a:xfrm>
            <a:off x="5954078" y="470594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Train the Model</a:t>
            </a:r>
            <a:endParaRPr b="0" i="0" sz="2200" u="none" cap="none" strike="noStrike"/>
          </a:p>
        </p:txBody>
      </p:sp>
      <p:sp>
        <p:nvSpPr>
          <p:cNvPr id="205" name="Google Shape;205;p9"/>
          <p:cNvSpPr/>
          <p:nvPr/>
        </p:nvSpPr>
        <p:spPr>
          <a:xfrm>
            <a:off x="5954078" y="5196364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Estimate coefficients using the Least Squares Method.</a:t>
            </a:r>
            <a:endParaRPr b="0" i="0" sz="1750" u="none" cap="none" strike="noStrike"/>
          </a:p>
        </p:txBody>
      </p:sp>
      <p:sp>
        <p:nvSpPr>
          <p:cNvPr id="206" name="Google Shape;206;p9"/>
          <p:cNvSpPr/>
          <p:nvPr/>
        </p:nvSpPr>
        <p:spPr>
          <a:xfrm>
            <a:off x="9640133" y="470594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9725204" y="4748451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6</a:t>
            </a:r>
            <a:endParaRPr b="0" i="0" sz="2650" u="none" cap="none" strike="noStrike"/>
          </a:p>
        </p:txBody>
      </p:sp>
      <p:sp>
        <p:nvSpPr>
          <p:cNvPr id="208" name="Google Shape;208;p9"/>
          <p:cNvSpPr/>
          <p:nvPr/>
        </p:nvSpPr>
        <p:spPr>
          <a:xfrm>
            <a:off x="10377249" y="4705945"/>
            <a:ext cx="303716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Evaluate Performance</a:t>
            </a:r>
            <a:endParaRPr b="0" i="0" sz="2200" u="none" cap="none" strike="noStrike"/>
          </a:p>
        </p:txBody>
      </p:sp>
      <p:sp>
        <p:nvSpPr>
          <p:cNvPr id="209" name="Google Shape;209;p9"/>
          <p:cNvSpPr/>
          <p:nvPr/>
        </p:nvSpPr>
        <p:spPr>
          <a:xfrm>
            <a:off x="10377249" y="5196364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metrics like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MAE, MSE, RMSE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R2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50" u="none" cap="none" strike="noStrike"/>
          </a:p>
        </p:txBody>
      </p:sp>
      <p:sp>
        <p:nvSpPr>
          <p:cNvPr id="210" name="Google Shape;210;p9"/>
          <p:cNvSpPr/>
          <p:nvPr/>
        </p:nvSpPr>
        <p:spPr>
          <a:xfrm>
            <a:off x="793790" y="640413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878860" y="6446639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7</a:t>
            </a:r>
            <a:endParaRPr b="0" i="0" sz="2650" u="none" cap="none" strike="noStrike"/>
          </a:p>
        </p:txBody>
      </p:sp>
      <p:sp>
        <p:nvSpPr>
          <p:cNvPr id="212" name="Google Shape;212;p9"/>
          <p:cNvSpPr/>
          <p:nvPr/>
        </p:nvSpPr>
        <p:spPr>
          <a:xfrm>
            <a:off x="1530906" y="64041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Make Predictions</a:t>
            </a:r>
            <a:endParaRPr b="0" i="0" sz="2200" u="none" cap="none" strike="noStrike"/>
          </a:p>
        </p:txBody>
      </p:sp>
      <p:sp>
        <p:nvSpPr>
          <p:cNvPr id="213" name="Google Shape;213;p9"/>
          <p:cNvSpPr/>
          <p:nvPr/>
        </p:nvSpPr>
        <p:spPr>
          <a:xfrm>
            <a:off x="1530906" y="6894552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Apply the trained model to new data.</a:t>
            </a:r>
            <a:endParaRPr b="0" i="0" sz="1750" u="none" cap="none" strike="noStrike"/>
          </a:p>
        </p:txBody>
      </p:sp>
      <p:sp>
        <p:nvSpPr>
          <p:cNvPr id="214" name="Google Shape;214;p9"/>
          <p:cNvSpPr/>
          <p:nvPr/>
        </p:nvSpPr>
        <p:spPr>
          <a:xfrm>
            <a:off x="7428667" y="640413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7513737" y="6446639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8</a:t>
            </a:r>
            <a:endParaRPr b="0" i="0" sz="2650" u="none" cap="none" strike="noStrike"/>
          </a:p>
        </p:txBody>
      </p:sp>
      <p:sp>
        <p:nvSpPr>
          <p:cNvPr id="216" name="Google Shape;216;p9"/>
          <p:cNvSpPr/>
          <p:nvPr/>
        </p:nvSpPr>
        <p:spPr>
          <a:xfrm>
            <a:off x="8165783" y="64041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Interpret Results</a:t>
            </a:r>
            <a:endParaRPr b="0" i="0" sz="2200" u="none" cap="none" strike="noStrike"/>
          </a:p>
        </p:txBody>
      </p:sp>
      <p:sp>
        <p:nvSpPr>
          <p:cNvPr id="217" name="Google Shape;217;p9"/>
          <p:cNvSpPr/>
          <p:nvPr/>
        </p:nvSpPr>
        <p:spPr>
          <a:xfrm>
            <a:off x="8165783" y="6894552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Analyze coefficients and impact of variables.</a:t>
            </a:r>
            <a:endParaRPr b="0" i="0" sz="1750" u="none" cap="none" strike="noStrike"/>
          </a:p>
        </p:txBody>
      </p:sp>
      <p:pic>
        <p:nvPicPr>
          <p:cNvPr descr="preencoded.png" id="218" name="Google Shape;2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4" name="Google Shape;2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6280190" y="2342912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The Goal of Linear Regression</a:t>
            </a:r>
            <a:endParaRPr b="0" i="0" sz="4450" u="none" cap="none" strike="noStrike"/>
          </a:p>
        </p:txBody>
      </p:sp>
      <p:sp>
        <p:nvSpPr>
          <p:cNvPr id="226" name="Google Shape;226;p10"/>
          <p:cNvSpPr/>
          <p:nvPr/>
        </p:nvSpPr>
        <p:spPr>
          <a:xfrm>
            <a:off x="6280190" y="4100632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750" u="none" cap="none" strike="noStrike"/>
          </a:p>
        </p:txBody>
      </p:sp>
      <p:sp>
        <p:nvSpPr>
          <p:cNvPr id="227" name="Google Shape;227;p10"/>
          <p:cNvSpPr/>
          <p:nvPr/>
        </p:nvSpPr>
        <p:spPr>
          <a:xfrm>
            <a:off x="6280190" y="4718685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To find the best-fitting line that minimizes the difference between the predicted and actual values of  Y.</a:t>
            </a:r>
            <a:endParaRPr b="0" i="0" sz="1750" u="none" cap="none" strike="noStrike"/>
          </a:p>
        </p:txBody>
      </p:sp>
      <p:sp>
        <p:nvSpPr>
          <p:cNvPr id="228" name="Google Shape;228;p10"/>
          <p:cNvSpPr/>
          <p:nvPr/>
        </p:nvSpPr>
        <p:spPr>
          <a:xfrm>
            <a:off x="6280190" y="5523786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Minimizing the Sum of Squared Errors (SSE).</a:t>
            </a:r>
            <a:endParaRPr b="0" i="0" sz="1750" u="none" cap="none" strike="noStrike"/>
          </a:p>
        </p:txBody>
      </p:sp>
      <p:pic>
        <p:nvPicPr>
          <p:cNvPr descr="preencoded.png" id="229" name="Google Shape;22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>
            <a:off x="568404" y="446603"/>
            <a:ext cx="4060031" cy="507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150"/>
              <a:buFont typeface="Platypi Medium"/>
              <a:buNone/>
            </a:pPr>
            <a:r>
              <a:rPr b="0" i="0" lang="en-US" sz="31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Model Evaluation</a:t>
            </a:r>
            <a:endParaRPr b="0" i="0" sz="3150" u="none" cap="none" strike="noStrike"/>
          </a:p>
        </p:txBody>
      </p:sp>
      <p:pic>
        <p:nvPicPr>
          <p:cNvPr descr="preencoded.png" id="236" name="Google Shape;2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9547" y="954050"/>
            <a:ext cx="8691325" cy="7189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664607" y="522208"/>
            <a:ext cx="4747498" cy="593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00"/>
              <a:buFont typeface="Platypi Medium"/>
              <a:buNone/>
            </a:pPr>
            <a:r>
              <a:rPr b="0" i="0" lang="en-US" sz="37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Making Predictions</a:t>
            </a:r>
            <a:endParaRPr b="0" i="0" sz="3700" u="none" cap="none" strike="noStrike"/>
          </a:p>
        </p:txBody>
      </p:sp>
      <p:sp>
        <p:nvSpPr>
          <p:cNvPr id="244" name="Google Shape;244;p12"/>
          <p:cNvSpPr/>
          <p:nvPr/>
        </p:nvSpPr>
        <p:spPr>
          <a:xfrm>
            <a:off x="664607" y="1495187"/>
            <a:ext cx="13301186" cy="303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linear regression prediction process follows these sequential steps:</a:t>
            </a:r>
            <a:endParaRPr b="0" i="0" sz="1450" u="none" cap="none" strike="noStrike"/>
          </a:p>
        </p:txBody>
      </p:sp>
      <p:pic>
        <p:nvPicPr>
          <p:cNvPr descr="preencoded.png" id="245" name="Google Shape;2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607" y="2012633"/>
            <a:ext cx="949404" cy="113930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2"/>
          <p:cNvSpPr/>
          <p:nvPr/>
        </p:nvSpPr>
        <p:spPr>
          <a:xfrm>
            <a:off x="1898809" y="2202418"/>
            <a:ext cx="2373749" cy="296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Train the Model</a:t>
            </a:r>
            <a:endParaRPr b="0" i="0" sz="1850" u="none" cap="none" strike="noStrike"/>
          </a:p>
        </p:txBody>
      </p:sp>
      <p:sp>
        <p:nvSpPr>
          <p:cNvPr id="247" name="Google Shape;247;p12"/>
          <p:cNvSpPr/>
          <p:nvPr/>
        </p:nvSpPr>
        <p:spPr>
          <a:xfrm>
            <a:off x="1898809" y="2612946"/>
            <a:ext cx="12066984" cy="303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Fit data to learn relationships</a:t>
            </a:r>
            <a:endParaRPr b="0" i="0" sz="1450" u="none" cap="none" strike="noStrike"/>
          </a:p>
        </p:txBody>
      </p:sp>
      <p:pic>
        <p:nvPicPr>
          <p:cNvPr descr="preencoded.png" id="248" name="Google Shape;24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607" y="3151942"/>
            <a:ext cx="949404" cy="11393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2"/>
          <p:cNvSpPr/>
          <p:nvPr/>
        </p:nvSpPr>
        <p:spPr>
          <a:xfrm>
            <a:off x="1898809" y="3341727"/>
            <a:ext cx="2373749" cy="296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Input New Data</a:t>
            </a:r>
            <a:endParaRPr b="0" i="0" sz="1850" u="none" cap="none" strike="noStrike"/>
          </a:p>
        </p:txBody>
      </p:sp>
      <p:sp>
        <p:nvSpPr>
          <p:cNvPr id="250" name="Google Shape;250;p12"/>
          <p:cNvSpPr/>
          <p:nvPr/>
        </p:nvSpPr>
        <p:spPr>
          <a:xfrm>
            <a:off x="1898809" y="3752255"/>
            <a:ext cx="12066984" cy="303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Provide unseen values for prediction</a:t>
            </a:r>
            <a:endParaRPr b="0" i="0" sz="1450" u="none" cap="none" strike="noStrike"/>
          </a:p>
        </p:txBody>
      </p:sp>
      <p:pic>
        <p:nvPicPr>
          <p:cNvPr descr="preencoded.png" id="251" name="Google Shape;2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607" y="4291251"/>
            <a:ext cx="949404" cy="11393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2"/>
          <p:cNvSpPr/>
          <p:nvPr/>
        </p:nvSpPr>
        <p:spPr>
          <a:xfrm>
            <a:off x="1898809" y="4481036"/>
            <a:ext cx="2373749" cy="296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Apply the Equation</a:t>
            </a:r>
            <a:endParaRPr b="0" i="0" sz="1850" u="none" cap="none" strike="noStrike"/>
          </a:p>
        </p:txBody>
      </p:sp>
      <p:sp>
        <p:nvSpPr>
          <p:cNvPr id="253" name="Google Shape;253;p12"/>
          <p:cNvSpPr/>
          <p:nvPr/>
        </p:nvSpPr>
        <p:spPr>
          <a:xfrm>
            <a:off x="1898809" y="4891564"/>
            <a:ext cx="12066984" cy="303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𝑌= 𝑏0 + 𝑏1𝑋 + ... + 𝑏𝑛𝑋𝑛</a:t>
            </a:r>
            <a:endParaRPr b="0" i="0" sz="1450" u="none" cap="none" strike="noStrike"/>
          </a:p>
        </p:txBody>
      </p:sp>
      <p:pic>
        <p:nvPicPr>
          <p:cNvPr descr="preencoded.png" id="254" name="Google Shape;2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607" y="5430560"/>
            <a:ext cx="949404" cy="113930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2"/>
          <p:cNvSpPr/>
          <p:nvPr/>
        </p:nvSpPr>
        <p:spPr>
          <a:xfrm>
            <a:off x="1898809" y="5620345"/>
            <a:ext cx="2447687" cy="296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Generate Predictions</a:t>
            </a:r>
            <a:endParaRPr b="0" i="0" sz="1850" u="none" cap="none" strike="noStrike"/>
          </a:p>
        </p:txBody>
      </p:sp>
      <p:sp>
        <p:nvSpPr>
          <p:cNvPr id="256" name="Google Shape;256;p12"/>
          <p:cNvSpPr/>
          <p:nvPr/>
        </p:nvSpPr>
        <p:spPr>
          <a:xfrm>
            <a:off x="1898809" y="6030873"/>
            <a:ext cx="12066984" cy="303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Get estimated outcomes</a:t>
            </a:r>
            <a:endParaRPr b="0" i="0" sz="1450" u="none" cap="none" strike="noStrike"/>
          </a:p>
        </p:txBody>
      </p:sp>
      <p:pic>
        <p:nvPicPr>
          <p:cNvPr descr="preencoded.png" id="257" name="Google Shape;2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607" y="6569869"/>
            <a:ext cx="949404" cy="113930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2"/>
          <p:cNvSpPr/>
          <p:nvPr/>
        </p:nvSpPr>
        <p:spPr>
          <a:xfrm>
            <a:off x="1898809" y="6759654"/>
            <a:ext cx="2373749" cy="296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Evaluate Accuracy</a:t>
            </a:r>
            <a:endParaRPr b="0" i="0" sz="1850" u="none" cap="none" strike="noStrike"/>
          </a:p>
        </p:txBody>
      </p:sp>
      <p:sp>
        <p:nvSpPr>
          <p:cNvPr id="259" name="Google Shape;259;p12"/>
          <p:cNvSpPr/>
          <p:nvPr/>
        </p:nvSpPr>
        <p:spPr>
          <a:xfrm>
            <a:off x="1898809" y="7170182"/>
            <a:ext cx="12066984" cy="303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Compare predictions with actual values</a:t>
            </a:r>
            <a:endParaRPr b="0" i="0" sz="1450" u="none" cap="none" strike="noStrike"/>
          </a:p>
        </p:txBody>
      </p:sp>
      <p:pic>
        <p:nvPicPr>
          <p:cNvPr descr="preencoded.png" id="260" name="Google Shape;26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"/>
          <p:cNvSpPr/>
          <p:nvPr/>
        </p:nvSpPr>
        <p:spPr>
          <a:xfrm>
            <a:off x="624245" y="491371"/>
            <a:ext cx="9071253" cy="557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85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500"/>
              <a:buFont typeface="Platypi Medium"/>
              <a:buNone/>
            </a:pPr>
            <a:r>
              <a:rPr b="0" i="0" lang="en-US" sz="35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Common Challenges in Linear Regression</a:t>
            </a:r>
            <a:endParaRPr b="0" i="0" sz="3500" u="none" cap="none" strike="noStrike"/>
          </a:p>
        </p:txBody>
      </p:sp>
      <p:sp>
        <p:nvSpPr>
          <p:cNvPr id="267" name="Google Shape;267;p13"/>
          <p:cNvSpPr/>
          <p:nvPr/>
        </p:nvSpPr>
        <p:spPr>
          <a:xfrm>
            <a:off x="7303770" y="1405533"/>
            <a:ext cx="22860" cy="6332577"/>
          </a:xfrm>
          <a:prstGeom prst="roundRect">
            <a:avLst>
              <a:gd fmla="val 117052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6602313" y="1795343"/>
            <a:ext cx="535067" cy="22860"/>
          </a:xfrm>
          <a:prstGeom prst="roundRect">
            <a:avLst>
              <a:gd fmla="val 117052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7114520" y="1606153"/>
            <a:ext cx="401360" cy="40136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7181374" y="1639550"/>
            <a:ext cx="267533" cy="334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100" u="none" cap="none" strike="noStrike"/>
          </a:p>
        </p:txBody>
      </p:sp>
      <p:sp>
        <p:nvSpPr>
          <p:cNvPr id="271" name="Google Shape;271;p13"/>
          <p:cNvSpPr/>
          <p:nvPr/>
        </p:nvSpPr>
        <p:spPr>
          <a:xfrm>
            <a:off x="4193500" y="1583888"/>
            <a:ext cx="2229803" cy="27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Platypi Medium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Multicollinearity</a:t>
            </a:r>
            <a:endParaRPr b="0" i="0" sz="1750" u="none" cap="none" strike="noStrike"/>
          </a:p>
        </p:txBody>
      </p:sp>
      <p:sp>
        <p:nvSpPr>
          <p:cNvPr id="272" name="Google Shape;272;p13"/>
          <p:cNvSpPr/>
          <p:nvPr/>
        </p:nvSpPr>
        <p:spPr>
          <a:xfrm>
            <a:off x="624245" y="1969532"/>
            <a:ext cx="5799058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Highly correlated independent variables can distort coefficient estimates.</a:t>
            </a:r>
            <a:endParaRPr b="0" i="0" sz="1400" u="none" cap="none" strike="noStrike"/>
          </a:p>
        </p:txBody>
      </p:sp>
      <p:sp>
        <p:nvSpPr>
          <p:cNvPr id="273" name="Google Shape;273;p13"/>
          <p:cNvSpPr/>
          <p:nvPr/>
        </p:nvSpPr>
        <p:spPr>
          <a:xfrm>
            <a:off x="7493020" y="2687241"/>
            <a:ext cx="535067" cy="22860"/>
          </a:xfrm>
          <a:prstGeom prst="roundRect">
            <a:avLst>
              <a:gd fmla="val 117052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7114520" y="2498050"/>
            <a:ext cx="401360" cy="40136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7181374" y="2531447"/>
            <a:ext cx="267533" cy="334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100" u="none" cap="none" strike="noStrike"/>
          </a:p>
        </p:txBody>
      </p:sp>
      <p:sp>
        <p:nvSpPr>
          <p:cNvPr id="276" name="Google Shape;276;p13"/>
          <p:cNvSpPr/>
          <p:nvPr/>
        </p:nvSpPr>
        <p:spPr>
          <a:xfrm>
            <a:off x="8207097" y="2475786"/>
            <a:ext cx="2692956" cy="27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Platypi Medium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Overfitting/Underfitting</a:t>
            </a:r>
            <a:endParaRPr b="0" i="0" sz="1750" u="none" cap="none" strike="noStrike"/>
          </a:p>
        </p:txBody>
      </p:sp>
      <p:sp>
        <p:nvSpPr>
          <p:cNvPr id="277" name="Google Shape;277;p13"/>
          <p:cNvSpPr/>
          <p:nvPr/>
        </p:nvSpPr>
        <p:spPr>
          <a:xfrm>
            <a:off x="8207097" y="2861429"/>
            <a:ext cx="5799058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Overfitting: Model fits training data too well but fails on test data. Underfitting: Model is too simple to capture patterns in data.</a:t>
            </a:r>
            <a:endParaRPr b="0" i="0" sz="1400" u="none" cap="none" strike="noStrike"/>
          </a:p>
        </p:txBody>
      </p:sp>
      <p:sp>
        <p:nvSpPr>
          <p:cNvPr id="278" name="Google Shape;278;p13"/>
          <p:cNvSpPr/>
          <p:nvPr/>
        </p:nvSpPr>
        <p:spPr>
          <a:xfrm>
            <a:off x="6602313" y="3489960"/>
            <a:ext cx="535067" cy="22860"/>
          </a:xfrm>
          <a:prstGeom prst="roundRect">
            <a:avLst>
              <a:gd fmla="val 117052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7114520" y="3300770"/>
            <a:ext cx="401360" cy="40136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7181374" y="3334167"/>
            <a:ext cx="267533" cy="334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100" u="none" cap="none" strike="noStrike"/>
          </a:p>
        </p:txBody>
      </p:sp>
      <p:sp>
        <p:nvSpPr>
          <p:cNvPr id="281" name="Google Shape;281;p13"/>
          <p:cNvSpPr/>
          <p:nvPr/>
        </p:nvSpPr>
        <p:spPr>
          <a:xfrm>
            <a:off x="4193500" y="3278505"/>
            <a:ext cx="2229803" cy="27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Platypi Medium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Outliers</a:t>
            </a:r>
            <a:endParaRPr b="0" i="0" sz="1750" u="none" cap="none" strike="noStrike"/>
          </a:p>
        </p:txBody>
      </p:sp>
      <p:sp>
        <p:nvSpPr>
          <p:cNvPr id="282" name="Google Shape;282;p13"/>
          <p:cNvSpPr/>
          <p:nvPr/>
        </p:nvSpPr>
        <p:spPr>
          <a:xfrm>
            <a:off x="624245" y="3664148"/>
            <a:ext cx="5799058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Extreme values can heavily influence the regression line and coefficients.</a:t>
            </a:r>
            <a:endParaRPr b="0" i="0" sz="1400" u="none" cap="none" strike="noStrike"/>
          </a:p>
        </p:txBody>
      </p:sp>
      <p:sp>
        <p:nvSpPr>
          <p:cNvPr id="283" name="Google Shape;283;p13"/>
          <p:cNvSpPr/>
          <p:nvPr/>
        </p:nvSpPr>
        <p:spPr>
          <a:xfrm>
            <a:off x="7493020" y="4292679"/>
            <a:ext cx="535067" cy="22860"/>
          </a:xfrm>
          <a:prstGeom prst="roundRect">
            <a:avLst>
              <a:gd fmla="val 117052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7114520" y="4103489"/>
            <a:ext cx="401360" cy="40136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7181374" y="4136886"/>
            <a:ext cx="267533" cy="334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100" u="none" cap="none" strike="noStrike"/>
          </a:p>
        </p:txBody>
      </p:sp>
      <p:sp>
        <p:nvSpPr>
          <p:cNvPr id="286" name="Google Shape;286;p13"/>
          <p:cNvSpPr/>
          <p:nvPr/>
        </p:nvSpPr>
        <p:spPr>
          <a:xfrm>
            <a:off x="8207097" y="4081224"/>
            <a:ext cx="2229803" cy="27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Platypi Medium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Non-Linearity</a:t>
            </a:r>
            <a:endParaRPr b="0" i="0" sz="1750" u="none" cap="none" strike="noStrike"/>
          </a:p>
        </p:txBody>
      </p:sp>
      <p:sp>
        <p:nvSpPr>
          <p:cNvPr id="287" name="Google Shape;287;p13"/>
          <p:cNvSpPr/>
          <p:nvPr/>
        </p:nvSpPr>
        <p:spPr>
          <a:xfrm>
            <a:off x="8207097" y="4466868"/>
            <a:ext cx="5799058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Assumes a linear relationship between features and target; fails if the relationship is non-linear.</a:t>
            </a:r>
            <a:endParaRPr b="0" i="0" sz="1400" u="none" cap="none" strike="noStrike"/>
          </a:p>
        </p:txBody>
      </p:sp>
      <p:sp>
        <p:nvSpPr>
          <p:cNvPr id="288" name="Google Shape;288;p13"/>
          <p:cNvSpPr/>
          <p:nvPr/>
        </p:nvSpPr>
        <p:spPr>
          <a:xfrm>
            <a:off x="6602313" y="5095399"/>
            <a:ext cx="535067" cy="22860"/>
          </a:xfrm>
          <a:prstGeom prst="roundRect">
            <a:avLst>
              <a:gd fmla="val 117052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7114520" y="4906208"/>
            <a:ext cx="401360" cy="40136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7181374" y="4939605"/>
            <a:ext cx="267533" cy="334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5</a:t>
            </a:r>
            <a:endParaRPr b="0" i="0" sz="2100" u="none" cap="none" strike="noStrike"/>
          </a:p>
        </p:txBody>
      </p:sp>
      <p:sp>
        <p:nvSpPr>
          <p:cNvPr id="291" name="Google Shape;291;p13"/>
          <p:cNvSpPr/>
          <p:nvPr/>
        </p:nvSpPr>
        <p:spPr>
          <a:xfrm>
            <a:off x="4193500" y="4883944"/>
            <a:ext cx="2229803" cy="27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Platypi Medium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Heteroscedasticity</a:t>
            </a:r>
            <a:endParaRPr b="0" i="0" sz="1750" u="none" cap="none" strike="noStrike"/>
          </a:p>
        </p:txBody>
      </p:sp>
      <p:sp>
        <p:nvSpPr>
          <p:cNvPr id="292" name="Google Shape;292;p13"/>
          <p:cNvSpPr/>
          <p:nvPr/>
        </p:nvSpPr>
        <p:spPr>
          <a:xfrm>
            <a:off x="624245" y="5269587"/>
            <a:ext cx="5799058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Variance of residuals isn't constant, violating the assumption of homoscedasticity.</a:t>
            </a:r>
            <a:endParaRPr b="0" i="0" sz="1400" u="none" cap="none" strike="noStrike"/>
          </a:p>
        </p:txBody>
      </p:sp>
      <p:sp>
        <p:nvSpPr>
          <p:cNvPr id="293" name="Google Shape;293;p13"/>
          <p:cNvSpPr/>
          <p:nvPr/>
        </p:nvSpPr>
        <p:spPr>
          <a:xfrm>
            <a:off x="7493020" y="5898118"/>
            <a:ext cx="535067" cy="22860"/>
          </a:xfrm>
          <a:prstGeom prst="roundRect">
            <a:avLst>
              <a:gd fmla="val 117052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7114520" y="5708928"/>
            <a:ext cx="401360" cy="40136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7181374" y="5742325"/>
            <a:ext cx="267533" cy="334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6</a:t>
            </a:r>
            <a:endParaRPr b="0" i="0" sz="2100" u="none" cap="none" strike="noStrike"/>
          </a:p>
        </p:txBody>
      </p:sp>
      <p:sp>
        <p:nvSpPr>
          <p:cNvPr id="296" name="Google Shape;296;p13"/>
          <p:cNvSpPr/>
          <p:nvPr/>
        </p:nvSpPr>
        <p:spPr>
          <a:xfrm>
            <a:off x="8207097" y="5686663"/>
            <a:ext cx="2229803" cy="27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Platypi Medium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Autocorrelation</a:t>
            </a:r>
            <a:endParaRPr b="0" i="0" sz="1750" u="none" cap="none" strike="noStrike"/>
          </a:p>
        </p:txBody>
      </p:sp>
      <p:sp>
        <p:nvSpPr>
          <p:cNvPr id="297" name="Google Shape;297;p13"/>
          <p:cNvSpPr/>
          <p:nvPr/>
        </p:nvSpPr>
        <p:spPr>
          <a:xfrm>
            <a:off x="8207097" y="6072307"/>
            <a:ext cx="5799058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Residuals are correlated, common in time-series data.</a:t>
            </a:r>
            <a:endParaRPr b="0" i="0" sz="1400" u="none" cap="none" strike="noStrike"/>
          </a:p>
        </p:txBody>
      </p:sp>
      <p:sp>
        <p:nvSpPr>
          <p:cNvPr id="298" name="Google Shape;298;p13"/>
          <p:cNvSpPr/>
          <p:nvPr/>
        </p:nvSpPr>
        <p:spPr>
          <a:xfrm>
            <a:off x="6602313" y="6700838"/>
            <a:ext cx="535067" cy="22860"/>
          </a:xfrm>
          <a:prstGeom prst="roundRect">
            <a:avLst>
              <a:gd fmla="val 117052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7114520" y="6511647"/>
            <a:ext cx="401360" cy="40136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7181374" y="6545044"/>
            <a:ext cx="267533" cy="334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7</a:t>
            </a:r>
            <a:endParaRPr b="0" i="0" sz="2100" u="none" cap="none" strike="noStrike"/>
          </a:p>
        </p:txBody>
      </p:sp>
      <p:sp>
        <p:nvSpPr>
          <p:cNvPr id="301" name="Google Shape;301;p13"/>
          <p:cNvSpPr/>
          <p:nvPr/>
        </p:nvSpPr>
        <p:spPr>
          <a:xfrm>
            <a:off x="4193500" y="6489383"/>
            <a:ext cx="2229803" cy="27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Platypi Medium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Feature Scaling</a:t>
            </a:r>
            <a:endParaRPr b="0" i="0" sz="1750" u="none" cap="none" strike="noStrike"/>
          </a:p>
        </p:txBody>
      </p:sp>
      <p:sp>
        <p:nvSpPr>
          <p:cNvPr id="302" name="Google Shape;302;p13"/>
          <p:cNvSpPr/>
          <p:nvPr/>
        </p:nvSpPr>
        <p:spPr>
          <a:xfrm>
            <a:off x="624245" y="6875026"/>
            <a:ext cx="5799058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Large differences in feature scales can affect gradient descent convergence.</a:t>
            </a:r>
            <a:endParaRPr b="0" i="0" sz="1400" u="none" cap="none" strike="noStrike"/>
          </a:p>
        </p:txBody>
      </p:sp>
      <p:pic>
        <p:nvPicPr>
          <p:cNvPr descr="preencoded.png" id="303" name="Google Shape;3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"/>
          <p:cNvSpPr/>
          <p:nvPr/>
        </p:nvSpPr>
        <p:spPr>
          <a:xfrm>
            <a:off x="793790" y="1947743"/>
            <a:ext cx="1066883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Feature Engineering for Better Results</a:t>
            </a:r>
            <a:endParaRPr b="0" i="0" sz="4450" u="none" cap="none" strike="noStrike"/>
          </a:p>
        </p:txBody>
      </p:sp>
      <p:sp>
        <p:nvSpPr>
          <p:cNvPr id="310" name="Google Shape;310;p14"/>
          <p:cNvSpPr/>
          <p:nvPr/>
        </p:nvSpPr>
        <p:spPr>
          <a:xfrm>
            <a:off x="793790" y="2996684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Improve model performance by scaling features to a common range.</a:t>
            </a:r>
            <a:endParaRPr b="0" i="0" sz="1750" u="none" cap="none" strike="noStrike"/>
          </a:p>
        </p:txBody>
      </p:sp>
      <p:pic>
        <p:nvPicPr>
          <p:cNvPr descr="preencoded.png" id="311" name="Google Shape;31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4632" y="3614738"/>
            <a:ext cx="11001137" cy="2667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2" name="Google Shape;3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"/>
          <p:cNvSpPr/>
          <p:nvPr/>
        </p:nvSpPr>
        <p:spPr>
          <a:xfrm>
            <a:off x="583406" y="459700"/>
            <a:ext cx="4960263" cy="521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53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250"/>
              <a:buFont typeface="Platypi Medium"/>
              <a:buNone/>
            </a:pPr>
            <a:r>
              <a:rPr b="0" i="0" lang="en-US" sz="32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Implementation in Code</a:t>
            </a:r>
            <a:endParaRPr b="0" i="0" sz="3250" u="none" cap="none" strike="noStrike"/>
          </a:p>
        </p:txBody>
      </p:sp>
      <p:sp>
        <p:nvSpPr>
          <p:cNvPr id="319" name="Google Shape;319;p15"/>
          <p:cNvSpPr/>
          <p:nvPr/>
        </p:nvSpPr>
        <p:spPr>
          <a:xfrm>
            <a:off x="583406" y="1314093"/>
            <a:ext cx="134635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Steps to apply Linear Regression in Python:</a:t>
            </a:r>
            <a:endParaRPr b="0" i="0" sz="1300" u="none" cap="none" strike="noStrike"/>
          </a:p>
        </p:txBody>
      </p:sp>
      <p:pic>
        <p:nvPicPr>
          <p:cNvPr descr="preencoded.png" id="320" name="Google Shape;3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406" y="1768316"/>
            <a:ext cx="833557" cy="1000244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5"/>
          <p:cNvSpPr/>
          <p:nvPr/>
        </p:nvSpPr>
        <p:spPr>
          <a:xfrm>
            <a:off x="1666994" y="1935004"/>
            <a:ext cx="2083951" cy="26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Platypi Medium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Load dataset</a:t>
            </a:r>
            <a:endParaRPr b="0" i="0" sz="1600" u="none" cap="none" strike="noStrike"/>
          </a:p>
        </p:txBody>
      </p:sp>
      <p:sp>
        <p:nvSpPr>
          <p:cNvPr id="322" name="Google Shape;322;p15"/>
          <p:cNvSpPr/>
          <p:nvPr/>
        </p:nvSpPr>
        <p:spPr>
          <a:xfrm>
            <a:off x="1666994" y="2295406"/>
            <a:ext cx="1238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Import and prepare your data source</a:t>
            </a:r>
            <a:endParaRPr b="0" i="0" sz="1300" u="none" cap="none" strike="noStrike"/>
          </a:p>
        </p:txBody>
      </p:sp>
      <p:pic>
        <p:nvPicPr>
          <p:cNvPr descr="preencoded.png" id="323" name="Google Shape;3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406" y="2768560"/>
            <a:ext cx="833557" cy="100024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5"/>
          <p:cNvSpPr/>
          <p:nvPr/>
        </p:nvSpPr>
        <p:spPr>
          <a:xfrm>
            <a:off x="1666994" y="2935248"/>
            <a:ext cx="2083951" cy="26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Platypi Medium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Preprocess data</a:t>
            </a:r>
            <a:endParaRPr b="0" i="0" sz="1600" u="none" cap="none" strike="noStrike"/>
          </a:p>
        </p:txBody>
      </p:sp>
      <p:sp>
        <p:nvSpPr>
          <p:cNvPr id="325" name="Google Shape;325;p15"/>
          <p:cNvSpPr/>
          <p:nvPr/>
        </p:nvSpPr>
        <p:spPr>
          <a:xfrm>
            <a:off x="1666994" y="3295650"/>
            <a:ext cx="1238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Clean, normalize, and prepare variables</a:t>
            </a:r>
            <a:endParaRPr b="0" i="0" sz="1300" u="none" cap="none" strike="noStrike"/>
          </a:p>
        </p:txBody>
      </p:sp>
      <p:pic>
        <p:nvPicPr>
          <p:cNvPr descr="preencoded.png" id="326" name="Google Shape;3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3406" y="3768804"/>
            <a:ext cx="833557" cy="1000244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5"/>
          <p:cNvSpPr/>
          <p:nvPr/>
        </p:nvSpPr>
        <p:spPr>
          <a:xfrm>
            <a:off x="1666994" y="3935492"/>
            <a:ext cx="2838093" cy="26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Platypi Medium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Split into training &amp; testing</a:t>
            </a:r>
            <a:endParaRPr b="0" i="0" sz="1600" u="none" cap="none" strike="noStrike"/>
          </a:p>
        </p:txBody>
      </p:sp>
      <p:sp>
        <p:nvSpPr>
          <p:cNvPr id="328" name="Google Shape;328;p15"/>
          <p:cNvSpPr/>
          <p:nvPr/>
        </p:nvSpPr>
        <p:spPr>
          <a:xfrm>
            <a:off x="1666994" y="4295894"/>
            <a:ext cx="1238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 separate datasets for model training and evaluation</a:t>
            </a:r>
            <a:endParaRPr b="0" i="0" sz="1300" u="none" cap="none" strike="noStrike"/>
          </a:p>
        </p:txBody>
      </p:sp>
      <p:pic>
        <p:nvPicPr>
          <p:cNvPr descr="preencoded.png" id="329" name="Google Shape;32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3406" y="4769048"/>
            <a:ext cx="833557" cy="1000244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5"/>
          <p:cNvSpPr/>
          <p:nvPr/>
        </p:nvSpPr>
        <p:spPr>
          <a:xfrm>
            <a:off x="1666994" y="4935736"/>
            <a:ext cx="3158847" cy="26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Platypi Medium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Apply Linear Regression model</a:t>
            </a:r>
            <a:endParaRPr b="0" i="0" sz="1600" u="none" cap="none" strike="noStrike"/>
          </a:p>
        </p:txBody>
      </p:sp>
      <p:sp>
        <p:nvSpPr>
          <p:cNvPr id="331" name="Google Shape;331;p15"/>
          <p:cNvSpPr/>
          <p:nvPr/>
        </p:nvSpPr>
        <p:spPr>
          <a:xfrm>
            <a:off x="1666994" y="5296138"/>
            <a:ext cx="1238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Fit the model to your training data</a:t>
            </a:r>
            <a:endParaRPr b="0" i="0" sz="1300" u="none" cap="none" strike="noStrike"/>
          </a:p>
        </p:txBody>
      </p:sp>
      <p:pic>
        <p:nvPicPr>
          <p:cNvPr descr="preencoded.png" id="332" name="Google Shape;3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406" y="5769293"/>
            <a:ext cx="833557" cy="100024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5"/>
          <p:cNvSpPr/>
          <p:nvPr/>
        </p:nvSpPr>
        <p:spPr>
          <a:xfrm>
            <a:off x="1666994" y="5935980"/>
            <a:ext cx="2083951" cy="26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Platypi Medium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Check results</a:t>
            </a:r>
            <a:endParaRPr b="0" i="0" sz="1600" u="none" cap="none" strike="noStrike"/>
          </a:p>
        </p:txBody>
      </p:sp>
      <p:sp>
        <p:nvSpPr>
          <p:cNvPr id="334" name="Google Shape;334;p15"/>
          <p:cNvSpPr/>
          <p:nvPr/>
        </p:nvSpPr>
        <p:spPr>
          <a:xfrm>
            <a:off x="1666994" y="6296382"/>
            <a:ext cx="1238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Evaluate performance using statistical metrics</a:t>
            </a:r>
            <a:endParaRPr b="0" i="0" sz="1300" u="none" cap="none" strike="noStrike"/>
          </a:p>
        </p:txBody>
      </p:sp>
      <p:pic>
        <p:nvPicPr>
          <p:cNvPr descr="preencoded.png" id="335" name="Google Shape;33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406" y="6769537"/>
            <a:ext cx="833557" cy="1000244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5"/>
          <p:cNvSpPr/>
          <p:nvPr/>
        </p:nvSpPr>
        <p:spPr>
          <a:xfrm>
            <a:off x="1666994" y="6936224"/>
            <a:ext cx="2133005" cy="26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Platypi Medium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Visualize predictions</a:t>
            </a:r>
            <a:endParaRPr b="0" i="0" sz="1600" u="none" cap="none" strike="noStrike"/>
          </a:p>
        </p:txBody>
      </p:sp>
      <p:sp>
        <p:nvSpPr>
          <p:cNvPr id="337" name="Google Shape;337;p15"/>
          <p:cNvSpPr/>
          <p:nvPr/>
        </p:nvSpPr>
        <p:spPr>
          <a:xfrm>
            <a:off x="1666994" y="7296626"/>
            <a:ext cx="1238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 plots to interpret model predictions</a:t>
            </a:r>
            <a:endParaRPr b="0" i="0" sz="1300" u="none" cap="none" strike="noStrike"/>
          </a:p>
        </p:txBody>
      </p:sp>
      <p:pic>
        <p:nvPicPr>
          <p:cNvPr descr="preencoded.png" id="338" name="Google Shape;33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6"/>
          <p:cNvSpPr/>
          <p:nvPr/>
        </p:nvSpPr>
        <p:spPr>
          <a:xfrm>
            <a:off x="793790" y="1992749"/>
            <a:ext cx="654236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Train-Test Split in Code</a:t>
            </a:r>
            <a:endParaRPr b="0" i="0" sz="4450" u="none" cap="none" strike="noStrike"/>
          </a:p>
        </p:txBody>
      </p:sp>
      <p:sp>
        <p:nvSpPr>
          <p:cNvPr id="345" name="Google Shape;345;p16"/>
          <p:cNvSpPr/>
          <p:nvPr/>
        </p:nvSpPr>
        <p:spPr>
          <a:xfrm>
            <a:off x="793790" y="315515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essential function for properly evaluating machine learning models:</a:t>
            </a:r>
            <a:endParaRPr b="0" i="0" sz="1750" u="none" cap="none" strike="noStrike"/>
          </a:p>
        </p:txBody>
      </p:sp>
      <p:sp>
        <p:nvSpPr>
          <p:cNvPr id="346" name="Google Shape;346;p16"/>
          <p:cNvSpPr/>
          <p:nvPr/>
        </p:nvSpPr>
        <p:spPr>
          <a:xfrm>
            <a:off x="793790" y="4453652"/>
            <a:ext cx="4120753" cy="226814"/>
          </a:xfrm>
          <a:prstGeom prst="roundRect">
            <a:avLst>
              <a:gd fmla="val 15001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793790" y="502062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Import Function</a:t>
            </a:r>
            <a:endParaRPr b="0" i="0" sz="2200" u="none" cap="none" strike="noStrike"/>
          </a:p>
        </p:txBody>
      </p:sp>
      <p:sp>
        <p:nvSpPr>
          <p:cNvPr id="348" name="Google Shape;348;p16"/>
          <p:cNvSpPr/>
          <p:nvPr/>
        </p:nvSpPr>
        <p:spPr>
          <a:xfrm>
            <a:off x="793790" y="5511046"/>
            <a:ext cx="41207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train_test_split(X, y, test_size=0.2, random_state=42)</a:t>
            </a:r>
            <a:endParaRPr b="0" i="0" sz="1750" u="none" cap="none" strike="noStrike"/>
          </a:p>
        </p:txBody>
      </p:sp>
      <p:sp>
        <p:nvSpPr>
          <p:cNvPr id="349" name="Google Shape;349;p16"/>
          <p:cNvSpPr/>
          <p:nvPr/>
        </p:nvSpPr>
        <p:spPr>
          <a:xfrm>
            <a:off x="5254704" y="4113371"/>
            <a:ext cx="4120872" cy="226814"/>
          </a:xfrm>
          <a:prstGeom prst="roundRect">
            <a:avLst>
              <a:gd fmla="val 15001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5254704" y="46803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Split Your Data</a:t>
            </a:r>
            <a:endParaRPr b="0" i="0" sz="2200" u="none" cap="none" strike="noStrike"/>
          </a:p>
        </p:txBody>
      </p:sp>
      <p:sp>
        <p:nvSpPr>
          <p:cNvPr id="351" name="Google Shape;351;p16"/>
          <p:cNvSpPr/>
          <p:nvPr/>
        </p:nvSpPr>
        <p:spPr>
          <a:xfrm>
            <a:off x="5254704" y="5170765"/>
            <a:ext cx="412087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Divides dataset into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training (80%) and testing (20%)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portions</a:t>
            </a:r>
            <a:endParaRPr b="0" i="0" sz="1750" u="none" cap="none" strike="noStrike"/>
          </a:p>
        </p:txBody>
      </p:sp>
      <p:sp>
        <p:nvSpPr>
          <p:cNvPr id="352" name="Google Shape;352;p16"/>
          <p:cNvSpPr/>
          <p:nvPr/>
        </p:nvSpPr>
        <p:spPr>
          <a:xfrm>
            <a:off x="9715738" y="3773210"/>
            <a:ext cx="4120872" cy="226814"/>
          </a:xfrm>
          <a:prstGeom prst="roundRect">
            <a:avLst>
              <a:gd fmla="val 15001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9715738" y="4340185"/>
            <a:ext cx="312110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Ensure Fair Evaluation</a:t>
            </a:r>
            <a:endParaRPr b="0" i="0" sz="2200" u="none" cap="none" strike="noStrike"/>
          </a:p>
        </p:txBody>
      </p:sp>
      <p:sp>
        <p:nvSpPr>
          <p:cNvPr id="354" name="Google Shape;354;p16"/>
          <p:cNvSpPr/>
          <p:nvPr/>
        </p:nvSpPr>
        <p:spPr>
          <a:xfrm>
            <a:off x="9715738" y="4830604"/>
            <a:ext cx="412087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Guarantees model is trained and tested on different data samples</a:t>
            </a:r>
            <a:endParaRPr b="0" i="0" sz="1750" u="none" cap="none" strike="noStrike"/>
          </a:p>
        </p:txBody>
      </p:sp>
      <p:pic>
        <p:nvPicPr>
          <p:cNvPr descr="preencoded.png" id="355" name="Google Shape;3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7"/>
          <p:cNvSpPr/>
          <p:nvPr/>
        </p:nvSpPr>
        <p:spPr>
          <a:xfrm>
            <a:off x="793790" y="1639491"/>
            <a:ext cx="946856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Applying Linear Regression Model</a:t>
            </a:r>
            <a:endParaRPr b="0" i="0" sz="4450" u="none" cap="none" strike="noStrike"/>
          </a:p>
        </p:txBody>
      </p:sp>
      <p:sp>
        <p:nvSpPr>
          <p:cNvPr id="362" name="Google Shape;362;p17"/>
          <p:cNvSpPr/>
          <p:nvPr/>
        </p:nvSpPr>
        <p:spPr>
          <a:xfrm>
            <a:off x="793790" y="2801898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750" u="none" cap="none" strike="noStrike"/>
          </a:p>
        </p:txBody>
      </p:sp>
      <p:sp>
        <p:nvSpPr>
          <p:cNvPr id="363" name="Google Shape;363;p17"/>
          <p:cNvSpPr/>
          <p:nvPr/>
        </p:nvSpPr>
        <p:spPr>
          <a:xfrm>
            <a:off x="793790" y="3419951"/>
            <a:ext cx="13042821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model = LinearRegression()   </a:t>
            </a:r>
            <a:endParaRPr b="0" i="0" sz="1750" u="none" cap="none" strike="noStrike"/>
          </a:p>
        </p:txBody>
      </p:sp>
      <p:sp>
        <p:nvSpPr>
          <p:cNvPr id="364" name="Google Shape;364;p17"/>
          <p:cNvSpPr/>
          <p:nvPr/>
        </p:nvSpPr>
        <p:spPr>
          <a:xfrm>
            <a:off x="793790" y="4060865"/>
            <a:ext cx="13042821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model.fit(X_train, y_train)   </a:t>
            </a:r>
            <a:endParaRPr b="0" i="0" sz="1750" u="none" cap="none" strike="noStrike"/>
          </a:p>
        </p:txBody>
      </p:sp>
      <p:sp>
        <p:nvSpPr>
          <p:cNvPr id="365" name="Google Shape;365;p17"/>
          <p:cNvSpPr/>
          <p:nvPr/>
        </p:nvSpPr>
        <p:spPr>
          <a:xfrm>
            <a:off x="793790" y="4701778"/>
            <a:ext cx="13042821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y_pred = model.predict(X_test)  </a:t>
            </a:r>
            <a:endParaRPr b="0" i="0" sz="1750" u="none" cap="none" strike="noStrike"/>
          </a:p>
        </p:txBody>
      </p:sp>
      <p:sp>
        <p:nvSpPr>
          <p:cNvPr id="366" name="Google Shape;366;p17"/>
          <p:cNvSpPr/>
          <p:nvPr/>
        </p:nvSpPr>
        <p:spPr>
          <a:xfrm>
            <a:off x="793790" y="5342692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X_train, Y_train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Training data</a:t>
            </a:r>
            <a:endParaRPr b="0" i="0" sz="1750" u="none" cap="none" strike="noStrike"/>
          </a:p>
        </p:txBody>
      </p:sp>
      <p:sp>
        <p:nvSpPr>
          <p:cNvPr id="367" name="Google Shape;367;p17"/>
          <p:cNvSpPr/>
          <p:nvPr/>
        </p:nvSpPr>
        <p:spPr>
          <a:xfrm>
            <a:off x="793790" y="578489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X_test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Used for prediction</a:t>
            </a:r>
            <a:endParaRPr b="0" i="0" sz="1750" u="none" cap="none" strike="noStrike"/>
          </a:p>
        </p:txBody>
      </p:sp>
      <p:sp>
        <p:nvSpPr>
          <p:cNvPr id="368" name="Google Shape;368;p17"/>
          <p:cNvSpPr/>
          <p:nvPr/>
        </p:nvSpPr>
        <p:spPr>
          <a:xfrm>
            <a:off x="793790" y="6227088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y_pred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Model’s predicted values</a:t>
            </a:r>
            <a:endParaRPr b="0" i="0" sz="1750" u="none" cap="none" strike="noStrike"/>
          </a:p>
        </p:txBody>
      </p:sp>
      <p:pic>
        <p:nvPicPr>
          <p:cNvPr descr="preencoded.png" id="369" name="Google Shape;3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8"/>
          <p:cNvSpPr/>
          <p:nvPr/>
        </p:nvSpPr>
        <p:spPr>
          <a:xfrm>
            <a:off x="786527" y="618053"/>
            <a:ext cx="8098631" cy="702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00"/>
              <a:buFont typeface="Platypi Medium"/>
              <a:buNone/>
            </a:pPr>
            <a:r>
              <a:rPr b="0" i="0" lang="en-US" sz="44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Checking Model Performance</a:t>
            </a:r>
            <a:endParaRPr b="0" i="0" sz="4400" u="none" cap="none" strike="noStrike"/>
          </a:p>
        </p:txBody>
      </p:sp>
      <p:sp>
        <p:nvSpPr>
          <p:cNvPr id="376" name="Google Shape;376;p18"/>
          <p:cNvSpPr/>
          <p:nvPr/>
        </p:nvSpPr>
        <p:spPr>
          <a:xfrm>
            <a:off x="786527" y="1769745"/>
            <a:ext cx="13057346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y_test vs. y_pred</a:t>
            </a:r>
            <a:endParaRPr b="0" i="0" sz="1750" u="none" cap="none" strike="noStrike"/>
          </a:p>
        </p:txBody>
      </p:sp>
      <p:sp>
        <p:nvSpPr>
          <p:cNvPr id="377" name="Google Shape;377;p18"/>
          <p:cNvSpPr/>
          <p:nvPr/>
        </p:nvSpPr>
        <p:spPr>
          <a:xfrm>
            <a:off x="786527" y="2207895"/>
            <a:ext cx="13057346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Minimize error</a:t>
            </a:r>
            <a:endParaRPr b="0" i="0" sz="1750" u="none" cap="none" strike="noStrike"/>
          </a:p>
        </p:txBody>
      </p:sp>
      <p:sp>
        <p:nvSpPr>
          <p:cNvPr id="378" name="Google Shape;378;p18"/>
          <p:cNvSpPr/>
          <p:nvPr/>
        </p:nvSpPr>
        <p:spPr>
          <a:xfrm>
            <a:off x="786527" y="2646045"/>
            <a:ext cx="13057346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Check coefficients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 </a:t>
            </a:r>
            <a:endParaRPr b="0" i="0" sz="1750" u="none" cap="none" strike="noStrike"/>
          </a:p>
        </p:txBody>
      </p:sp>
      <p:sp>
        <p:nvSpPr>
          <p:cNvPr id="379" name="Google Shape;379;p18"/>
          <p:cNvSpPr/>
          <p:nvPr/>
        </p:nvSpPr>
        <p:spPr>
          <a:xfrm>
            <a:off x="786527" y="3258383"/>
            <a:ext cx="13057346" cy="382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print(model.coef_)  </a:t>
            </a:r>
            <a:endParaRPr b="0" i="0" sz="1750" u="none" cap="none" strike="noStrike"/>
          </a:p>
        </p:txBody>
      </p:sp>
      <p:sp>
        <p:nvSpPr>
          <p:cNvPr id="380" name="Google Shape;380;p18"/>
          <p:cNvSpPr/>
          <p:nvPr/>
        </p:nvSpPr>
        <p:spPr>
          <a:xfrm>
            <a:off x="786527" y="3893582"/>
            <a:ext cx="13057346" cy="382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print(model.intercept_)  </a:t>
            </a:r>
            <a:endParaRPr b="0" i="0" sz="1750" u="none" cap="none" strike="noStrike"/>
          </a:p>
        </p:txBody>
      </p:sp>
      <p:sp>
        <p:nvSpPr>
          <p:cNvPr id="381" name="Google Shape;381;p18"/>
          <p:cNvSpPr/>
          <p:nvPr/>
        </p:nvSpPr>
        <p:spPr>
          <a:xfrm>
            <a:off x="786527" y="4613077"/>
            <a:ext cx="6017657" cy="421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650"/>
              <a:buFont typeface="Platypi Medium"/>
              <a:buNone/>
            </a:pPr>
            <a:r>
              <a:rPr b="1" i="0" lang="en-US" sz="26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Making Predictions with New Data</a:t>
            </a:r>
            <a:endParaRPr b="0" i="0" sz="2650" u="none" cap="none" strike="noStrike"/>
          </a:p>
        </p:txBody>
      </p:sp>
      <p:sp>
        <p:nvSpPr>
          <p:cNvPr id="382" name="Google Shape;382;p18"/>
          <p:cNvSpPr/>
          <p:nvPr/>
        </p:nvSpPr>
        <p:spPr>
          <a:xfrm>
            <a:off x="786527" y="5371386"/>
            <a:ext cx="13057346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Predict salary based on age</a:t>
            </a:r>
            <a:endParaRPr b="0" i="0" sz="1750" u="none" cap="none" strike="noStrike"/>
          </a:p>
        </p:txBody>
      </p:sp>
      <p:sp>
        <p:nvSpPr>
          <p:cNvPr id="383" name="Google Shape;383;p18"/>
          <p:cNvSpPr/>
          <p:nvPr/>
        </p:nvSpPr>
        <p:spPr>
          <a:xfrm>
            <a:off x="786527" y="5983724"/>
            <a:ext cx="13057346" cy="382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new_ages = [[25], [30], [35]]   </a:t>
            </a:r>
            <a:endParaRPr b="0" i="0" sz="1750" u="none" cap="none" strike="noStrike"/>
          </a:p>
        </p:txBody>
      </p:sp>
      <p:sp>
        <p:nvSpPr>
          <p:cNvPr id="384" name="Google Shape;384;p18"/>
          <p:cNvSpPr/>
          <p:nvPr/>
        </p:nvSpPr>
        <p:spPr>
          <a:xfrm>
            <a:off x="786527" y="6618923"/>
            <a:ext cx="13057346" cy="382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new_salaries = model.predict(new_ages)  </a:t>
            </a:r>
            <a:endParaRPr b="0" i="0" sz="1750" u="none" cap="none" strike="noStrike"/>
          </a:p>
        </p:txBody>
      </p:sp>
      <p:sp>
        <p:nvSpPr>
          <p:cNvPr id="385" name="Google Shape;385;p18"/>
          <p:cNvSpPr/>
          <p:nvPr/>
        </p:nvSpPr>
        <p:spPr>
          <a:xfrm>
            <a:off x="786527" y="7254121"/>
            <a:ext cx="13057346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Model predicts salary for new ages</a:t>
            </a:r>
            <a:endParaRPr b="0" i="0" sz="1750" u="none" cap="none" strike="noStrike"/>
          </a:p>
        </p:txBody>
      </p:sp>
      <p:pic>
        <p:nvPicPr>
          <p:cNvPr descr="preencoded.png" id="386" name="Google Shape;3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"/>
          <p:cNvSpPr/>
          <p:nvPr/>
        </p:nvSpPr>
        <p:spPr>
          <a:xfrm>
            <a:off x="793790" y="103310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Summary</a:t>
            </a:r>
            <a:endParaRPr b="0" i="0" sz="4450" u="none" cap="none" strike="noStrike"/>
          </a:p>
        </p:txBody>
      </p:sp>
      <p:sp>
        <p:nvSpPr>
          <p:cNvPr id="393" name="Google Shape;393;p19"/>
          <p:cNvSpPr/>
          <p:nvPr/>
        </p:nvSpPr>
        <p:spPr>
          <a:xfrm>
            <a:off x="793790" y="233719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9"/>
          <p:cNvSpPr/>
          <p:nvPr/>
        </p:nvSpPr>
        <p:spPr>
          <a:xfrm>
            <a:off x="1530906" y="2337197"/>
            <a:ext cx="370486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Linear Regression Concept</a:t>
            </a:r>
            <a:endParaRPr b="0" i="0" sz="2200" u="none" cap="none" strike="noStrike"/>
          </a:p>
        </p:txBody>
      </p:sp>
      <p:sp>
        <p:nvSpPr>
          <p:cNvPr id="395" name="Google Shape;395;p19"/>
          <p:cNvSpPr/>
          <p:nvPr/>
        </p:nvSpPr>
        <p:spPr>
          <a:xfrm>
            <a:off x="1530906" y="2827615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Finding relationship between variables using a straight line.</a:t>
            </a:r>
            <a:endParaRPr b="0" i="0" sz="1750" u="none" cap="none" strike="noStrike"/>
          </a:p>
        </p:txBody>
      </p:sp>
      <p:sp>
        <p:nvSpPr>
          <p:cNvPr id="396" name="Google Shape;396;p19"/>
          <p:cNvSpPr/>
          <p:nvPr/>
        </p:nvSpPr>
        <p:spPr>
          <a:xfrm>
            <a:off x="793790" y="367248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9"/>
          <p:cNvSpPr/>
          <p:nvPr/>
        </p:nvSpPr>
        <p:spPr>
          <a:xfrm>
            <a:off x="1530906" y="3672483"/>
            <a:ext cx="316444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Mathematical Formula</a:t>
            </a:r>
            <a:endParaRPr b="0" i="0" sz="2200" u="none" cap="none" strike="noStrike"/>
          </a:p>
        </p:txBody>
      </p:sp>
      <p:sp>
        <p:nvSpPr>
          <p:cNvPr id="398" name="Google Shape;398;p19"/>
          <p:cNvSpPr/>
          <p:nvPr/>
        </p:nvSpPr>
        <p:spPr>
          <a:xfrm>
            <a:off x="1530906" y="4162901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y = mx + b, where m is slope and b is intercept.</a:t>
            </a:r>
            <a:endParaRPr b="0" i="0" sz="1750" u="none" cap="none" strike="noStrike"/>
          </a:p>
        </p:txBody>
      </p:sp>
      <p:sp>
        <p:nvSpPr>
          <p:cNvPr id="399" name="Google Shape;399;p19"/>
          <p:cNvSpPr/>
          <p:nvPr/>
        </p:nvSpPr>
        <p:spPr>
          <a:xfrm>
            <a:off x="793790" y="500776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9"/>
          <p:cNvSpPr/>
          <p:nvPr/>
        </p:nvSpPr>
        <p:spPr>
          <a:xfrm>
            <a:off x="1530906" y="50077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Key Assumptions</a:t>
            </a:r>
            <a:endParaRPr b="0" i="0" sz="2200" u="none" cap="none" strike="noStrike"/>
          </a:p>
        </p:txBody>
      </p:sp>
      <p:sp>
        <p:nvSpPr>
          <p:cNvPr id="401" name="Google Shape;401;p19"/>
          <p:cNvSpPr/>
          <p:nvPr/>
        </p:nvSpPr>
        <p:spPr>
          <a:xfrm>
            <a:off x="1530906" y="5498187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Linearity, independence, homoscedasticity, normality, no multicollinearity.</a:t>
            </a:r>
            <a:endParaRPr b="0" i="0" sz="1750" u="none" cap="none" strike="noStrike"/>
          </a:p>
        </p:txBody>
      </p:sp>
      <p:sp>
        <p:nvSpPr>
          <p:cNvPr id="402" name="Google Shape;402;p19"/>
          <p:cNvSpPr/>
          <p:nvPr/>
        </p:nvSpPr>
        <p:spPr>
          <a:xfrm>
            <a:off x="793790" y="634305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9"/>
          <p:cNvSpPr/>
          <p:nvPr/>
        </p:nvSpPr>
        <p:spPr>
          <a:xfrm>
            <a:off x="1530906" y="6343055"/>
            <a:ext cx="334244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Python Implementation</a:t>
            </a:r>
            <a:endParaRPr b="0" i="0" sz="2200" u="none" cap="none" strike="noStrike"/>
          </a:p>
        </p:txBody>
      </p:sp>
      <p:sp>
        <p:nvSpPr>
          <p:cNvPr id="404" name="Google Shape;404;p19"/>
          <p:cNvSpPr/>
          <p:nvPr/>
        </p:nvSpPr>
        <p:spPr>
          <a:xfrm>
            <a:off x="1530906" y="6833473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Using Scikit-learn for model building and evaluation.</a:t>
            </a:r>
            <a:endParaRPr b="0" i="0" sz="1750" u="none" cap="none" strike="noStrike"/>
          </a:p>
        </p:txBody>
      </p:sp>
      <p:pic>
        <p:nvPicPr>
          <p:cNvPr descr="preencoded.png" id="405" name="Google Shape;4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1" name="Google Shape;4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0"/>
          <p:cNvSpPr/>
          <p:nvPr/>
        </p:nvSpPr>
        <p:spPr>
          <a:xfrm>
            <a:off x="793790" y="2518648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Next Steps: Logistic Regression for Classification</a:t>
            </a:r>
            <a:endParaRPr b="0" i="0" sz="4450" u="none" cap="none" strike="noStrike"/>
          </a:p>
        </p:txBody>
      </p:sp>
      <p:sp>
        <p:nvSpPr>
          <p:cNvPr id="413" name="Google Shape;413;p20"/>
          <p:cNvSpPr/>
          <p:nvPr/>
        </p:nvSpPr>
        <p:spPr>
          <a:xfrm>
            <a:off x="793790" y="4985147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Our next lecture will cover Logistic Regression, crucial for handling binary outcomes in classification problems.</a:t>
            </a:r>
            <a:endParaRPr b="0" i="0" sz="1750" u="none" cap="none" strike="noStrike"/>
          </a:p>
        </p:txBody>
      </p:sp>
      <p:pic>
        <p:nvPicPr>
          <p:cNvPr descr="preencoded.png" id="414" name="Google Shape;4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2025-04-03T08:26:34Z</dcterms:created>
  <dc:creator>PptxGenJS</dc:creator>
</cp:coreProperties>
</file>